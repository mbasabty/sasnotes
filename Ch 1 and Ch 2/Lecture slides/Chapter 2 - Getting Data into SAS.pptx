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256" r:id="rId2"/>
    <p:sldId id="390" r:id="rId3"/>
    <p:sldId id="391" r:id="rId4"/>
    <p:sldId id="392" r:id="rId5"/>
    <p:sldId id="393" r:id="rId6"/>
    <p:sldId id="364" r:id="rId7"/>
    <p:sldId id="377" r:id="rId8"/>
    <p:sldId id="378" r:id="rId9"/>
    <p:sldId id="379" r:id="rId10"/>
    <p:sldId id="380" r:id="rId11"/>
    <p:sldId id="381" r:id="rId12"/>
    <p:sldId id="382" r:id="rId13"/>
    <p:sldId id="383" r:id="rId14"/>
    <p:sldId id="384" r:id="rId15"/>
    <p:sldId id="385" r:id="rId16"/>
    <p:sldId id="386" r:id="rId17"/>
    <p:sldId id="387" r:id="rId18"/>
    <p:sldId id="388" r:id="rId19"/>
    <p:sldId id="389" r:id="rId20"/>
    <p:sldId id="394" r:id="rId21"/>
  </p:sldIdLst>
  <p:sldSz cx="9906000" cy="6858000" type="A4"/>
  <p:notesSz cx="10409238" cy="72961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64DD034-75F4-5147-85C5-57B72AD43751}">
          <p14:sldIdLst>
            <p14:sldId id="256"/>
            <p14:sldId id="390"/>
            <p14:sldId id="391"/>
            <p14:sldId id="392"/>
            <p14:sldId id="393"/>
            <p14:sldId id="364"/>
            <p14:sldId id="377"/>
            <p14:sldId id="378"/>
            <p14:sldId id="379"/>
            <p14:sldId id="380"/>
            <p14:sldId id="381"/>
            <p14:sldId id="382"/>
            <p14:sldId id="383"/>
            <p14:sldId id="384"/>
            <p14:sldId id="385"/>
            <p14:sldId id="386"/>
            <p14:sldId id="387"/>
            <p14:sldId id="388"/>
            <p14:sldId id="389"/>
            <p14:sldId id="394"/>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hn M" initials="J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37" autoAdjust="0"/>
    <p:restoredTop sz="92374" autoAdjust="0"/>
  </p:normalViewPr>
  <p:slideViewPr>
    <p:cSldViewPr snapToGrid="0" snapToObjects="1">
      <p:cViewPr varScale="1">
        <p:scale>
          <a:sx n="66" d="100"/>
          <a:sy n="66" d="100"/>
        </p:scale>
        <p:origin x="480" y="66"/>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ZA"/>
          </a:p>
        </p:txBody>
      </p:sp>
      <p:sp>
        <p:nvSpPr>
          <p:cNvPr id="3" name="Date Placeholder 2"/>
          <p:cNvSpPr>
            <a:spLocks noGrp="1"/>
          </p:cNvSpPr>
          <p:nvPr>
            <p:ph type="dt" sz="quarter" idx="1"/>
          </p:nvPr>
        </p:nvSpPr>
        <p:spPr>
          <a:xfrm>
            <a:off x="5896159" y="0"/>
            <a:ext cx="4510670" cy="364808"/>
          </a:xfrm>
          <a:prstGeom prst="rect">
            <a:avLst/>
          </a:prstGeom>
        </p:spPr>
        <p:txBody>
          <a:bodyPr vert="horz" lIns="101169" tIns="50585" rIns="101169" bIns="50585" rtlCol="0"/>
          <a:lstStyle>
            <a:lvl1pPr algn="r">
              <a:defRPr sz="1300"/>
            </a:lvl1pPr>
          </a:lstStyle>
          <a:p>
            <a:fld id="{C605BAAB-8757-4FBD-9BED-960688D401C4}" type="datetimeFigureOut">
              <a:rPr lang="en-US" smtClean="0"/>
              <a:pPr/>
              <a:t>4/27/2020</a:t>
            </a:fld>
            <a:endParaRPr lang="en-ZA"/>
          </a:p>
        </p:txBody>
      </p:sp>
      <p:sp>
        <p:nvSpPr>
          <p:cNvPr id="4" name="Footer Placeholder 3"/>
          <p:cNvSpPr>
            <a:spLocks noGrp="1"/>
          </p:cNvSpPr>
          <p:nvPr>
            <p:ph type="ftr" sz="quarter" idx="2"/>
          </p:nvPr>
        </p:nvSpPr>
        <p:spPr>
          <a:xfrm>
            <a:off x="0" y="6930076"/>
            <a:ext cx="4510670" cy="364808"/>
          </a:xfrm>
          <a:prstGeom prst="rect">
            <a:avLst/>
          </a:prstGeom>
        </p:spPr>
        <p:txBody>
          <a:bodyPr vert="horz" lIns="101169" tIns="50585" rIns="101169" bIns="50585" rtlCol="0" anchor="b"/>
          <a:lstStyle>
            <a:lvl1pPr algn="l">
              <a:defRPr sz="1300"/>
            </a:lvl1pPr>
          </a:lstStyle>
          <a:p>
            <a:endParaRPr lang="en-ZA"/>
          </a:p>
        </p:txBody>
      </p:sp>
      <p:sp>
        <p:nvSpPr>
          <p:cNvPr id="5" name="Slide Number Placeholder 4"/>
          <p:cNvSpPr>
            <a:spLocks noGrp="1"/>
          </p:cNvSpPr>
          <p:nvPr>
            <p:ph type="sldNum" sz="quarter" idx="3"/>
          </p:nvPr>
        </p:nvSpPr>
        <p:spPr>
          <a:xfrm>
            <a:off x="5896159" y="6930076"/>
            <a:ext cx="4510670" cy="364808"/>
          </a:xfrm>
          <a:prstGeom prst="rect">
            <a:avLst/>
          </a:prstGeom>
        </p:spPr>
        <p:txBody>
          <a:bodyPr vert="horz" lIns="101169" tIns="50585" rIns="101169" bIns="50585" rtlCol="0" anchor="b"/>
          <a:lstStyle>
            <a:lvl1pPr algn="r">
              <a:defRPr sz="1300"/>
            </a:lvl1pPr>
          </a:lstStyle>
          <a:p>
            <a:fld id="{4A9A6402-836E-4507-B641-B01FDFCE6F04}" type="slidenum">
              <a:rPr lang="en-ZA" smtClean="0"/>
              <a:pPr/>
              <a:t>‹#›</a:t>
            </a:fld>
            <a:endParaRPr lang="en-ZA"/>
          </a:p>
        </p:txBody>
      </p:sp>
    </p:spTree>
    <p:extLst>
      <p:ext uri="{BB962C8B-B14F-4D97-AF65-F5344CB8AC3E}">
        <p14:creationId xmlns:p14="http://schemas.microsoft.com/office/powerpoint/2010/main" val="3606002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US"/>
          </a:p>
        </p:txBody>
      </p:sp>
      <p:sp>
        <p:nvSpPr>
          <p:cNvPr id="3" name="Date Placeholder 2"/>
          <p:cNvSpPr>
            <a:spLocks noGrp="1"/>
          </p:cNvSpPr>
          <p:nvPr>
            <p:ph type="dt" idx="1"/>
          </p:nvPr>
        </p:nvSpPr>
        <p:spPr>
          <a:xfrm>
            <a:off x="5896159" y="0"/>
            <a:ext cx="4510670" cy="364808"/>
          </a:xfrm>
          <a:prstGeom prst="rect">
            <a:avLst/>
          </a:prstGeom>
        </p:spPr>
        <p:txBody>
          <a:bodyPr vert="horz" lIns="101169" tIns="50585" rIns="101169" bIns="50585" rtlCol="0"/>
          <a:lstStyle>
            <a:lvl1pPr algn="r">
              <a:defRPr sz="1300"/>
            </a:lvl1pPr>
          </a:lstStyle>
          <a:p>
            <a:fld id="{1C2F6879-603E-754B-9B04-8AAE8D479E4C}" type="datetimeFigureOut">
              <a:rPr lang="en-US" smtClean="0"/>
              <a:pPr/>
              <a:t>4/27/2020</a:t>
            </a:fld>
            <a:endParaRPr lang="en-US"/>
          </a:p>
        </p:txBody>
      </p:sp>
      <p:sp>
        <p:nvSpPr>
          <p:cNvPr id="4" name="Slide Image Placeholder 3"/>
          <p:cNvSpPr>
            <a:spLocks noGrp="1" noRot="1" noChangeAspect="1"/>
          </p:cNvSpPr>
          <p:nvPr>
            <p:ph type="sldImg" idx="2"/>
          </p:nvPr>
        </p:nvSpPr>
        <p:spPr>
          <a:xfrm>
            <a:off x="3228975" y="547688"/>
            <a:ext cx="3951288" cy="2735262"/>
          </a:xfrm>
          <a:prstGeom prst="rect">
            <a:avLst/>
          </a:prstGeom>
          <a:noFill/>
          <a:ln w="12700">
            <a:solidFill>
              <a:prstClr val="black"/>
            </a:solidFill>
          </a:ln>
        </p:spPr>
        <p:txBody>
          <a:bodyPr vert="horz" lIns="101169" tIns="50585" rIns="101169" bIns="50585" rtlCol="0" anchor="ctr"/>
          <a:lstStyle/>
          <a:p>
            <a:endParaRPr lang="en-US"/>
          </a:p>
        </p:txBody>
      </p:sp>
      <p:sp>
        <p:nvSpPr>
          <p:cNvPr id="5" name="Notes Placeholder 4"/>
          <p:cNvSpPr>
            <a:spLocks noGrp="1"/>
          </p:cNvSpPr>
          <p:nvPr>
            <p:ph type="body" sz="quarter" idx="3"/>
          </p:nvPr>
        </p:nvSpPr>
        <p:spPr>
          <a:xfrm>
            <a:off x="1040924" y="3465671"/>
            <a:ext cx="8327390" cy="3283268"/>
          </a:xfrm>
          <a:prstGeom prst="rect">
            <a:avLst/>
          </a:prstGeom>
        </p:spPr>
        <p:txBody>
          <a:bodyPr vert="horz" lIns="101169" tIns="50585" rIns="101169" bIns="5058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930076"/>
            <a:ext cx="4510670" cy="364808"/>
          </a:xfrm>
          <a:prstGeom prst="rect">
            <a:avLst/>
          </a:prstGeom>
        </p:spPr>
        <p:txBody>
          <a:bodyPr vert="horz" lIns="101169" tIns="50585" rIns="101169" bIns="50585" rtlCol="0" anchor="b"/>
          <a:lstStyle>
            <a:lvl1pPr algn="l">
              <a:defRPr sz="1300"/>
            </a:lvl1pPr>
          </a:lstStyle>
          <a:p>
            <a:endParaRPr lang="en-US"/>
          </a:p>
        </p:txBody>
      </p:sp>
      <p:sp>
        <p:nvSpPr>
          <p:cNvPr id="7" name="Slide Number Placeholder 6"/>
          <p:cNvSpPr>
            <a:spLocks noGrp="1"/>
          </p:cNvSpPr>
          <p:nvPr>
            <p:ph type="sldNum" sz="quarter" idx="5"/>
          </p:nvPr>
        </p:nvSpPr>
        <p:spPr>
          <a:xfrm>
            <a:off x="5896159" y="6930076"/>
            <a:ext cx="4510670" cy="364808"/>
          </a:xfrm>
          <a:prstGeom prst="rect">
            <a:avLst/>
          </a:prstGeom>
        </p:spPr>
        <p:txBody>
          <a:bodyPr vert="horz" lIns="101169" tIns="50585" rIns="101169" bIns="50585" rtlCol="0" anchor="b"/>
          <a:lstStyle>
            <a:lvl1pPr algn="r">
              <a:defRPr sz="1300"/>
            </a:lvl1pPr>
          </a:lstStyle>
          <a:p>
            <a:fld id="{D14C1D86-6F9C-9646-B809-264C58FC1970}" type="slidenum">
              <a:rPr lang="en-US" smtClean="0"/>
              <a:pPr/>
              <a:t>‹#›</a:t>
            </a:fld>
            <a:endParaRPr lang="en-US"/>
          </a:p>
        </p:txBody>
      </p:sp>
    </p:spTree>
    <p:extLst>
      <p:ext uri="{BB962C8B-B14F-4D97-AF65-F5344CB8AC3E}">
        <p14:creationId xmlns:p14="http://schemas.microsoft.com/office/powerpoint/2010/main" val="320650887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14C1D86-6F9C-9646-B809-264C58FC1970}" type="slidenum">
              <a:rPr lang="en-US" smtClean="0"/>
              <a:pPr/>
              <a:t>1</a:t>
            </a:fld>
            <a:endParaRPr lang="en-US"/>
          </a:p>
        </p:txBody>
      </p:sp>
    </p:spTree>
    <p:extLst>
      <p:ext uri="{BB962C8B-B14F-4D97-AF65-F5344CB8AC3E}">
        <p14:creationId xmlns:p14="http://schemas.microsoft.com/office/powerpoint/2010/main" val="2624195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86810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13904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04910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57540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6</a:t>
            </a:fld>
            <a:endParaRPr lang="en-US"/>
          </a:p>
        </p:txBody>
      </p:sp>
    </p:spTree>
    <p:extLst>
      <p:ext uri="{BB962C8B-B14F-4D97-AF65-F5344CB8AC3E}">
        <p14:creationId xmlns:p14="http://schemas.microsoft.com/office/powerpoint/2010/main" val="3533207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7</a:t>
            </a:fld>
            <a:endParaRPr lang="en-US"/>
          </a:p>
        </p:txBody>
      </p:sp>
    </p:spTree>
    <p:extLst>
      <p:ext uri="{BB962C8B-B14F-4D97-AF65-F5344CB8AC3E}">
        <p14:creationId xmlns:p14="http://schemas.microsoft.com/office/powerpoint/2010/main" val="3120554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8</a:t>
            </a:fld>
            <a:endParaRPr lang="en-US"/>
          </a:p>
        </p:txBody>
      </p:sp>
    </p:spTree>
    <p:extLst>
      <p:ext uri="{BB962C8B-B14F-4D97-AF65-F5344CB8AC3E}">
        <p14:creationId xmlns:p14="http://schemas.microsoft.com/office/powerpoint/2010/main" val="2893838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9</a:t>
            </a:fld>
            <a:endParaRPr lang="en-US"/>
          </a:p>
        </p:txBody>
      </p:sp>
    </p:spTree>
    <p:extLst>
      <p:ext uri="{BB962C8B-B14F-4D97-AF65-F5344CB8AC3E}">
        <p14:creationId xmlns:p14="http://schemas.microsoft.com/office/powerpoint/2010/main" val="1977235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10</a:t>
            </a:fld>
            <a:endParaRPr lang="en-US"/>
          </a:p>
        </p:txBody>
      </p:sp>
    </p:spTree>
    <p:extLst>
      <p:ext uri="{BB962C8B-B14F-4D97-AF65-F5344CB8AC3E}">
        <p14:creationId xmlns:p14="http://schemas.microsoft.com/office/powerpoint/2010/main" val="2084028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11</a:t>
            </a:fld>
            <a:endParaRPr lang="en-US"/>
          </a:p>
        </p:txBody>
      </p:sp>
    </p:spTree>
    <p:extLst>
      <p:ext uri="{BB962C8B-B14F-4D97-AF65-F5344CB8AC3E}">
        <p14:creationId xmlns:p14="http://schemas.microsoft.com/office/powerpoint/2010/main" val="3177436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12</a:t>
            </a:fld>
            <a:endParaRPr lang="en-US"/>
          </a:p>
        </p:txBody>
      </p:sp>
    </p:spTree>
    <p:extLst>
      <p:ext uri="{BB962C8B-B14F-4D97-AF65-F5344CB8AC3E}">
        <p14:creationId xmlns:p14="http://schemas.microsoft.com/office/powerpoint/2010/main" val="3601926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13</a:t>
            </a:fld>
            <a:endParaRPr lang="en-US"/>
          </a:p>
        </p:txBody>
      </p:sp>
    </p:spTree>
    <p:extLst>
      <p:ext uri="{BB962C8B-B14F-4D97-AF65-F5344CB8AC3E}">
        <p14:creationId xmlns:p14="http://schemas.microsoft.com/office/powerpoint/2010/main" val="468043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14</a:t>
            </a:fld>
            <a:endParaRPr lang="en-US"/>
          </a:p>
        </p:txBody>
      </p:sp>
    </p:spTree>
    <p:extLst>
      <p:ext uri="{BB962C8B-B14F-4D97-AF65-F5344CB8AC3E}">
        <p14:creationId xmlns:p14="http://schemas.microsoft.com/office/powerpoint/2010/main" val="27646825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15</a:t>
            </a:fld>
            <a:endParaRPr lang="en-US"/>
          </a:p>
        </p:txBody>
      </p:sp>
    </p:spTree>
    <p:extLst>
      <p:ext uri="{BB962C8B-B14F-4D97-AF65-F5344CB8AC3E}">
        <p14:creationId xmlns:p14="http://schemas.microsoft.com/office/powerpoint/2010/main" val="2609879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16</a:t>
            </a:fld>
            <a:endParaRPr lang="en-US"/>
          </a:p>
        </p:txBody>
      </p:sp>
    </p:spTree>
    <p:extLst>
      <p:ext uri="{BB962C8B-B14F-4D97-AF65-F5344CB8AC3E}">
        <p14:creationId xmlns:p14="http://schemas.microsoft.com/office/powerpoint/2010/main" val="2785050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17</a:t>
            </a:fld>
            <a:endParaRPr lang="en-US"/>
          </a:p>
        </p:txBody>
      </p:sp>
    </p:spTree>
    <p:extLst>
      <p:ext uri="{BB962C8B-B14F-4D97-AF65-F5344CB8AC3E}">
        <p14:creationId xmlns:p14="http://schemas.microsoft.com/office/powerpoint/2010/main" val="949804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18</a:t>
            </a:fld>
            <a:endParaRPr lang="en-US"/>
          </a:p>
        </p:txBody>
      </p:sp>
    </p:spTree>
    <p:extLst>
      <p:ext uri="{BB962C8B-B14F-4D97-AF65-F5344CB8AC3E}">
        <p14:creationId xmlns:p14="http://schemas.microsoft.com/office/powerpoint/2010/main" val="33733992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19</a:t>
            </a:fld>
            <a:endParaRPr lang="en-US"/>
          </a:p>
        </p:txBody>
      </p:sp>
    </p:spTree>
    <p:extLst>
      <p:ext uri="{BB962C8B-B14F-4D97-AF65-F5344CB8AC3E}">
        <p14:creationId xmlns:p14="http://schemas.microsoft.com/office/powerpoint/2010/main" val="1897909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36172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6"/>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C4D5889-9C47-1542-89BF-71BA5CAEC00A}" type="datetimeFigureOut">
              <a:rPr lang="en-US" smtClean="0"/>
              <a:pPr/>
              <a:t>4/27/2020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403887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4D5889-9C47-1542-89BF-71BA5CAEC00A}" type="datetimeFigureOut">
              <a:rPr lang="en-US" smtClean="0"/>
              <a:pPr/>
              <a:t>4/27/2020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354433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C4D5889-9C47-1542-89BF-71BA5CAEC00A}" type="datetimeFigureOut">
              <a:rPr lang="en-US" smtClean="0"/>
              <a:pPr/>
              <a:t>4/27/2020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6906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C4D5889-9C47-1542-89BF-71BA5CAEC00A}" type="datetimeFigureOut">
              <a:rPr lang="en-US" smtClean="0"/>
              <a:pPr/>
              <a:t>4/27/2020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70258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C4D5889-9C47-1542-89BF-71BA5CAEC00A}" type="datetimeFigureOut">
              <a:rPr lang="en-US" smtClean="0"/>
              <a:pPr/>
              <a:t>4/27/2020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4858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C4D5889-9C47-1542-89BF-71BA5CAEC00A}" type="datetimeFigureOut">
              <a:rPr lang="en-US" smtClean="0"/>
              <a:pPr/>
              <a:t>4/27/2020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915583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4D5889-9C47-1542-89BF-71BA5CAEC00A}" type="datetimeFigureOut">
              <a:rPr lang="en-US" smtClean="0"/>
              <a:pPr/>
              <a:t>4/27/2020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282837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4/27/2020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555946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4/27/2020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146288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4D5889-9C47-1542-89BF-71BA5CAEC00A}" type="datetimeFigureOut">
              <a:rPr lang="en-US" smtClean="0"/>
              <a:pPr/>
              <a:t>4/27/2020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979724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274639"/>
            <a:ext cx="222885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95300" y="274639"/>
            <a:ext cx="652145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4D5889-9C47-1542-89BF-71BA5CAEC00A}" type="datetimeFigureOut">
              <a:rPr lang="en-US" smtClean="0"/>
              <a:pPr/>
              <a:t>4/27/2020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335751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4D5889-9C47-1542-89BF-71BA5CAEC00A}" type="datetimeFigureOut">
              <a:rPr lang="en-US" smtClean="0"/>
              <a:pPr/>
              <a:t>4/27/2020</a:t>
            </a:fld>
            <a:endParaRPr lang="en-US"/>
          </a:p>
        </p:txBody>
      </p:sp>
      <p:sp>
        <p:nvSpPr>
          <p:cNvPr id="5" name="Footer Placehold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DF8427-4C18-6C43-BFAB-BAEC5845A11E}" type="slidenum">
              <a:rPr lang="en-US" smtClean="0"/>
              <a:pPr/>
              <a:t>‹#›</a:t>
            </a:fld>
            <a:endParaRPr lang="en-US"/>
          </a:p>
        </p:txBody>
      </p:sp>
    </p:spTree>
    <p:extLst>
      <p:ext uri="{BB962C8B-B14F-4D97-AF65-F5344CB8AC3E}">
        <p14:creationId xmlns:p14="http://schemas.microsoft.com/office/powerpoint/2010/main" val="280042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742950" y="501651"/>
            <a:ext cx="8420100" cy="1470025"/>
          </a:xfrm>
        </p:spPr>
        <p:txBody>
          <a:bodyPr>
            <a:normAutofit/>
          </a:bodyPr>
          <a:lstStyle/>
          <a:p>
            <a:r>
              <a:rPr lang="en-ZA" sz="2400" b="1" dirty="0" smtClean="0">
                <a:solidFill>
                  <a:srgbClr val="A7853E"/>
                </a:solidFill>
                <a:latin typeface="Baskerville Old Face" charset="0"/>
                <a:cs typeface="+mj-cs"/>
              </a:rPr>
              <a:t/>
            </a:r>
            <a:br>
              <a:rPr lang="en-ZA" sz="2400" b="1" dirty="0" smtClean="0">
                <a:solidFill>
                  <a:srgbClr val="A7853E"/>
                </a:solidFill>
                <a:latin typeface="Baskerville Old Face" charset="0"/>
                <a:cs typeface="+mj-cs"/>
              </a:rPr>
            </a:br>
            <a:endParaRPr lang="en-ZA" sz="2400" b="1" dirty="0">
              <a:solidFill>
                <a:srgbClr val="A7853E"/>
              </a:solidFill>
              <a:latin typeface="Baskerville Old Face" charset="0"/>
              <a:cs typeface="+mj-cs"/>
            </a:endParaRPr>
          </a:p>
        </p:txBody>
      </p:sp>
      <p:sp>
        <p:nvSpPr>
          <p:cNvPr id="2" name="Rectangle 1"/>
          <p:cNvSpPr/>
          <p:nvPr/>
        </p:nvSpPr>
        <p:spPr>
          <a:xfrm>
            <a:off x="1903879" y="2356895"/>
            <a:ext cx="6098241" cy="1077218"/>
          </a:xfrm>
          <a:prstGeom prst="rect">
            <a:avLst/>
          </a:prstGeom>
        </p:spPr>
        <p:txBody>
          <a:bodyPr wrap="square">
            <a:spAutoFit/>
          </a:bodyPr>
          <a:lstStyle/>
          <a:p>
            <a:pPr algn="ctr"/>
            <a:r>
              <a:rPr lang="en-ZA" sz="3200" b="1" spc="50" dirty="0" smtClean="0">
                <a:ln w="0"/>
                <a:solidFill>
                  <a:schemeClr val="bg2"/>
                </a:solidFill>
                <a:effectLst>
                  <a:innerShdw blurRad="63500" dist="50800" dir="13500000">
                    <a:srgbClr val="000000">
                      <a:alpha val="50000"/>
                    </a:srgbClr>
                  </a:innerShdw>
                </a:effectLst>
              </a:rPr>
              <a:t>Lecture 2</a:t>
            </a:r>
          </a:p>
          <a:p>
            <a:pPr algn="ctr"/>
            <a:r>
              <a:rPr lang="en-ZA" sz="3200" b="1" spc="50" dirty="0" smtClean="0">
                <a:ln w="0"/>
                <a:solidFill>
                  <a:schemeClr val="bg2"/>
                </a:solidFill>
                <a:effectLst>
                  <a:innerShdw blurRad="63500" dist="50800" dir="13500000">
                    <a:srgbClr val="000000">
                      <a:alpha val="50000"/>
                    </a:srgbClr>
                  </a:innerShdw>
                </a:effectLst>
              </a:rPr>
              <a:t>Getting data into SAS</a:t>
            </a:r>
            <a:endParaRPr lang="en-ZA" sz="3200" b="1" spc="50" dirty="0">
              <a:ln w="0"/>
              <a:solidFill>
                <a:schemeClr val="bg2"/>
              </a:solidFill>
              <a:effectLst>
                <a:innerShdw blurRad="63500" dist="50800" dir="13500000">
                  <a:srgbClr val="000000">
                    <a:alpha val="50000"/>
                  </a:srgbClr>
                </a:innerShdw>
              </a:effectLst>
            </a:endParaRPr>
          </a:p>
        </p:txBody>
      </p:sp>
      <p:sp>
        <p:nvSpPr>
          <p:cNvPr id="5" name="TextBox 4"/>
          <p:cNvSpPr txBox="1"/>
          <p:nvPr/>
        </p:nvSpPr>
        <p:spPr>
          <a:xfrm>
            <a:off x="6702088" y="5220717"/>
            <a:ext cx="3024161" cy="1015663"/>
          </a:xfrm>
          <a:prstGeom prst="rect">
            <a:avLst/>
          </a:prstGeom>
          <a:noFill/>
        </p:spPr>
        <p:txBody>
          <a:bodyPr wrap="none" rtlCol="0">
            <a:spAutoFit/>
          </a:bodyPr>
          <a:lstStyle/>
          <a:p>
            <a:r>
              <a:rPr lang="en-ZA" sz="2000" b="1" spc="50" dirty="0" smtClean="0">
                <a:ln w="0"/>
                <a:solidFill>
                  <a:schemeClr val="bg2"/>
                </a:solidFill>
                <a:effectLst>
                  <a:innerShdw blurRad="63500" dist="50800" dir="13500000">
                    <a:srgbClr val="000000">
                      <a:alpha val="50000"/>
                    </a:srgbClr>
                  </a:innerShdw>
                </a:effectLst>
              </a:rPr>
              <a:t>Matthew Valentine</a:t>
            </a:r>
          </a:p>
          <a:p>
            <a:r>
              <a:rPr lang="en-ZA" sz="2000" b="1" spc="50" dirty="0" smtClean="0">
                <a:ln w="0"/>
                <a:solidFill>
                  <a:schemeClr val="bg2"/>
                </a:solidFill>
                <a:effectLst>
                  <a:innerShdw blurRad="63500" dist="50800" dir="13500000">
                    <a:srgbClr val="000000">
                      <a:alpha val="50000"/>
                    </a:srgbClr>
                  </a:innerShdw>
                </a:effectLst>
              </a:rPr>
              <a:t>Office: Tech Room Lab K2</a:t>
            </a:r>
          </a:p>
          <a:p>
            <a:r>
              <a:rPr lang="en-ZA" sz="2000" b="1" spc="50" dirty="0" smtClean="0">
                <a:ln w="0"/>
                <a:solidFill>
                  <a:schemeClr val="bg2"/>
                </a:solidFill>
                <a:effectLst>
                  <a:innerShdw blurRad="63500" dist="50800" dir="13500000">
                    <a:srgbClr val="000000">
                      <a:alpha val="50000"/>
                    </a:srgbClr>
                  </a:innerShdw>
                </a:effectLst>
              </a:rPr>
              <a:t>mvalentine@uwc.ac.za</a:t>
            </a:r>
            <a:endParaRPr lang="en-ZA" b="1"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11303492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ZoneTexte 7"/>
          <p:cNvSpPr txBox="1"/>
          <p:nvPr/>
        </p:nvSpPr>
        <p:spPr>
          <a:xfrm>
            <a:off x="630770" y="1355285"/>
            <a:ext cx="7977753" cy="2970044"/>
          </a:xfrm>
          <a:prstGeom prst="rect">
            <a:avLst/>
          </a:prstGeom>
          <a:noFill/>
        </p:spPr>
        <p:txBody>
          <a:bodyPr wrap="square" rtlCol="0">
            <a:spAutoFit/>
          </a:bodyPr>
          <a:lstStyle/>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700" i="0" u="none" strike="noStrike" kern="1200" cap="none" spc="0" normalizeH="0" baseline="0" noProof="0" dirty="0" smtClean="0">
                <a:ln>
                  <a:noFill/>
                </a:ln>
                <a:solidFill>
                  <a:prstClr val="black"/>
                </a:solidFill>
                <a:effectLst/>
                <a:uLnTx/>
                <a:uFillTx/>
                <a:latin typeface="Book Antiqua" panose="02040602050305030304" pitchFamily="18" charset="0"/>
                <a:cs typeface="Book Antiqua"/>
              </a:rPr>
              <a:t>To</a:t>
            </a:r>
            <a:r>
              <a:rPr kumimoji="0" lang="en-GB" sz="1700" i="0" u="none" strike="noStrike" kern="1200" cap="none" spc="0" normalizeH="0" noProof="0" dirty="0" smtClean="0">
                <a:ln>
                  <a:noFill/>
                </a:ln>
                <a:solidFill>
                  <a:prstClr val="black"/>
                </a:solidFill>
                <a:effectLst/>
                <a:uLnTx/>
                <a:uFillTx/>
                <a:latin typeface="Book Antiqua" panose="02040602050305030304" pitchFamily="18" charset="0"/>
                <a:cs typeface="Book Antiqua"/>
              </a:rPr>
              <a:t> enter data using freeform list input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700" i="0" u="none" strike="noStrike" kern="1200" cap="none" spc="0" normalizeH="0" noProof="0" dirty="0" smtClean="0">
              <a:ln>
                <a:noFill/>
              </a:ln>
              <a:solidFill>
                <a:prstClr val="black"/>
              </a:solidFill>
              <a:effectLst/>
              <a:uLnTx/>
              <a:uFillTx/>
              <a:latin typeface="Book Antiqua" panose="02040602050305030304" pitchFamily="18" charset="0"/>
              <a:cs typeface="Book Antiqua"/>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baseline="0" dirty="0" smtClean="0">
                <a:solidFill>
                  <a:prstClr val="black"/>
                </a:solidFill>
                <a:latin typeface="Book Antiqua" panose="02040602050305030304" pitchFamily="18" charset="0"/>
                <a:cs typeface="Book Antiqua"/>
              </a:rPr>
              <a:t>To</a:t>
            </a:r>
            <a:r>
              <a:rPr lang="en-GB" sz="1700" dirty="0" smtClean="0">
                <a:solidFill>
                  <a:prstClr val="black"/>
                </a:solidFill>
                <a:latin typeface="Book Antiqua" panose="02040602050305030304" pitchFamily="18" charset="0"/>
                <a:cs typeface="Book Antiqua"/>
              </a:rPr>
              <a:t> enter data using compact method</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700" dirty="0" smtClean="0">
              <a:solidFill>
                <a:prstClr val="black"/>
              </a:solidFill>
              <a:latin typeface="Book Antiqua" panose="02040602050305030304" pitchFamily="18" charset="0"/>
              <a:cs typeface="Book Antiqua"/>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700" i="0" u="none" strike="noStrike" kern="1200" cap="none" spc="0" normalizeH="0" baseline="0" noProof="0" dirty="0" smtClean="0">
                <a:ln>
                  <a:noFill/>
                </a:ln>
                <a:solidFill>
                  <a:prstClr val="black"/>
                </a:solidFill>
                <a:effectLst/>
                <a:uLnTx/>
                <a:uFillTx/>
                <a:latin typeface="Book Antiqua" panose="02040602050305030304" pitchFamily="18" charset="0"/>
                <a:cs typeface="Book Antiqua"/>
              </a:rPr>
              <a:t>To</a:t>
            </a:r>
            <a:r>
              <a:rPr kumimoji="0" lang="en-GB" sz="1700" i="0" u="none" strike="noStrike" kern="1200" cap="none" spc="0" normalizeH="0" noProof="0" dirty="0" smtClean="0">
                <a:ln>
                  <a:noFill/>
                </a:ln>
                <a:solidFill>
                  <a:prstClr val="black"/>
                </a:solidFill>
                <a:effectLst/>
                <a:uLnTx/>
                <a:uFillTx/>
                <a:latin typeface="Book Antiqua" panose="02040602050305030304" pitchFamily="18" charset="0"/>
                <a:cs typeface="Book Antiqua"/>
              </a:rPr>
              <a:t> enter data using column input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700" i="0" u="none" strike="noStrike" kern="1200" cap="none" spc="0" normalizeH="0" noProof="0" dirty="0" smtClean="0">
              <a:ln>
                <a:noFill/>
              </a:ln>
              <a:solidFill>
                <a:prstClr val="black"/>
              </a:solidFill>
              <a:effectLst/>
              <a:uLnTx/>
              <a:uFillTx/>
              <a:latin typeface="Book Antiqua" panose="02040602050305030304" pitchFamily="18" charset="0"/>
              <a:cs typeface="Book Antiqua"/>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baseline="0" dirty="0" smtClean="0">
                <a:solidFill>
                  <a:prstClr val="black"/>
                </a:solidFill>
                <a:latin typeface="Book Antiqua" panose="02040602050305030304" pitchFamily="18" charset="0"/>
                <a:cs typeface="Book Antiqua"/>
              </a:rPr>
              <a:t>To</a:t>
            </a:r>
            <a:r>
              <a:rPr lang="en-GB" sz="1700" dirty="0" smtClean="0">
                <a:solidFill>
                  <a:prstClr val="black"/>
                </a:solidFill>
                <a:latin typeface="Book Antiqua" panose="02040602050305030304" pitchFamily="18" charset="0"/>
                <a:cs typeface="Book Antiqua"/>
              </a:rPr>
              <a:t> enter data using formatted input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700" dirty="0" smtClean="0">
              <a:solidFill>
                <a:prstClr val="black"/>
              </a:solidFill>
              <a:latin typeface="Book Antiqua" panose="02040602050305030304" pitchFamily="18" charset="0"/>
              <a:cs typeface="Book Antiqua"/>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dirty="0" smtClean="0">
                <a:solidFill>
                  <a:prstClr val="black"/>
                </a:solidFill>
                <a:latin typeface="Book Antiqua" panose="02040602050305030304" pitchFamily="18" charset="0"/>
                <a:cs typeface="Book Antiqua"/>
              </a:rPr>
              <a:t>To enter data using the </a:t>
            </a:r>
            <a:r>
              <a:rPr lang="en-GB" sz="1700" dirty="0" err="1" smtClean="0">
                <a:solidFill>
                  <a:prstClr val="black"/>
                </a:solidFill>
                <a:latin typeface="Book Antiqua" panose="02040602050305030304" pitchFamily="18" charset="0"/>
                <a:cs typeface="Book Antiqua"/>
              </a:rPr>
              <a:t>infile</a:t>
            </a:r>
            <a:r>
              <a:rPr lang="en-GB" sz="1700" dirty="0" smtClean="0">
                <a:solidFill>
                  <a:prstClr val="black"/>
                </a:solidFill>
                <a:latin typeface="Book Antiqua" panose="02040602050305030304" pitchFamily="18" charset="0"/>
                <a:cs typeface="Book Antiqua"/>
              </a:rPr>
              <a:t> technique</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700" dirty="0" smtClean="0">
              <a:solidFill>
                <a:prstClr val="black"/>
              </a:solidFill>
              <a:latin typeface="Book Antiqua" panose="02040602050305030304" pitchFamily="18" charset="0"/>
              <a:cs typeface="Book Antiqua"/>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700" i="0" u="none" strike="noStrike" kern="1200" cap="none" spc="0" normalizeH="0" baseline="0" noProof="0" dirty="0" smtClean="0">
                <a:ln>
                  <a:noFill/>
                </a:ln>
                <a:solidFill>
                  <a:prstClr val="black"/>
                </a:solidFill>
                <a:effectLst/>
                <a:uLnTx/>
                <a:uFillTx/>
                <a:latin typeface="Book Antiqua" panose="02040602050305030304" pitchFamily="18" charset="0"/>
                <a:cs typeface="Book Antiqua"/>
              </a:rPr>
              <a:t>To</a:t>
            </a:r>
            <a:r>
              <a:rPr kumimoji="0" lang="en-GB" sz="1700" i="0" u="none" strike="noStrike" kern="1200" cap="none" spc="0" normalizeH="0" noProof="0" dirty="0" smtClean="0">
                <a:ln>
                  <a:noFill/>
                </a:ln>
                <a:solidFill>
                  <a:prstClr val="black"/>
                </a:solidFill>
                <a:effectLst/>
                <a:uLnTx/>
                <a:uFillTx/>
                <a:latin typeface="Book Antiqua" panose="02040602050305030304" pitchFamily="18" charset="0"/>
                <a:cs typeface="Book Antiqua"/>
              </a:rPr>
              <a:t> enter multiple-line data</a:t>
            </a:r>
            <a:endParaRPr kumimoji="0" lang="en-GB" sz="1700" i="0" u="none" strike="noStrike" kern="1200" cap="none" spc="0" normalizeH="0" baseline="0" noProof="0" dirty="0" smtClean="0">
              <a:ln>
                <a:noFill/>
              </a:ln>
              <a:solidFill>
                <a:prstClr val="black"/>
              </a:solidFill>
              <a:effectLst/>
              <a:uLnTx/>
              <a:uFillTx/>
              <a:latin typeface="Book Antiqua" panose="02040602050305030304" pitchFamily="18" charset="0"/>
              <a:cs typeface="Book Antiqua"/>
            </a:endParaRPr>
          </a:p>
        </p:txBody>
      </p:sp>
      <p:sp>
        <p:nvSpPr>
          <p:cNvPr id="5" name="ZoneTexte 10"/>
          <p:cNvSpPr txBox="1"/>
          <p:nvPr/>
        </p:nvSpPr>
        <p:spPr>
          <a:xfrm>
            <a:off x="1613222" y="523443"/>
            <a:ext cx="6012848"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small" spc="0" normalizeH="0" baseline="0" noProof="0" dirty="0" smtClean="0">
                <a:ln>
                  <a:noFill/>
                </a:ln>
                <a:solidFill>
                  <a:srgbClr val="342E2B"/>
                </a:solidFill>
                <a:effectLst/>
                <a:uLnTx/>
                <a:uFillTx/>
                <a:latin typeface="Book Antiqua"/>
                <a:ea typeface="+mn-ea"/>
                <a:cs typeface="Book Antiqua"/>
              </a:rPr>
              <a:t>Learning objectives</a:t>
            </a:r>
          </a:p>
        </p:txBody>
      </p:sp>
    </p:spTree>
    <p:extLst>
      <p:ext uri="{BB962C8B-B14F-4D97-AF65-F5344CB8AC3E}">
        <p14:creationId xmlns:p14="http://schemas.microsoft.com/office/powerpoint/2010/main" val="2688498881"/>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Using the SAS data sets</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Box 4"/>
          <p:cNvSpPr txBox="1"/>
          <p:nvPr/>
        </p:nvSpPr>
        <p:spPr>
          <a:xfrm>
            <a:off x="877831" y="831178"/>
            <a:ext cx="7874788" cy="4939814"/>
          </a:xfrm>
          <a:prstGeom prst="rect">
            <a:avLst/>
          </a:prstGeom>
          <a:noFill/>
        </p:spPr>
        <p:txBody>
          <a:bodyPr wrap="square" rtlCol="0">
            <a:spAutoFit/>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GB" sz="1300" dirty="0" smtClean="0">
                <a:solidFill>
                  <a:srgbClr val="342E2B"/>
                </a:solidFill>
                <a:latin typeface="Avenir Next Cyr W04 Regular" panose="020B0503020202020204" pitchFamily="34" charset="0"/>
                <a:cs typeface="Book Antiqua"/>
              </a:rPr>
              <a:t>In SAS the </a:t>
            </a:r>
            <a:r>
              <a:rPr lang="en-GB" sz="1300" dirty="0" smtClean="0">
                <a:solidFill>
                  <a:schemeClr val="accent1"/>
                </a:solidFill>
                <a:latin typeface="Avenir Next Cyr W04 Regular" panose="020B0503020202020204" pitchFamily="34" charset="0"/>
                <a:cs typeface="Book Antiqua"/>
              </a:rPr>
              <a:t>DATA statement </a:t>
            </a:r>
            <a:r>
              <a:rPr lang="en-GB" sz="1300" dirty="0" smtClean="0">
                <a:solidFill>
                  <a:srgbClr val="342E2B"/>
                </a:solidFill>
                <a:latin typeface="Avenir Next Cyr W04 Regular" panose="020B0503020202020204" pitchFamily="34" charset="0"/>
                <a:cs typeface="Book Antiqua"/>
              </a:rPr>
              <a:t>signals the creation of a new dataset.</a:t>
            </a:r>
          </a:p>
          <a:p>
            <a:pPr marR="0" lvl="0" algn="l" defTabSz="457200" rtl="0" eaLnBrk="1" fontAlgn="auto" latinLnBrk="0" hangingPunct="1">
              <a:lnSpc>
                <a:spcPct val="150000"/>
              </a:lnSpc>
              <a:spcBef>
                <a:spcPts val="0"/>
              </a:spcBef>
              <a:spcAft>
                <a:spcPts val="0"/>
              </a:spcAft>
              <a:buClrTx/>
              <a:buSzTx/>
              <a:tabLst/>
              <a:defRPr/>
            </a:pPr>
            <a:r>
              <a:rPr lang="en-GB" sz="1300" dirty="0">
                <a:solidFill>
                  <a:srgbClr val="342E2B"/>
                </a:solidFill>
                <a:latin typeface="Avenir Next Cyr W04 Regular" panose="020B0503020202020204" pitchFamily="34" charset="0"/>
                <a:cs typeface="Book Antiqua"/>
              </a:rPr>
              <a:t>A</a:t>
            </a:r>
            <a:r>
              <a:rPr lang="en-GB" sz="1300" dirty="0" smtClean="0">
                <a:solidFill>
                  <a:srgbClr val="342E2B"/>
                </a:solidFill>
                <a:latin typeface="Avenir Next Cyr W04 Regular" panose="020B0503020202020204" pitchFamily="34" charset="0"/>
                <a:cs typeface="Book Antiqua"/>
              </a:rPr>
              <a:t> </a:t>
            </a:r>
            <a:r>
              <a:rPr lang="en-GB" sz="1300" dirty="0" smtClean="0">
                <a:solidFill>
                  <a:schemeClr val="accent1"/>
                </a:solidFill>
                <a:latin typeface="Avenir Next Cyr W04 Regular" panose="020B0503020202020204" pitchFamily="34" charset="0"/>
                <a:cs typeface="Book Antiqua"/>
              </a:rPr>
              <a:t>DATA statement </a:t>
            </a:r>
            <a:r>
              <a:rPr lang="en-GB" sz="1300" dirty="0" smtClean="0">
                <a:solidFill>
                  <a:srgbClr val="342E2B"/>
                </a:solidFill>
                <a:latin typeface="Avenir Next Cyr W04 Regular" panose="020B0503020202020204" pitchFamily="34" charset="0"/>
                <a:cs typeface="Book Antiqua"/>
              </a:rPr>
              <a:t>in SAS code may look like this…</a:t>
            </a:r>
          </a:p>
          <a:p>
            <a:pPr marR="0" lvl="0" algn="l" defTabSz="457200" rtl="0" eaLnBrk="1" fontAlgn="auto" latinLnBrk="0" hangingPunct="1">
              <a:lnSpc>
                <a:spcPct val="150000"/>
              </a:lnSpc>
              <a:spcBef>
                <a:spcPts val="0"/>
              </a:spcBef>
              <a:spcAft>
                <a:spcPts val="0"/>
              </a:spcAft>
              <a:buClrTx/>
              <a:buSzTx/>
              <a:tabLst/>
              <a:defRPr/>
            </a:pPr>
            <a:r>
              <a:rPr lang="en-GB" sz="1300" dirty="0" smtClean="0">
                <a:solidFill>
                  <a:srgbClr val="342E2B"/>
                </a:solidFill>
                <a:latin typeface="Avenir Next Cyr W04 Regular" panose="020B0503020202020204" pitchFamily="34" charset="0"/>
                <a:cs typeface="Book Antiqua"/>
              </a:rPr>
              <a:t>								</a:t>
            </a:r>
            <a:r>
              <a:rPr lang="en-GB" sz="1300" b="1" dirty="0" smtClean="0">
                <a:solidFill>
                  <a:srgbClr val="342E2B"/>
                </a:solidFill>
                <a:latin typeface="Avenir Next Cyr W04 Regular" panose="020B0503020202020204" pitchFamily="34" charset="0"/>
                <a:cs typeface="Book Antiqua"/>
              </a:rPr>
              <a:t>Example;</a:t>
            </a:r>
          </a:p>
          <a:p>
            <a:pPr marR="0" lvl="0" algn="l" defTabSz="457200" rtl="0" eaLnBrk="1" fontAlgn="auto" latinLnBrk="0" hangingPunct="1">
              <a:lnSpc>
                <a:spcPct val="150000"/>
              </a:lnSpc>
              <a:spcBef>
                <a:spcPts val="0"/>
              </a:spcBef>
              <a:spcAft>
                <a:spcPts val="0"/>
              </a:spcAft>
              <a:buClrTx/>
              <a:buSzTx/>
              <a:tabLst/>
              <a:defRPr/>
            </a:pPr>
            <a:endParaRPr lang="en-GB" sz="1300" dirty="0" smtClean="0">
              <a:solidFill>
                <a:srgbClr val="342E2B"/>
              </a:solidFill>
              <a:latin typeface="Avenir Next Cyr W04 Regular" panose="020B0503020202020204" pitchFamily="34" charset="0"/>
              <a:cs typeface="Book Antiqua"/>
            </a:endParaRP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GB" sz="1300" dirty="0" smtClean="0">
                <a:solidFill>
                  <a:srgbClr val="342E2B"/>
                </a:solidFill>
                <a:latin typeface="Avenir Next Cyr W04 Regular" panose="020B0503020202020204" pitchFamily="34" charset="0"/>
                <a:cs typeface="Book Antiqua"/>
              </a:rPr>
              <a:t>The keyword </a:t>
            </a:r>
            <a:r>
              <a:rPr lang="en-GB" sz="1300" dirty="0" smtClean="0">
                <a:solidFill>
                  <a:schemeClr val="accent1"/>
                </a:solidFill>
                <a:latin typeface="Avenir Next Cyr W04 Regular" panose="020B0503020202020204" pitchFamily="34" charset="0"/>
                <a:cs typeface="Book Antiqua"/>
              </a:rPr>
              <a:t>DATA </a:t>
            </a:r>
            <a:r>
              <a:rPr lang="en-GB" sz="1300" dirty="0" smtClean="0">
                <a:solidFill>
                  <a:srgbClr val="342E2B"/>
                </a:solidFill>
                <a:latin typeface="Avenir Next Cyr W04 Regular" panose="020B0503020202020204" pitchFamily="34" charset="0"/>
                <a:cs typeface="Book Antiqua"/>
              </a:rPr>
              <a:t>tells SAS to create a new data set. The word </a:t>
            </a:r>
            <a:r>
              <a:rPr lang="en-GB" sz="1300" dirty="0" smtClean="0">
                <a:solidFill>
                  <a:schemeClr val="accent1"/>
                </a:solidFill>
                <a:latin typeface="Avenir Next Cyr W04 Regular" panose="020B0503020202020204" pitchFamily="34" charset="0"/>
                <a:cs typeface="Book Antiqua"/>
              </a:rPr>
              <a:t>MYDATA</a:t>
            </a:r>
            <a:r>
              <a:rPr lang="en-GB" sz="1300" dirty="0" smtClean="0">
                <a:solidFill>
                  <a:srgbClr val="342E2B"/>
                </a:solidFill>
                <a:latin typeface="Avenir Next Cyr W04 Regular" panose="020B0503020202020204" pitchFamily="34" charset="0"/>
                <a:cs typeface="Book Antiqua"/>
              </a:rPr>
              <a:t> in the </a:t>
            </a:r>
            <a:r>
              <a:rPr lang="en-GB" sz="1300" dirty="0" smtClean="0">
                <a:solidFill>
                  <a:schemeClr val="accent1"/>
                </a:solidFill>
                <a:latin typeface="Avenir Next Cyr W04 Regular" panose="020B0503020202020204" pitchFamily="34" charset="0"/>
                <a:cs typeface="Book Antiqua"/>
              </a:rPr>
              <a:t>DATA statement </a:t>
            </a:r>
            <a:r>
              <a:rPr lang="en-GB" sz="1300" dirty="0" smtClean="0">
                <a:solidFill>
                  <a:srgbClr val="342E2B"/>
                </a:solidFill>
                <a:latin typeface="Avenir Next Cyr W04 Regular" panose="020B0503020202020204" pitchFamily="34" charset="0"/>
                <a:cs typeface="Book Antiqua"/>
              </a:rPr>
              <a:t>is the name assigned to the new data set.</a:t>
            </a: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GB" sz="1300" dirty="0" smtClean="0">
                <a:solidFill>
                  <a:srgbClr val="342E2B"/>
                </a:solidFill>
                <a:latin typeface="Avenir Next Cyr W04 Regular" panose="020B0503020202020204" pitchFamily="34" charset="0"/>
                <a:cs typeface="Book Antiqua"/>
              </a:rPr>
              <a:t>The SAS data set name can be a single name (Used for </a:t>
            </a:r>
            <a:r>
              <a:rPr lang="en-GB" sz="1300" b="1" dirty="0" smtClean="0">
                <a:solidFill>
                  <a:schemeClr val="accent1"/>
                </a:solidFill>
                <a:latin typeface="Avenir Next Cyr W04 Regular" panose="020B0503020202020204" pitchFamily="34" charset="0"/>
                <a:cs typeface="Book Antiqua"/>
              </a:rPr>
              <a:t>Temporary data sets</a:t>
            </a:r>
            <a:r>
              <a:rPr lang="en-GB" sz="1300" dirty="0" smtClean="0">
                <a:solidFill>
                  <a:srgbClr val="342E2B"/>
                </a:solidFill>
                <a:latin typeface="Avenir Next Cyr W04 Regular" panose="020B0503020202020204" pitchFamily="34" charset="0"/>
                <a:cs typeface="Book Antiqua"/>
              </a:rPr>
              <a:t>, those kept only during the current SAS session)</a:t>
            </a:r>
            <a:endParaRPr lang="en-GB" sz="1300" dirty="0">
              <a:solidFill>
                <a:srgbClr val="342E2B"/>
              </a:solidFill>
              <a:latin typeface="Avenir Next Cyr W04 Regular" panose="020B0503020202020204" pitchFamily="34" charset="0"/>
              <a:cs typeface="Book Antiqua"/>
            </a:endParaRPr>
          </a:p>
          <a:p>
            <a:pPr marR="0" lvl="0" algn="l" defTabSz="457200" rtl="0" eaLnBrk="1" fontAlgn="auto" latinLnBrk="0" hangingPunct="1">
              <a:lnSpc>
                <a:spcPct val="150000"/>
              </a:lnSpc>
              <a:spcBef>
                <a:spcPts val="0"/>
              </a:spcBef>
              <a:spcAft>
                <a:spcPts val="0"/>
              </a:spcAft>
              <a:buClrTx/>
              <a:buSzTx/>
              <a:tabLst/>
              <a:defRPr/>
            </a:pPr>
            <a:r>
              <a:rPr lang="en-GB" sz="1300" dirty="0" smtClean="0">
                <a:solidFill>
                  <a:srgbClr val="342E2B"/>
                </a:solidFill>
                <a:latin typeface="Avenir Next Cyr W04 Regular" panose="020B0503020202020204" pitchFamily="34" charset="0"/>
                <a:cs typeface="Book Antiqua"/>
              </a:rPr>
              <a:t>	</a:t>
            </a:r>
            <a:r>
              <a:rPr lang="en-GB" sz="1300" dirty="0">
                <a:solidFill>
                  <a:srgbClr val="342E2B"/>
                </a:solidFill>
                <a:latin typeface="Avenir Next Cyr W04 Regular" panose="020B0503020202020204" pitchFamily="34" charset="0"/>
                <a:cs typeface="Book Antiqua"/>
              </a:rPr>
              <a:t>	</a:t>
            </a:r>
            <a:r>
              <a:rPr lang="en-GB" sz="1300" dirty="0" smtClean="0">
                <a:solidFill>
                  <a:srgbClr val="342E2B"/>
                </a:solidFill>
                <a:latin typeface="Avenir Next Cyr W04 Regular" panose="020B0503020202020204" pitchFamily="34" charset="0"/>
                <a:cs typeface="Book Antiqua"/>
              </a:rPr>
              <a:t>					</a:t>
            </a:r>
            <a:r>
              <a:rPr lang="en-GB" sz="1300" b="1" dirty="0" smtClean="0">
                <a:solidFill>
                  <a:srgbClr val="342E2B"/>
                </a:solidFill>
                <a:latin typeface="Avenir Next Cyr W04 Regular" panose="020B0503020202020204" pitchFamily="34" charset="0"/>
                <a:cs typeface="Book Antiqua"/>
              </a:rPr>
              <a:t>	Example; </a:t>
            </a:r>
          </a:p>
          <a:p>
            <a:pPr marR="0" lvl="0" algn="l" defTabSz="457200" rtl="0" eaLnBrk="1" fontAlgn="auto" latinLnBrk="0" hangingPunct="1">
              <a:lnSpc>
                <a:spcPct val="150000"/>
              </a:lnSpc>
              <a:spcBef>
                <a:spcPts val="0"/>
              </a:spcBef>
              <a:spcAft>
                <a:spcPts val="0"/>
              </a:spcAft>
              <a:buClrTx/>
              <a:buSzTx/>
              <a:tabLst/>
              <a:defRPr/>
            </a:pPr>
            <a:endParaRPr lang="en-GB" sz="1300" dirty="0">
              <a:solidFill>
                <a:srgbClr val="342E2B"/>
              </a:solidFill>
              <a:latin typeface="Avenir Next Cyr W04 Regular" panose="020B0503020202020204" pitchFamily="34" charset="0"/>
              <a:cs typeface="Book Antiqua"/>
            </a:endParaRPr>
          </a:p>
          <a:p>
            <a:pPr marR="0" lvl="0" algn="l" defTabSz="457200" rtl="0" eaLnBrk="1" fontAlgn="auto" latinLnBrk="0" hangingPunct="1">
              <a:lnSpc>
                <a:spcPct val="150000"/>
              </a:lnSpc>
              <a:spcBef>
                <a:spcPts val="0"/>
              </a:spcBef>
              <a:spcAft>
                <a:spcPts val="0"/>
              </a:spcAft>
              <a:buClrTx/>
              <a:buSzTx/>
              <a:tabLst/>
              <a:defRPr/>
            </a:pPr>
            <a:endParaRPr lang="en-GB" sz="1300" dirty="0" smtClean="0">
              <a:solidFill>
                <a:srgbClr val="342E2B"/>
              </a:solidFill>
              <a:latin typeface="Avenir Next Cyr W04 Regular" panose="020B0503020202020204" pitchFamily="34" charset="0"/>
              <a:cs typeface="Book Antiqua"/>
            </a:endParaRPr>
          </a:p>
          <a:p>
            <a:pPr marR="0" lvl="0" algn="l" defTabSz="457200" rtl="0" eaLnBrk="1" fontAlgn="auto" latinLnBrk="0" hangingPunct="1">
              <a:lnSpc>
                <a:spcPct val="150000"/>
              </a:lnSpc>
              <a:spcBef>
                <a:spcPts val="0"/>
              </a:spcBef>
              <a:spcAft>
                <a:spcPts val="0"/>
              </a:spcAft>
              <a:buClrTx/>
              <a:buSzTx/>
              <a:tabLst/>
              <a:defRPr/>
            </a:pPr>
            <a:endParaRPr lang="en-GB" sz="1300" dirty="0" smtClean="0">
              <a:solidFill>
                <a:srgbClr val="342E2B"/>
              </a:solidFill>
              <a:latin typeface="Avenir Next Cyr W04 Regular" panose="020B0503020202020204" pitchFamily="34" charset="0"/>
              <a:cs typeface="Book Antiqua"/>
            </a:endParaRPr>
          </a:p>
          <a:p>
            <a:pPr marR="0" lvl="0" algn="l" defTabSz="457200" rtl="0" eaLnBrk="1" fontAlgn="auto" latinLnBrk="0" hangingPunct="1">
              <a:lnSpc>
                <a:spcPct val="150000"/>
              </a:lnSpc>
              <a:spcBef>
                <a:spcPts val="0"/>
              </a:spcBef>
              <a:spcAft>
                <a:spcPts val="0"/>
              </a:spcAft>
              <a:buClrTx/>
              <a:buSzTx/>
              <a:tabLst/>
              <a:defRPr/>
            </a:pPr>
            <a:r>
              <a:rPr lang="en-GB" sz="1300" dirty="0" smtClean="0">
                <a:solidFill>
                  <a:srgbClr val="342E2B"/>
                </a:solidFill>
                <a:latin typeface="Avenir Next Cyr W04 Regular" panose="020B0503020202020204" pitchFamily="34" charset="0"/>
                <a:cs typeface="Book Antiqua"/>
              </a:rPr>
              <a:t>The SAS data set name can be a two part name. The two part name tells SAS that this Permanent data set will be stored on disk beyond the current SAS session in a SAS library indicated by the prefix name.</a:t>
            </a:r>
          </a:p>
          <a:p>
            <a:pPr marR="0" lvl="0" algn="l" defTabSz="457200" rtl="0" eaLnBrk="1" fontAlgn="auto" latinLnBrk="0" hangingPunct="1">
              <a:lnSpc>
                <a:spcPct val="150000"/>
              </a:lnSpc>
              <a:spcBef>
                <a:spcPts val="0"/>
              </a:spcBef>
              <a:spcAft>
                <a:spcPts val="0"/>
              </a:spcAft>
              <a:buClrTx/>
              <a:buSzTx/>
              <a:tabLst/>
              <a:defRPr/>
            </a:pPr>
            <a:r>
              <a:rPr lang="en-GB" sz="1300" dirty="0" smtClean="0">
                <a:solidFill>
                  <a:srgbClr val="342E2B"/>
                </a:solidFill>
                <a:latin typeface="Avenir Next Cyr W04 Regular" panose="020B0503020202020204" pitchFamily="34" charset="0"/>
                <a:cs typeface="Book Antiqua"/>
              </a:rPr>
              <a:t>								</a:t>
            </a:r>
            <a:r>
              <a:rPr lang="en-GB" sz="1300" b="1" dirty="0" smtClean="0">
                <a:solidFill>
                  <a:srgbClr val="342E2B"/>
                </a:solidFill>
                <a:latin typeface="Avenir Next Cyr W04 Regular" panose="020B0503020202020204" pitchFamily="34" charset="0"/>
                <a:cs typeface="Book Antiqua"/>
              </a:rPr>
              <a:t>Example;</a:t>
            </a:r>
          </a:p>
          <a:p>
            <a:pPr marR="0" lvl="0" algn="l" defTabSz="457200" rtl="0" eaLnBrk="1" fontAlgn="auto" latinLnBrk="0" hangingPunct="1">
              <a:lnSpc>
                <a:spcPct val="150000"/>
              </a:lnSpc>
              <a:spcBef>
                <a:spcPts val="0"/>
              </a:spcBef>
              <a:spcAft>
                <a:spcPts val="0"/>
              </a:spcAft>
              <a:buClrTx/>
              <a:buSzTx/>
              <a:tabLst/>
              <a:defRPr/>
            </a:pPr>
            <a:r>
              <a:rPr lang="en-GB" sz="1500" dirty="0" smtClean="0">
                <a:solidFill>
                  <a:srgbClr val="342E2B"/>
                </a:solidFill>
                <a:latin typeface="Avenir Next Cyr W04 Regular" panose="020B0503020202020204" pitchFamily="34" charset="0"/>
                <a:cs typeface="Book Antiqua"/>
              </a:rPr>
              <a:t>					PER.CLASS</a:t>
            </a:r>
          </a:p>
        </p:txBody>
      </p:sp>
      <p:sp>
        <p:nvSpPr>
          <p:cNvPr id="13" name="Oval 12"/>
          <p:cNvSpPr/>
          <p:nvPr/>
        </p:nvSpPr>
        <p:spPr>
          <a:xfrm>
            <a:off x="3060071" y="5136568"/>
            <a:ext cx="1294646" cy="766291"/>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cxnSp>
        <p:nvCxnSpPr>
          <p:cNvPr id="15" name="Straight Arrow Connector 14"/>
          <p:cNvCxnSpPr/>
          <p:nvPr/>
        </p:nvCxnSpPr>
        <p:spPr>
          <a:xfrm flipH="1">
            <a:off x="2145671" y="5519713"/>
            <a:ext cx="10320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H="1">
            <a:off x="2145672" y="5645456"/>
            <a:ext cx="1561722" cy="4203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p:cNvPicPr>
            <a:picLocks noChangeAspect="1"/>
          </p:cNvPicPr>
          <p:nvPr/>
        </p:nvPicPr>
        <p:blipFill>
          <a:blip r:embed="rId4"/>
          <a:stretch>
            <a:fillRect/>
          </a:stretch>
        </p:blipFill>
        <p:spPr>
          <a:xfrm>
            <a:off x="814990" y="5305400"/>
            <a:ext cx="1209675" cy="428625"/>
          </a:xfrm>
          <a:prstGeom prst="rect">
            <a:avLst/>
          </a:prstGeom>
        </p:spPr>
      </p:pic>
      <p:pic>
        <p:nvPicPr>
          <p:cNvPr id="21" name="Picture 20"/>
          <p:cNvPicPr>
            <a:picLocks noChangeAspect="1"/>
          </p:cNvPicPr>
          <p:nvPr/>
        </p:nvPicPr>
        <p:blipFill>
          <a:blip r:embed="rId5"/>
          <a:stretch>
            <a:fillRect/>
          </a:stretch>
        </p:blipFill>
        <p:spPr>
          <a:xfrm>
            <a:off x="831221" y="5902859"/>
            <a:ext cx="1181100" cy="361950"/>
          </a:xfrm>
          <a:prstGeom prst="rect">
            <a:avLst/>
          </a:prstGeom>
        </p:spPr>
      </p:pic>
      <p:pic>
        <p:nvPicPr>
          <p:cNvPr id="3" name="Picture 2"/>
          <p:cNvPicPr>
            <a:picLocks noChangeAspect="1"/>
          </p:cNvPicPr>
          <p:nvPr/>
        </p:nvPicPr>
        <p:blipFill>
          <a:blip r:embed="rId6"/>
          <a:stretch>
            <a:fillRect/>
          </a:stretch>
        </p:blipFill>
        <p:spPr>
          <a:xfrm>
            <a:off x="5635495" y="1145379"/>
            <a:ext cx="3086100" cy="989447"/>
          </a:xfrm>
          <a:prstGeom prst="rect">
            <a:avLst/>
          </a:prstGeom>
        </p:spPr>
      </p:pic>
      <p:pic>
        <p:nvPicPr>
          <p:cNvPr id="8" name="Picture 7"/>
          <p:cNvPicPr>
            <a:picLocks noChangeAspect="1"/>
          </p:cNvPicPr>
          <p:nvPr/>
        </p:nvPicPr>
        <p:blipFill>
          <a:blip r:embed="rId7"/>
          <a:stretch>
            <a:fillRect/>
          </a:stretch>
        </p:blipFill>
        <p:spPr>
          <a:xfrm>
            <a:off x="5635495" y="2962656"/>
            <a:ext cx="3086100" cy="1471231"/>
          </a:xfrm>
          <a:prstGeom prst="rect">
            <a:avLst/>
          </a:prstGeom>
        </p:spPr>
      </p:pic>
      <p:pic>
        <p:nvPicPr>
          <p:cNvPr id="10" name="Picture 9"/>
          <p:cNvPicPr>
            <a:picLocks noChangeAspect="1"/>
          </p:cNvPicPr>
          <p:nvPr/>
        </p:nvPicPr>
        <p:blipFill>
          <a:blip r:embed="rId8"/>
          <a:stretch>
            <a:fillRect/>
          </a:stretch>
        </p:blipFill>
        <p:spPr>
          <a:xfrm>
            <a:off x="5729360" y="5035296"/>
            <a:ext cx="2992235" cy="1383305"/>
          </a:xfrm>
          <a:prstGeom prst="rect">
            <a:avLst/>
          </a:prstGeom>
        </p:spPr>
      </p:pic>
    </p:spTree>
    <p:extLst>
      <p:ext uri="{BB962C8B-B14F-4D97-AF65-F5344CB8AC3E}">
        <p14:creationId xmlns:p14="http://schemas.microsoft.com/office/powerpoint/2010/main" val="23969187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Importing a dataset into SAS</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ZoneTexte 7"/>
          <p:cNvSpPr txBox="1"/>
          <p:nvPr/>
        </p:nvSpPr>
        <p:spPr>
          <a:xfrm>
            <a:off x="628049" y="821129"/>
            <a:ext cx="8198173" cy="3093154"/>
          </a:xfrm>
          <a:prstGeom prst="rect">
            <a:avLst/>
          </a:prstGeom>
          <a:noFill/>
        </p:spPr>
        <p:txBody>
          <a:bodyPr wrap="square" rtlCol="0">
            <a:spAutoFit/>
          </a:bodyPr>
          <a:lstStyle/>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300" dirty="0" smtClean="0">
                <a:solidFill>
                  <a:schemeClr val="accent1"/>
                </a:solidFill>
                <a:latin typeface="Book Antiqua" panose="02040602050305030304" pitchFamily="18" charset="0"/>
                <a:cs typeface="Book Antiqua"/>
              </a:rPr>
              <a:t>FILENAME</a:t>
            </a:r>
            <a:r>
              <a:rPr lang="en-GB" sz="1300" dirty="0" smtClean="0">
                <a:solidFill>
                  <a:prstClr val="black"/>
                </a:solidFill>
                <a:latin typeface="Book Antiqua" panose="02040602050305030304" pitchFamily="18" charset="0"/>
                <a:cs typeface="Book Antiqua"/>
              </a:rPr>
              <a:t> –  Specifies the complete path and filename for the input PC file, Example; Spreadsheet. It is associated with the physical location of the output file. </a:t>
            </a:r>
            <a:r>
              <a:rPr lang="en-GB" sz="1300" b="1" i="1" dirty="0" smtClean="0">
                <a:solidFill>
                  <a:schemeClr val="accent1"/>
                </a:solidFill>
                <a:latin typeface="Book Antiqua" panose="02040602050305030304" pitchFamily="18" charset="0"/>
                <a:cs typeface="Book Antiqua"/>
              </a:rPr>
              <a:t>(Temporary Data set)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300" dirty="0" smtClean="0">
              <a:solidFill>
                <a:prstClr val="black"/>
              </a:solidFill>
              <a:latin typeface="Book Antiqua" panose="02040602050305030304" pitchFamily="18" charset="0"/>
              <a:cs typeface="Book Antiqua"/>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300" i="0" u="none" strike="noStrike" kern="1200" cap="none" spc="0" normalizeH="0" baseline="0" noProof="0" dirty="0" smtClean="0">
                <a:ln>
                  <a:noFill/>
                </a:ln>
                <a:solidFill>
                  <a:schemeClr val="accent1"/>
                </a:solidFill>
                <a:effectLst/>
                <a:uLnTx/>
                <a:uFillTx/>
                <a:latin typeface="Book Antiqua" panose="02040602050305030304" pitchFamily="18" charset="0"/>
                <a:cs typeface="Book Antiqua"/>
              </a:rPr>
              <a:t>PROC</a:t>
            </a:r>
            <a:r>
              <a:rPr kumimoji="0" lang="en-GB" sz="1300" i="0" u="none" strike="noStrike" kern="1200" cap="none" spc="0" normalizeH="0" noProof="0" dirty="0" smtClean="0">
                <a:ln>
                  <a:noFill/>
                </a:ln>
                <a:solidFill>
                  <a:schemeClr val="accent1"/>
                </a:solidFill>
                <a:effectLst/>
                <a:uLnTx/>
                <a:uFillTx/>
                <a:latin typeface="Book Antiqua" panose="02040602050305030304" pitchFamily="18" charset="0"/>
                <a:cs typeface="Book Antiqua"/>
              </a:rPr>
              <a:t> IMPORT </a:t>
            </a:r>
            <a:r>
              <a:rPr kumimoji="0" lang="en-GB" sz="1300" i="0" u="none" strike="noStrike" kern="1200" cap="none" spc="0" normalizeH="0" noProof="0" dirty="0" smtClean="0">
                <a:ln>
                  <a:noFill/>
                </a:ln>
                <a:solidFill>
                  <a:prstClr val="black"/>
                </a:solidFill>
                <a:effectLst/>
                <a:uLnTx/>
                <a:uFillTx/>
                <a:latin typeface="Book Antiqua" panose="02040602050305030304" pitchFamily="18" charset="0"/>
                <a:cs typeface="Book Antiqua"/>
              </a:rPr>
              <a:t>– Reads data from an external data source and writes it to a SAS data set.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300" i="0" u="none" strike="noStrike" kern="1200" cap="none" spc="0" normalizeH="0" noProof="0" dirty="0" smtClean="0">
              <a:ln>
                <a:noFill/>
              </a:ln>
              <a:solidFill>
                <a:prstClr val="black"/>
              </a:solidFill>
              <a:effectLst/>
              <a:uLnTx/>
              <a:uFillTx/>
              <a:latin typeface="Book Antiqua" panose="02040602050305030304" pitchFamily="18" charset="0"/>
              <a:cs typeface="Book Antiqua"/>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300" baseline="0" dirty="0" smtClean="0">
                <a:solidFill>
                  <a:schemeClr val="accent1"/>
                </a:solidFill>
                <a:latin typeface="Book Antiqua" panose="02040602050305030304" pitchFamily="18" charset="0"/>
                <a:cs typeface="Book Antiqua"/>
              </a:rPr>
              <a:t>DBMS</a:t>
            </a:r>
            <a:r>
              <a:rPr lang="en-GB" sz="1300" dirty="0" smtClean="0">
                <a:solidFill>
                  <a:schemeClr val="accent1"/>
                </a:solidFill>
                <a:latin typeface="Book Antiqua" panose="02040602050305030304" pitchFamily="18" charset="0"/>
                <a:cs typeface="Book Antiqua"/>
              </a:rPr>
              <a:t> </a:t>
            </a:r>
            <a:r>
              <a:rPr lang="en-GB" sz="1300" dirty="0" smtClean="0">
                <a:solidFill>
                  <a:prstClr val="black"/>
                </a:solidFill>
                <a:latin typeface="Book Antiqua" panose="02040602050305030304" pitchFamily="18" charset="0"/>
                <a:cs typeface="Book Antiqua"/>
              </a:rPr>
              <a:t>– Specifies the type of data to import, such as XLSX or CSV.</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300" dirty="0" smtClean="0">
              <a:solidFill>
                <a:prstClr val="black"/>
              </a:solidFill>
              <a:latin typeface="Book Antiqua" panose="02040602050305030304" pitchFamily="18" charset="0"/>
              <a:cs typeface="Book Antiqua"/>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300" baseline="0" dirty="0" smtClean="0">
                <a:solidFill>
                  <a:schemeClr val="accent1"/>
                </a:solidFill>
                <a:latin typeface="Book Antiqua" panose="02040602050305030304" pitchFamily="18" charset="0"/>
                <a:cs typeface="Book Antiqua"/>
              </a:rPr>
              <a:t>OUT</a:t>
            </a:r>
            <a:r>
              <a:rPr lang="en-GB" sz="1300" baseline="0" dirty="0" smtClean="0">
                <a:solidFill>
                  <a:prstClr val="black"/>
                </a:solidFill>
                <a:latin typeface="Book Antiqua" panose="02040602050305030304" pitchFamily="18" charset="0"/>
                <a:cs typeface="Book Antiqua"/>
              </a:rPr>
              <a:t> – Identifies the output SAS data</a:t>
            </a:r>
            <a:r>
              <a:rPr lang="en-GB" sz="1300" dirty="0" smtClean="0">
                <a:solidFill>
                  <a:prstClr val="black"/>
                </a:solidFill>
                <a:latin typeface="Book Antiqua" panose="02040602050305030304" pitchFamily="18" charset="0"/>
                <a:cs typeface="Book Antiqua"/>
              </a:rPr>
              <a:t> set with either a one or two level SAS name.</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300" baseline="0" dirty="0" smtClean="0">
              <a:solidFill>
                <a:schemeClr val="accent1"/>
              </a:solidFill>
              <a:latin typeface="Book Antiqua" panose="02040602050305030304" pitchFamily="18" charset="0"/>
              <a:cs typeface="Book Antiqua"/>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300" dirty="0" smtClean="0">
                <a:solidFill>
                  <a:schemeClr val="accent1"/>
                </a:solidFill>
                <a:latin typeface="Book Antiqua" panose="02040602050305030304" pitchFamily="18" charset="0"/>
                <a:cs typeface="Book Antiqua"/>
              </a:rPr>
              <a:t>GETNAMES </a:t>
            </a:r>
            <a:r>
              <a:rPr lang="en-GB" sz="1300" dirty="0" smtClean="0">
                <a:solidFill>
                  <a:prstClr val="black"/>
                </a:solidFill>
                <a:latin typeface="Book Antiqua" panose="02040602050305030304" pitchFamily="18" charset="0"/>
                <a:cs typeface="Book Antiqua"/>
              </a:rPr>
              <a:t>– Specifies that you would like to use the external files Variable names.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300" dirty="0" smtClean="0">
              <a:solidFill>
                <a:prstClr val="black"/>
              </a:solidFill>
              <a:latin typeface="Book Antiqua" panose="02040602050305030304" pitchFamily="18" charset="0"/>
              <a:cs typeface="Book Antiqua"/>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300" dirty="0" smtClean="0">
                <a:solidFill>
                  <a:schemeClr val="accent1"/>
                </a:solidFill>
                <a:latin typeface="Book Antiqua" panose="02040602050305030304" pitchFamily="18" charset="0"/>
                <a:cs typeface="Book Antiqua"/>
              </a:rPr>
              <a:t>ODS HTML </a:t>
            </a:r>
            <a:r>
              <a:rPr lang="en-GB" sz="1300" dirty="0" smtClean="0">
                <a:solidFill>
                  <a:prstClr val="black"/>
                </a:solidFill>
                <a:latin typeface="Book Antiqua" panose="02040602050305030304" pitchFamily="18" charset="0"/>
                <a:cs typeface="Book Antiqua"/>
              </a:rPr>
              <a:t>–  Output Delivery System (ODS) is a feature that allows you to enhance your SAS output. Normally SAS output appears in the Output window. </a:t>
            </a:r>
            <a:r>
              <a:rPr lang="en-GB" sz="1300" b="1" i="1" dirty="0" smtClean="0">
                <a:solidFill>
                  <a:schemeClr val="accent1"/>
                </a:solidFill>
                <a:latin typeface="Book Antiqua" panose="02040602050305030304" pitchFamily="18" charset="0"/>
                <a:cs typeface="Book Antiqua"/>
              </a:rPr>
              <a:t>ODS RTF, ODS PDF</a:t>
            </a:r>
            <a:r>
              <a:rPr lang="en-GB" sz="1300" dirty="0" smtClean="0">
                <a:solidFill>
                  <a:prstClr val="black"/>
                </a:solidFill>
                <a:latin typeface="Book Antiqua" panose="02040602050305030304" pitchFamily="18" charset="0"/>
                <a:cs typeface="Book Antiqua"/>
              </a:rPr>
              <a: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300" dirty="0" smtClean="0">
              <a:solidFill>
                <a:prstClr val="black"/>
              </a:solidFill>
              <a:latin typeface="Book Antiqua" panose="02040602050305030304" pitchFamily="18" charset="0"/>
              <a:cs typeface="Book Antiqua"/>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300" baseline="0" dirty="0" smtClean="0">
                <a:solidFill>
                  <a:schemeClr val="accent1"/>
                </a:solidFill>
                <a:latin typeface="Book Antiqua" panose="02040602050305030304" pitchFamily="18" charset="0"/>
                <a:cs typeface="Book Antiqua"/>
              </a:rPr>
              <a:t>PROC PRINT </a:t>
            </a:r>
            <a:r>
              <a:rPr lang="en-GB" sz="1300" baseline="0" dirty="0" smtClean="0">
                <a:solidFill>
                  <a:prstClr val="black"/>
                </a:solidFill>
                <a:latin typeface="Book Antiqua" panose="02040602050305030304" pitchFamily="18" charset="0"/>
                <a:cs typeface="Book Antiqua"/>
              </a:rPr>
              <a:t>– Outputs a </a:t>
            </a:r>
            <a:r>
              <a:rPr lang="en-GB" sz="1300" dirty="0" smtClean="0">
                <a:solidFill>
                  <a:prstClr val="black"/>
                </a:solidFill>
                <a:latin typeface="Book Antiqua" panose="02040602050305030304" pitchFamily="18" charset="0"/>
                <a:cs typeface="Book Antiqua"/>
              </a:rPr>
              <a:t>listing of the data values in a SAS dataset.</a:t>
            </a:r>
            <a:endParaRPr lang="en-GB" sz="1300" baseline="0" dirty="0" smtClean="0">
              <a:solidFill>
                <a:prstClr val="black"/>
              </a:solidFill>
              <a:latin typeface="Book Antiqua" panose="02040602050305030304" pitchFamily="18" charset="0"/>
              <a:cs typeface="Book Antiqua"/>
            </a:endParaRPr>
          </a:p>
        </p:txBody>
      </p:sp>
      <p:pic>
        <p:nvPicPr>
          <p:cNvPr id="4" name="Picture 3"/>
          <p:cNvPicPr>
            <a:picLocks noChangeAspect="1"/>
          </p:cNvPicPr>
          <p:nvPr/>
        </p:nvPicPr>
        <p:blipFill>
          <a:blip r:embed="rId4"/>
          <a:stretch>
            <a:fillRect/>
          </a:stretch>
        </p:blipFill>
        <p:spPr>
          <a:xfrm>
            <a:off x="1127061" y="3914284"/>
            <a:ext cx="7200150" cy="2443555"/>
          </a:xfrm>
          <a:prstGeom prst="rect">
            <a:avLst/>
          </a:prstGeom>
        </p:spPr>
      </p:pic>
      <p:sp>
        <p:nvSpPr>
          <p:cNvPr id="5" name="Rectangle 4"/>
          <p:cNvSpPr/>
          <p:nvPr/>
        </p:nvSpPr>
        <p:spPr>
          <a:xfrm>
            <a:off x="1127061" y="3914283"/>
            <a:ext cx="7546159" cy="244355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3620875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Importing a dataset into SAS</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4" name="Picture 3"/>
          <p:cNvPicPr>
            <a:picLocks noChangeAspect="1"/>
          </p:cNvPicPr>
          <p:nvPr/>
        </p:nvPicPr>
        <p:blipFill>
          <a:blip r:embed="rId4"/>
          <a:stretch>
            <a:fillRect/>
          </a:stretch>
        </p:blipFill>
        <p:spPr>
          <a:xfrm>
            <a:off x="1127061" y="773778"/>
            <a:ext cx="7200150" cy="2443555"/>
          </a:xfrm>
          <a:prstGeom prst="rect">
            <a:avLst/>
          </a:prstGeom>
        </p:spPr>
      </p:pic>
      <p:sp>
        <p:nvSpPr>
          <p:cNvPr id="5" name="Rectangle 4"/>
          <p:cNvSpPr/>
          <p:nvPr/>
        </p:nvSpPr>
        <p:spPr>
          <a:xfrm>
            <a:off x="1127061" y="773778"/>
            <a:ext cx="7546159" cy="244355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162248" y="3304031"/>
            <a:ext cx="2414016" cy="28931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1400" b="0" i="0" u="none" strike="noStrike" kern="1200" cap="none" spc="0" normalizeH="0" baseline="0" noProof="0" dirty="0" smtClean="0">
                <a:ln>
                  <a:noFill/>
                </a:ln>
                <a:solidFill>
                  <a:prstClr val="black"/>
                </a:solidFill>
                <a:effectLst/>
                <a:uLnTx/>
                <a:uFillTx/>
                <a:latin typeface="Book Antiqua" panose="02040602050305030304" pitchFamily="18" charset="0"/>
                <a:ea typeface="+mn-ea"/>
                <a:cs typeface="+mn-cs"/>
              </a:rPr>
              <a:t>Make sure that you create a folder called Lecture 2 – Getting data into SAS and upload the dataset called Global Financial Performance.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ZA" sz="1400" dirty="0">
              <a:solidFill>
                <a:prstClr val="black"/>
              </a:solidFill>
              <a:latin typeface="Book Antiqua" panose="0204060205030503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1400" b="0" i="0" u="none" strike="noStrike" kern="1200" cap="none" spc="0" normalizeH="0" baseline="0" noProof="0" dirty="0" smtClean="0">
                <a:ln>
                  <a:noFill/>
                </a:ln>
                <a:solidFill>
                  <a:prstClr val="black"/>
                </a:solidFill>
                <a:effectLst/>
                <a:uLnTx/>
                <a:uFillTx/>
                <a:latin typeface="Book Antiqua" panose="02040602050305030304" pitchFamily="18" charset="0"/>
                <a:ea typeface="+mn-ea"/>
                <a:cs typeface="+mn-cs"/>
              </a:rPr>
              <a:t>Right click on the Global Financial Performance</a:t>
            </a:r>
            <a:r>
              <a:rPr kumimoji="0" lang="en-ZA" sz="1400" b="0" i="0" u="none" strike="noStrike" kern="1200" cap="none" spc="0" normalizeH="0" noProof="0" dirty="0" smtClean="0">
                <a:ln>
                  <a:noFill/>
                </a:ln>
                <a:solidFill>
                  <a:prstClr val="black"/>
                </a:solidFill>
                <a:effectLst/>
                <a:uLnTx/>
                <a:uFillTx/>
                <a:latin typeface="Book Antiqua" panose="02040602050305030304" pitchFamily="18" charset="0"/>
                <a:ea typeface="+mn-ea"/>
                <a:cs typeface="+mn-cs"/>
              </a:rPr>
              <a:t> Dataset and click on “Properties”.  Then copy the location Path and paste in the editor.</a:t>
            </a:r>
            <a:endParaRPr kumimoji="0" lang="en-ZA" sz="14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mn-cs"/>
            </a:endParaRPr>
          </a:p>
        </p:txBody>
      </p:sp>
      <p:pic>
        <p:nvPicPr>
          <p:cNvPr id="3" name="Picture 2"/>
          <p:cNvPicPr>
            <a:picLocks noChangeAspect="1"/>
          </p:cNvPicPr>
          <p:nvPr/>
        </p:nvPicPr>
        <p:blipFill>
          <a:blip r:embed="rId5"/>
          <a:stretch>
            <a:fillRect/>
          </a:stretch>
        </p:blipFill>
        <p:spPr>
          <a:xfrm>
            <a:off x="2576264" y="3355448"/>
            <a:ext cx="1589080" cy="3108543"/>
          </a:xfrm>
          <a:prstGeom prst="rect">
            <a:avLst/>
          </a:prstGeom>
        </p:spPr>
      </p:pic>
      <p:pic>
        <p:nvPicPr>
          <p:cNvPr id="9" name="Picture 8"/>
          <p:cNvPicPr>
            <a:picLocks noChangeAspect="1"/>
          </p:cNvPicPr>
          <p:nvPr/>
        </p:nvPicPr>
        <p:blipFill>
          <a:blip r:embed="rId6"/>
          <a:stretch>
            <a:fillRect/>
          </a:stretch>
        </p:blipFill>
        <p:spPr>
          <a:xfrm>
            <a:off x="4652086" y="3304031"/>
            <a:ext cx="5143500" cy="3028950"/>
          </a:xfrm>
          <a:prstGeom prst="rect">
            <a:avLst/>
          </a:prstGeom>
        </p:spPr>
      </p:pic>
      <p:sp>
        <p:nvSpPr>
          <p:cNvPr id="10" name="Oval 9"/>
          <p:cNvSpPr/>
          <p:nvPr/>
        </p:nvSpPr>
        <p:spPr>
          <a:xfrm>
            <a:off x="4727136" y="4608576"/>
            <a:ext cx="5178864" cy="40233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11" name="Oval 10"/>
          <p:cNvSpPr/>
          <p:nvPr/>
        </p:nvSpPr>
        <p:spPr>
          <a:xfrm>
            <a:off x="2487168" y="1414272"/>
            <a:ext cx="5840043" cy="3048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cxnSp>
        <p:nvCxnSpPr>
          <p:cNvPr id="13" name="Straight Arrow Connector 12"/>
          <p:cNvCxnSpPr>
            <a:stCxn id="10" idx="0"/>
            <a:endCxn id="11" idx="4"/>
          </p:cNvCxnSpPr>
          <p:nvPr/>
        </p:nvCxnSpPr>
        <p:spPr>
          <a:xfrm flipH="1" flipV="1">
            <a:off x="5407190" y="1719072"/>
            <a:ext cx="1909378" cy="288950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74343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Understanding SAS data set Structure</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789742" y="713483"/>
            <a:ext cx="7874788" cy="528606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1500" dirty="0" smtClean="0">
                <a:solidFill>
                  <a:srgbClr val="342E2B"/>
                </a:solidFill>
                <a:latin typeface="Avenir Next Cyr W04 Regular" panose="020B0503020202020204" pitchFamily="34" charset="0"/>
                <a:cs typeface="Book Antiqua"/>
              </a:rPr>
              <a:t>Once you read data into SAS, the program stores the data values as a data set </a:t>
            </a:r>
            <a:r>
              <a:rPr lang="en-GB" sz="1500" b="1" i="1" dirty="0" smtClean="0">
                <a:solidFill>
                  <a:srgbClr val="342E2B"/>
                </a:solidFill>
                <a:latin typeface="Avenir Next Cyr W04 Regular" panose="020B0503020202020204" pitchFamily="34" charset="0"/>
                <a:cs typeface="Book Antiqua"/>
              </a:rPr>
              <a:t>(Also called a </a:t>
            </a:r>
            <a:r>
              <a:rPr lang="en-GB" sz="1500" b="1" i="1" dirty="0" smtClean="0">
                <a:solidFill>
                  <a:schemeClr val="accent1"/>
                </a:solidFill>
                <a:latin typeface="Avenir Next Cyr W04 Regular" panose="020B0503020202020204" pitchFamily="34" charset="0"/>
                <a:cs typeface="Book Antiqua"/>
              </a:rPr>
              <a:t>data table</a:t>
            </a:r>
            <a:r>
              <a:rPr lang="en-GB" sz="1500" b="1" i="1" dirty="0" smtClean="0">
                <a:solidFill>
                  <a:srgbClr val="342E2B"/>
                </a:solidFill>
                <a:latin typeface="Avenir Next Cyr W04 Regular" panose="020B0503020202020204" pitchFamily="34" charset="0"/>
                <a:cs typeface="Book Antiqua"/>
              </a:rPr>
              <a:t>) </a:t>
            </a:r>
            <a:r>
              <a:rPr lang="en-GB" sz="1500" dirty="0" smtClean="0">
                <a:solidFill>
                  <a:srgbClr val="342E2B"/>
                </a:solidFill>
                <a:latin typeface="Avenir Next Cyr W04 Regular" panose="020B0503020202020204" pitchFamily="34" charset="0"/>
                <a:cs typeface="Book Antiqua"/>
              </a:rPr>
              <a:t>as a collection of data values arranged in a rectangular table.</a:t>
            </a:r>
          </a:p>
          <a:p>
            <a:pPr marL="342900" indent="-342900">
              <a:lnSpc>
                <a:spcPct val="150000"/>
              </a:lnSpc>
              <a:buFont typeface="Arial" panose="020B0604020202020204" pitchFamily="34" charset="0"/>
              <a:buChar char="•"/>
            </a:pPr>
            <a:r>
              <a:rPr lang="en-GB" sz="1500" dirty="0" smtClean="0">
                <a:solidFill>
                  <a:srgbClr val="342E2B"/>
                </a:solidFill>
                <a:latin typeface="Avenir Next Cyr W04 Regular" panose="020B0503020202020204" pitchFamily="34" charset="0"/>
                <a:cs typeface="Book Antiqua"/>
              </a:rPr>
              <a:t>This can be found in the results table.</a:t>
            </a:r>
          </a:p>
          <a:p>
            <a:pPr marL="342900" indent="-342900">
              <a:lnSpc>
                <a:spcPct val="150000"/>
              </a:lnSpc>
              <a:buFont typeface="Arial" panose="020B0604020202020204" pitchFamily="34" charset="0"/>
              <a:buChar char="•"/>
            </a:pPr>
            <a:endParaRPr lang="en-GB" sz="1500" dirty="0" smtClean="0">
              <a:solidFill>
                <a:srgbClr val="342E2B"/>
              </a:solidFill>
              <a:latin typeface="Avenir Next Cyr W04 Regular" panose="020B0503020202020204" pitchFamily="34" charset="0"/>
              <a:cs typeface="Book Antiqua"/>
            </a:endParaRPr>
          </a:p>
          <a:p>
            <a:pPr marL="342900" indent="-342900">
              <a:lnSpc>
                <a:spcPct val="150000"/>
              </a:lnSpc>
              <a:buFont typeface="Arial" panose="020B0604020202020204" pitchFamily="34" charset="0"/>
              <a:buChar char="•"/>
            </a:pPr>
            <a:endParaRPr lang="en-GB" sz="1500" dirty="0">
              <a:solidFill>
                <a:srgbClr val="342E2B"/>
              </a:solidFill>
              <a:latin typeface="Avenir Next Cyr W04 Regular" panose="020B0503020202020204" pitchFamily="34" charset="0"/>
              <a:cs typeface="Book Antiqua"/>
            </a:endParaRPr>
          </a:p>
          <a:p>
            <a:pPr marL="342900" indent="-342900">
              <a:lnSpc>
                <a:spcPct val="150000"/>
              </a:lnSpc>
              <a:buFont typeface="Arial" panose="020B0604020202020204" pitchFamily="34" charset="0"/>
              <a:buChar char="•"/>
            </a:pPr>
            <a:endParaRPr lang="en-GB" sz="1500" dirty="0">
              <a:solidFill>
                <a:srgbClr val="342E2B"/>
              </a:solidFill>
              <a:latin typeface="Avenir Next Cyr W04 Regular" panose="020B0503020202020204" pitchFamily="34" charset="0"/>
              <a:cs typeface="Book Antiqua"/>
            </a:endParaRPr>
          </a:p>
          <a:p>
            <a:pPr marL="342900" indent="-342900">
              <a:lnSpc>
                <a:spcPct val="150000"/>
              </a:lnSpc>
              <a:buFont typeface="Arial" panose="020B0604020202020204" pitchFamily="34" charset="0"/>
              <a:buChar char="•"/>
            </a:pPr>
            <a:endParaRPr lang="en-GB" sz="1500" dirty="0" smtClean="0">
              <a:solidFill>
                <a:srgbClr val="342E2B"/>
              </a:solidFill>
              <a:latin typeface="Avenir Next Cyr W04 Regular" panose="020B0503020202020204" pitchFamily="34" charset="0"/>
              <a:cs typeface="Book Antiqua"/>
            </a:endParaRPr>
          </a:p>
          <a:p>
            <a:pPr marL="342900" indent="-342900">
              <a:lnSpc>
                <a:spcPct val="150000"/>
              </a:lnSpc>
              <a:buFont typeface="Arial" panose="020B0604020202020204" pitchFamily="34" charset="0"/>
              <a:buChar char="•"/>
            </a:pPr>
            <a:endParaRPr lang="en-GB" sz="1500" dirty="0">
              <a:solidFill>
                <a:srgbClr val="342E2B"/>
              </a:solidFill>
              <a:latin typeface="Avenir Next Cyr W04 Regular" panose="020B0503020202020204" pitchFamily="34" charset="0"/>
              <a:cs typeface="Book Antiqua"/>
            </a:endParaRPr>
          </a:p>
          <a:p>
            <a:pPr marL="342900" indent="-342900">
              <a:lnSpc>
                <a:spcPct val="150000"/>
              </a:lnSpc>
              <a:buFont typeface="Arial" panose="020B0604020202020204" pitchFamily="34" charset="0"/>
              <a:buChar char="•"/>
            </a:pPr>
            <a:endParaRPr lang="en-GB" sz="1500" dirty="0" smtClean="0">
              <a:solidFill>
                <a:srgbClr val="342E2B"/>
              </a:solidFill>
              <a:latin typeface="Avenir Next Cyr W04 Regular" panose="020B0503020202020204" pitchFamily="34" charset="0"/>
              <a:cs typeface="Book Antiqua"/>
            </a:endParaRPr>
          </a:p>
          <a:p>
            <a:pPr marL="342900" indent="-342900">
              <a:lnSpc>
                <a:spcPct val="150000"/>
              </a:lnSpc>
              <a:buFont typeface="Arial" panose="020B0604020202020204" pitchFamily="34" charset="0"/>
              <a:buChar char="•"/>
            </a:pPr>
            <a:endParaRPr lang="en-GB" sz="1500" dirty="0" smtClean="0">
              <a:solidFill>
                <a:srgbClr val="342E2B"/>
              </a:solidFill>
              <a:latin typeface="Avenir Next Cyr W04 Regular" panose="020B0503020202020204" pitchFamily="34" charset="0"/>
              <a:cs typeface="Book Antiqua"/>
            </a:endParaRPr>
          </a:p>
          <a:p>
            <a:pPr marL="342900" indent="-342900">
              <a:lnSpc>
                <a:spcPct val="150000"/>
              </a:lnSpc>
              <a:buFont typeface="Arial" panose="020B0604020202020204" pitchFamily="34" charset="0"/>
              <a:buChar char="•"/>
            </a:pPr>
            <a:endParaRPr lang="en-GB" sz="1500" dirty="0">
              <a:solidFill>
                <a:srgbClr val="342E2B"/>
              </a:solidFill>
              <a:latin typeface="Avenir Next Cyr W04 Regular" panose="020B0503020202020204" pitchFamily="34" charset="0"/>
              <a:cs typeface="Book Antiqua"/>
            </a:endParaRPr>
          </a:p>
          <a:p>
            <a:pPr>
              <a:lnSpc>
                <a:spcPct val="150000"/>
              </a:lnSpc>
            </a:pPr>
            <a:endParaRPr lang="en-GB" sz="1500" dirty="0" smtClean="0">
              <a:solidFill>
                <a:srgbClr val="342E2B"/>
              </a:solidFill>
              <a:latin typeface="Avenir Next Cyr W04 Regular" panose="020B0503020202020204" pitchFamily="34" charset="0"/>
              <a:cs typeface="Book Antiqua"/>
            </a:endParaRPr>
          </a:p>
          <a:p>
            <a:pPr marL="342900" indent="-342900">
              <a:lnSpc>
                <a:spcPct val="150000"/>
              </a:lnSpc>
              <a:buFont typeface="Arial" panose="020B0604020202020204" pitchFamily="34" charset="0"/>
              <a:buChar char="•"/>
            </a:pPr>
            <a:r>
              <a:rPr lang="en-GB" sz="1500" dirty="0" smtClean="0">
                <a:solidFill>
                  <a:srgbClr val="342E2B"/>
                </a:solidFill>
                <a:latin typeface="Avenir Next Cyr W04 Regular" panose="020B0503020202020204" pitchFamily="34" charset="0"/>
                <a:cs typeface="Book Antiqua"/>
              </a:rPr>
              <a:t>Differences in SAS table from a regular Excel Spreadsheet;</a:t>
            </a:r>
          </a:p>
          <a:p>
            <a:pPr marL="342900" indent="-342900">
              <a:lnSpc>
                <a:spcPct val="150000"/>
              </a:lnSpc>
              <a:buFont typeface="Arial" panose="020B0604020202020204" pitchFamily="34" charset="0"/>
              <a:buChar char="•"/>
            </a:pPr>
            <a:r>
              <a:rPr lang="en-GB" sz="1500" dirty="0" smtClean="0">
                <a:solidFill>
                  <a:srgbClr val="342E2B"/>
                </a:solidFill>
                <a:latin typeface="Avenir Next Cyr W04 Regular" panose="020B0503020202020204" pitchFamily="34" charset="0"/>
                <a:cs typeface="Book Antiqua"/>
              </a:rPr>
              <a:t>Each </a:t>
            </a:r>
            <a:r>
              <a:rPr lang="en-GB" sz="1500" b="1" dirty="0" smtClean="0">
                <a:solidFill>
                  <a:srgbClr val="342E2B"/>
                </a:solidFill>
                <a:latin typeface="Avenir Next Cyr W04 Regular" panose="020B0503020202020204" pitchFamily="34" charset="0"/>
                <a:cs typeface="Book Antiqua"/>
              </a:rPr>
              <a:t>Column</a:t>
            </a:r>
            <a:r>
              <a:rPr lang="en-GB" sz="1500" dirty="0" smtClean="0">
                <a:solidFill>
                  <a:srgbClr val="342E2B"/>
                </a:solidFill>
                <a:latin typeface="Avenir Next Cyr W04 Regular" panose="020B0503020202020204" pitchFamily="34" charset="0"/>
                <a:cs typeface="Book Antiqua"/>
              </a:rPr>
              <a:t> represents a variable and is designated with a variable name.</a:t>
            </a:r>
          </a:p>
          <a:p>
            <a:pPr marL="342900" indent="-342900">
              <a:lnSpc>
                <a:spcPct val="150000"/>
              </a:lnSpc>
              <a:buFont typeface="Arial" panose="020B0604020202020204" pitchFamily="34" charset="0"/>
              <a:buChar char="•"/>
            </a:pPr>
            <a:r>
              <a:rPr lang="en-GB" sz="1500" dirty="0" smtClean="0">
                <a:solidFill>
                  <a:srgbClr val="342E2B"/>
                </a:solidFill>
                <a:latin typeface="Avenir Next Cyr W04 Regular" panose="020B0503020202020204" pitchFamily="34" charset="0"/>
                <a:cs typeface="Book Antiqua"/>
              </a:rPr>
              <a:t>Each </a:t>
            </a:r>
            <a:r>
              <a:rPr lang="en-GB" sz="1500" b="1" dirty="0" smtClean="0">
                <a:solidFill>
                  <a:srgbClr val="342E2B"/>
                </a:solidFill>
                <a:latin typeface="Avenir Next Cyr W04 Regular" panose="020B0503020202020204" pitchFamily="34" charset="0"/>
                <a:cs typeface="Book Antiqua"/>
              </a:rPr>
              <a:t>Row</a:t>
            </a:r>
            <a:r>
              <a:rPr lang="en-GB" sz="1500" dirty="0" smtClean="0">
                <a:solidFill>
                  <a:srgbClr val="342E2B"/>
                </a:solidFill>
                <a:latin typeface="Avenir Next Cyr W04 Regular" panose="020B0503020202020204" pitchFamily="34" charset="0"/>
                <a:cs typeface="Book Antiqua"/>
              </a:rPr>
              <a:t>, marked here 1, 2, 3…n, indicates observations or records.</a:t>
            </a:r>
          </a:p>
        </p:txBody>
      </p:sp>
      <p:pic>
        <p:nvPicPr>
          <p:cNvPr id="7" name="Picture 6"/>
          <p:cNvPicPr>
            <a:picLocks noChangeAspect="1"/>
          </p:cNvPicPr>
          <p:nvPr/>
        </p:nvPicPr>
        <p:blipFill>
          <a:blip r:embed="rId4"/>
          <a:stretch>
            <a:fillRect/>
          </a:stretch>
        </p:blipFill>
        <p:spPr>
          <a:xfrm>
            <a:off x="118361" y="2003272"/>
            <a:ext cx="9681708" cy="2702839"/>
          </a:xfrm>
          <a:prstGeom prst="rect">
            <a:avLst/>
          </a:prstGeom>
        </p:spPr>
      </p:pic>
      <p:sp>
        <p:nvSpPr>
          <p:cNvPr id="8" name="Rectangle 7"/>
          <p:cNvSpPr/>
          <p:nvPr/>
        </p:nvSpPr>
        <p:spPr>
          <a:xfrm>
            <a:off x="118361" y="2003272"/>
            <a:ext cx="9681708" cy="2702839"/>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1362228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Rules for SAS variable Names</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950259" y="1258180"/>
            <a:ext cx="7874788" cy="4593565"/>
          </a:xfrm>
          <a:prstGeom prst="rect">
            <a:avLst/>
          </a:prstGeom>
          <a:noFill/>
        </p:spPr>
        <p:txBody>
          <a:bodyPr wrap="square" rtlCol="0">
            <a:spAutoFit/>
          </a:bodyPr>
          <a:lstStyle/>
          <a:p>
            <a:pPr marL="342900" lvl="0" indent="-342900">
              <a:lnSpc>
                <a:spcPct val="150000"/>
              </a:lnSpc>
              <a:buFont typeface="Arial"/>
              <a:buChar char="•"/>
            </a:pPr>
            <a:r>
              <a:rPr lang="en-GB" sz="1300" dirty="0" smtClean="0">
                <a:latin typeface="Avenir Next Cyr W04 Regular" panose="020B0503020202020204" pitchFamily="34" charset="0"/>
                <a:cs typeface="Book Antiqua"/>
              </a:rPr>
              <a:t>Must be 1 – 32 characters long but must not include any blanks.</a:t>
            </a:r>
          </a:p>
          <a:p>
            <a:pPr marL="342900" lvl="0" indent="-342900">
              <a:lnSpc>
                <a:spcPct val="150000"/>
              </a:lnSpc>
              <a:buFont typeface="Arial"/>
              <a:buChar char="•"/>
            </a:pPr>
            <a:r>
              <a:rPr lang="en-GB" sz="1300" dirty="0" smtClean="0">
                <a:latin typeface="Avenir Next Cyr W04 Regular" panose="020B0503020202020204" pitchFamily="34" charset="0"/>
                <a:cs typeface="Book Antiqua"/>
              </a:rPr>
              <a:t>Must start with the letters A – Z or an underscore (“_”). A name may not include a blank.</a:t>
            </a:r>
          </a:p>
          <a:p>
            <a:pPr marL="342900" lvl="0" indent="-342900">
              <a:lnSpc>
                <a:spcPct val="150000"/>
              </a:lnSpc>
              <a:buFont typeface="Arial"/>
              <a:buChar char="•"/>
            </a:pPr>
            <a:r>
              <a:rPr lang="en-GB" sz="1300" dirty="0" smtClean="0">
                <a:latin typeface="Avenir Next Cyr W04 Regular" panose="020B0503020202020204" pitchFamily="34" charset="0"/>
                <a:cs typeface="Book Antiqua"/>
              </a:rPr>
              <a:t>May include numbers (but not as the first character.</a:t>
            </a:r>
          </a:p>
          <a:p>
            <a:pPr marL="342900" lvl="0" indent="-342900">
              <a:lnSpc>
                <a:spcPct val="150000"/>
              </a:lnSpc>
              <a:buFont typeface="Arial"/>
              <a:buChar char="•"/>
            </a:pPr>
            <a:r>
              <a:rPr lang="en-GB" sz="1300" dirty="0" smtClean="0">
                <a:latin typeface="Avenir Next Cyr W04 Regular" panose="020B0503020202020204" pitchFamily="34" charset="0"/>
                <a:cs typeface="Book Antiqua"/>
              </a:rPr>
              <a:t>May include upper and lowercase characters (Variable names are case-insensitive)</a:t>
            </a:r>
          </a:p>
          <a:p>
            <a:pPr marL="342900" lvl="0" indent="-342900">
              <a:lnSpc>
                <a:spcPct val="150000"/>
              </a:lnSpc>
              <a:buFont typeface="Arial"/>
              <a:buChar char="•"/>
            </a:pPr>
            <a:r>
              <a:rPr lang="en-GB" sz="1300" dirty="0" smtClean="0">
                <a:latin typeface="Avenir Next Cyr W04 Regular" panose="020B0503020202020204" pitchFamily="34" charset="0"/>
                <a:cs typeface="Book Antiqua"/>
              </a:rPr>
              <a:t>Should be descriptive of the variables (Optional but recommended)</a:t>
            </a:r>
          </a:p>
          <a:p>
            <a:pPr marL="800100" lvl="1" indent="-342900">
              <a:lnSpc>
                <a:spcPct val="150000"/>
              </a:lnSpc>
              <a:buFont typeface="Arial"/>
              <a:buChar char="•"/>
            </a:pPr>
            <a:r>
              <a:rPr lang="en-GB" sz="1300" b="1" dirty="0" smtClean="0">
                <a:latin typeface="Avenir Next Cyr W04 Regular" panose="020B0503020202020204" pitchFamily="34" charset="0"/>
                <a:cs typeface="Book Antiqua"/>
              </a:rPr>
              <a:t>Example of Correct Variable names;</a:t>
            </a:r>
          </a:p>
          <a:p>
            <a:pPr lvl="1">
              <a:lnSpc>
                <a:spcPct val="150000"/>
              </a:lnSpc>
            </a:pPr>
            <a:r>
              <a:rPr lang="en-GB" sz="1300" dirty="0" smtClean="0">
                <a:latin typeface="Avenir Next Cyr W04 Regular" panose="020B0503020202020204" pitchFamily="34" charset="0"/>
                <a:cs typeface="Book Antiqua"/>
              </a:rPr>
              <a:t>GENDER</a:t>
            </a:r>
          </a:p>
          <a:p>
            <a:pPr lvl="1">
              <a:lnSpc>
                <a:spcPct val="150000"/>
              </a:lnSpc>
            </a:pPr>
            <a:r>
              <a:rPr lang="en-GB" sz="1300" dirty="0" smtClean="0">
                <a:latin typeface="Avenir Next Cyr W04 Regular" panose="020B0503020202020204" pitchFamily="34" charset="0"/>
                <a:cs typeface="Book Antiqua"/>
              </a:rPr>
              <a:t>AGE_IN_1999</a:t>
            </a:r>
          </a:p>
          <a:p>
            <a:pPr lvl="1">
              <a:lnSpc>
                <a:spcPct val="150000"/>
              </a:lnSpc>
            </a:pPr>
            <a:r>
              <a:rPr lang="en-GB" sz="1300" dirty="0" smtClean="0">
                <a:latin typeface="Avenir Next Cyr W04 Regular" panose="020B0503020202020204" pitchFamily="34" charset="0"/>
                <a:cs typeface="Book Antiqua"/>
              </a:rPr>
              <a:t>AGEin1999</a:t>
            </a:r>
          </a:p>
          <a:p>
            <a:pPr lvl="1">
              <a:lnSpc>
                <a:spcPct val="150000"/>
              </a:lnSpc>
            </a:pPr>
            <a:r>
              <a:rPr lang="en-GB" sz="1300" dirty="0" smtClean="0">
                <a:latin typeface="Avenir Next Cyr W04 Regular" panose="020B0503020202020204" pitchFamily="34" charset="0"/>
                <a:cs typeface="Book Antiqua"/>
              </a:rPr>
              <a:t>_OUTCOME</a:t>
            </a:r>
          </a:p>
          <a:p>
            <a:pPr marL="742950" lvl="1" indent="-285750">
              <a:lnSpc>
                <a:spcPct val="150000"/>
              </a:lnSpc>
              <a:buFont typeface="Arial" panose="020B0604020202020204" pitchFamily="34" charset="0"/>
              <a:buChar char="•"/>
            </a:pPr>
            <a:r>
              <a:rPr lang="en-GB" sz="1300" b="1" dirty="0" smtClean="0">
                <a:latin typeface="Avenir Next Cyr W04 Regular" panose="020B0503020202020204" pitchFamily="34" charset="0"/>
                <a:cs typeface="Book Antiqua"/>
              </a:rPr>
              <a:t>Example of Incorrect Variable names;</a:t>
            </a:r>
          </a:p>
          <a:p>
            <a:pPr lvl="1">
              <a:lnSpc>
                <a:spcPct val="150000"/>
              </a:lnSpc>
            </a:pPr>
            <a:r>
              <a:rPr lang="en-GB" sz="1300" dirty="0" smtClean="0">
                <a:latin typeface="Avenir Next Cyr W04 Regular" panose="020B0503020202020204" pitchFamily="34" charset="0"/>
                <a:cs typeface="Book Antiqua"/>
              </a:rPr>
              <a:t>AGE IN 2000</a:t>
            </a:r>
          </a:p>
          <a:p>
            <a:pPr lvl="1">
              <a:lnSpc>
                <a:spcPct val="150000"/>
              </a:lnSpc>
            </a:pPr>
            <a:r>
              <a:rPr lang="en-GB" sz="1300" dirty="0" smtClean="0">
                <a:latin typeface="Avenir Next Cyr W04 Regular" panose="020B0503020202020204" pitchFamily="34" charset="0"/>
                <a:cs typeface="Book Antiqua"/>
              </a:rPr>
              <a:t>2 0 0 0MeaslesCount</a:t>
            </a:r>
          </a:p>
          <a:p>
            <a:pPr lvl="1">
              <a:lnSpc>
                <a:spcPct val="150000"/>
              </a:lnSpc>
            </a:pPr>
            <a:r>
              <a:rPr lang="en-GB" sz="1300" dirty="0" smtClean="0">
                <a:latin typeface="Avenir Next Cyr W04 Regular" panose="020B0503020202020204" pitchFamily="34" charset="0"/>
                <a:cs typeface="Book Antiqua"/>
              </a:rPr>
              <a:t>S </a:t>
            </a:r>
            <a:r>
              <a:rPr lang="en-GB" sz="1300" dirty="0" err="1" smtClean="0">
                <a:latin typeface="Avenir Next Cyr W04 Regular" panose="020B0503020202020204" pitchFamily="34" charset="0"/>
                <a:cs typeface="Book Antiqua"/>
              </a:rPr>
              <a:t>S</a:t>
            </a:r>
            <a:r>
              <a:rPr lang="en-GB" sz="1300" dirty="0" smtClean="0">
                <a:latin typeface="Avenir Next Cyr W04 Regular" panose="020B0503020202020204" pitchFamily="34" charset="0"/>
                <a:cs typeface="Book Antiqua"/>
              </a:rPr>
              <a:t> Number</a:t>
            </a:r>
          </a:p>
          <a:p>
            <a:pPr lvl="1">
              <a:lnSpc>
                <a:spcPct val="150000"/>
              </a:lnSpc>
            </a:pPr>
            <a:r>
              <a:rPr lang="en-GB" sz="1300" dirty="0" smtClean="0">
                <a:latin typeface="Avenir Next Cyr W04 Regular" panose="020B0503020202020204" pitchFamily="34" charset="0"/>
                <a:cs typeface="Book Antiqua"/>
              </a:rPr>
              <a:t>AGE-In-2000</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3415" y="2775037"/>
            <a:ext cx="281390" cy="291063"/>
          </a:xfrm>
          <a:prstGeom prst="rect">
            <a:avLst/>
          </a:prstGeom>
        </p:spPr>
      </p:pic>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7136" y="4352373"/>
            <a:ext cx="302965" cy="213098"/>
          </a:xfrm>
          <a:prstGeom prst="rect">
            <a:avLst/>
          </a:prstGeom>
        </p:spPr>
      </p:pic>
    </p:spTree>
    <p:extLst>
      <p:ext uri="{BB962C8B-B14F-4D97-AF65-F5344CB8AC3E}">
        <p14:creationId xmlns:p14="http://schemas.microsoft.com/office/powerpoint/2010/main" val="9074510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SAS Naming Examples</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7" name="Rectangle 6"/>
          <p:cNvSpPr/>
          <p:nvPr/>
        </p:nvSpPr>
        <p:spPr>
          <a:xfrm>
            <a:off x="3892952" y="1630566"/>
            <a:ext cx="1774518" cy="2492990"/>
          </a:xfrm>
          <a:prstGeom prst="rect">
            <a:avLst/>
          </a:prstGeom>
        </p:spPr>
        <p:txBody>
          <a:bodyPr wrap="square">
            <a:spAutoFit/>
          </a:bodyPr>
          <a:lstStyle/>
          <a:p>
            <a:pPr marL="342900" lvl="0" indent="-342900">
              <a:lnSpc>
                <a:spcPct val="200000"/>
              </a:lnSpc>
              <a:buFont typeface="Arial"/>
              <a:buChar char="•"/>
            </a:pPr>
            <a:r>
              <a:rPr lang="en-GB" sz="1300" dirty="0" smtClean="0">
                <a:latin typeface="Avenir Next Cyr W04 Regular" panose="020B0503020202020204" pitchFamily="34" charset="0"/>
                <a:cs typeface="Book Antiqua"/>
              </a:rPr>
              <a:t>GENDER </a:t>
            </a:r>
            <a:endParaRPr lang="en-GB" sz="1300" dirty="0">
              <a:latin typeface="Avenir Next Cyr W04 Regular" panose="020B0503020202020204" pitchFamily="34" charset="0"/>
              <a:cs typeface="Book Antiqua"/>
            </a:endParaRPr>
          </a:p>
          <a:p>
            <a:pPr marL="342900" lvl="0" indent="-342900">
              <a:lnSpc>
                <a:spcPct val="200000"/>
              </a:lnSpc>
              <a:buFont typeface="Arial"/>
              <a:buChar char="•"/>
            </a:pPr>
            <a:r>
              <a:rPr lang="en-GB" sz="1300" dirty="0" smtClean="0">
                <a:latin typeface="Avenir Next Cyr W04 Regular" panose="020B0503020202020204" pitchFamily="34" charset="0"/>
                <a:cs typeface="Book Antiqua"/>
              </a:rPr>
              <a:t>Gender </a:t>
            </a:r>
          </a:p>
          <a:p>
            <a:pPr marL="342900" lvl="0" indent="-342900">
              <a:lnSpc>
                <a:spcPct val="200000"/>
              </a:lnSpc>
              <a:buFont typeface="Arial"/>
              <a:buChar char="•"/>
            </a:pPr>
            <a:r>
              <a:rPr lang="en-ZA" sz="1300" dirty="0" smtClean="0">
                <a:latin typeface="Avenir Next Cyr W04 Regular" panose="020B0503020202020204" pitchFamily="34" charset="0"/>
                <a:cs typeface="Book Antiqua"/>
              </a:rPr>
              <a:t>_Age </a:t>
            </a:r>
          </a:p>
          <a:p>
            <a:pPr marL="342900" lvl="0" indent="-342900">
              <a:lnSpc>
                <a:spcPct val="200000"/>
              </a:lnSpc>
              <a:buFont typeface="Arial"/>
              <a:buChar char="•"/>
            </a:pPr>
            <a:r>
              <a:rPr lang="en-ZA" sz="1300" dirty="0" smtClean="0">
                <a:latin typeface="Avenir Next Cyr W04 Regular" panose="020B0503020202020204" pitchFamily="34" charset="0"/>
                <a:cs typeface="Book Antiqua"/>
              </a:rPr>
              <a:t>A_G_E </a:t>
            </a:r>
          </a:p>
          <a:p>
            <a:pPr marL="342900" lvl="0" indent="-342900">
              <a:lnSpc>
                <a:spcPct val="200000"/>
              </a:lnSpc>
              <a:buFont typeface="Arial"/>
              <a:buChar char="•"/>
            </a:pPr>
            <a:r>
              <a:rPr lang="en-ZA" sz="1300" dirty="0" smtClean="0">
                <a:latin typeface="Avenir Next Cyr W04 Regular" panose="020B0503020202020204" pitchFamily="34" charset="0"/>
                <a:cs typeface="Book Antiqua"/>
              </a:rPr>
              <a:t>1ONE</a:t>
            </a:r>
          </a:p>
          <a:p>
            <a:pPr marL="342900" lvl="0" indent="-342900">
              <a:lnSpc>
                <a:spcPct val="200000"/>
              </a:lnSpc>
              <a:buFont typeface="Arial"/>
              <a:buChar char="•"/>
            </a:pPr>
            <a:r>
              <a:rPr lang="en-ZA" sz="1300" dirty="0" smtClean="0">
                <a:latin typeface="Avenir Next Cyr W04 Regular" panose="020B0503020202020204" pitchFamily="34" charset="0"/>
                <a:cs typeface="Book Antiqua"/>
              </a:rPr>
              <a:t>MY  DATASET </a:t>
            </a:r>
            <a:endParaRPr lang="en-GB" sz="1300" dirty="0" smtClean="0">
              <a:latin typeface="Avenir Next Cyr W04 Regular" panose="020B0503020202020204" pitchFamily="34" charset="0"/>
              <a:cs typeface="Book Antiqua"/>
            </a:endParaRPr>
          </a:p>
        </p:txBody>
      </p:sp>
    </p:spTree>
    <p:extLst>
      <p:ext uri="{BB962C8B-B14F-4D97-AF65-F5344CB8AC3E}">
        <p14:creationId xmlns:p14="http://schemas.microsoft.com/office/powerpoint/2010/main" val="29786965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Understanding Three SAS variable Types</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612884" y="961808"/>
            <a:ext cx="7874788" cy="2793072"/>
          </a:xfrm>
          <a:prstGeom prst="rect">
            <a:avLst/>
          </a:prstGeom>
          <a:noFill/>
        </p:spPr>
        <p:txBody>
          <a:bodyPr wrap="square" rtlCol="0">
            <a:spAutoFit/>
          </a:bodyPr>
          <a:lstStyle/>
          <a:p>
            <a:pPr>
              <a:lnSpc>
                <a:spcPct val="150000"/>
              </a:lnSpc>
              <a:buFont typeface="Arial"/>
              <a:buChar char="•"/>
            </a:pPr>
            <a:r>
              <a:rPr lang="en-GB" sz="1300" dirty="0">
                <a:latin typeface="Avenir Next Cyr W04 Regular" panose="020B0503020202020204" pitchFamily="34" charset="0"/>
                <a:cs typeface="Book Antiqua"/>
              </a:rPr>
              <a:t> Number </a:t>
            </a:r>
            <a:r>
              <a:rPr lang="en-GB" sz="1300" dirty="0" smtClean="0">
                <a:latin typeface="Avenir Next Cyr W04 Regular" panose="020B0503020202020204" pitchFamily="34" charset="0"/>
                <a:cs typeface="Book Antiqua"/>
              </a:rPr>
              <a:t>– A numeric variable is used to designate values that could be used arithmetic calculations or grouping codes for categorical variables.</a:t>
            </a:r>
          </a:p>
          <a:p>
            <a:pPr>
              <a:lnSpc>
                <a:spcPct val="150000"/>
              </a:lnSpc>
              <a:buFont typeface="Arial"/>
              <a:buChar char="•"/>
            </a:pPr>
            <a:endParaRPr lang="en-GB" sz="1300" dirty="0">
              <a:latin typeface="Avenir Next Cyr W04 Regular" panose="020B0503020202020204" pitchFamily="34" charset="0"/>
              <a:cs typeface="Book Antiqua"/>
            </a:endParaRPr>
          </a:p>
          <a:p>
            <a:pPr>
              <a:lnSpc>
                <a:spcPct val="150000"/>
              </a:lnSpc>
              <a:buFont typeface="Arial"/>
              <a:buChar char="•"/>
            </a:pPr>
            <a:r>
              <a:rPr lang="en-GB" sz="1300" dirty="0">
                <a:latin typeface="Avenir Next Cyr W04 Regular" panose="020B0503020202020204" pitchFamily="34" charset="0"/>
                <a:cs typeface="Book Antiqua"/>
              </a:rPr>
              <a:t> </a:t>
            </a:r>
            <a:r>
              <a:rPr lang="en-GB" sz="1300" dirty="0" smtClean="0">
                <a:latin typeface="Avenir Next Cyr W04 Regular" panose="020B0503020202020204" pitchFamily="34" charset="0"/>
                <a:cs typeface="Book Antiqua"/>
              </a:rPr>
              <a:t>Character </a:t>
            </a:r>
            <a:r>
              <a:rPr lang="en-GB" sz="1300" dirty="0">
                <a:latin typeface="Avenir Next Cyr W04 Regular" panose="020B0503020202020204" pitchFamily="34" charset="0"/>
                <a:cs typeface="Book Antiqua"/>
              </a:rPr>
              <a:t>– </a:t>
            </a:r>
            <a:r>
              <a:rPr lang="en-GB" sz="1300" dirty="0" smtClean="0">
                <a:latin typeface="Avenir Next Cyr W04 Regular" panose="020B0503020202020204" pitchFamily="34" charset="0"/>
                <a:cs typeface="Book Antiqua"/>
              </a:rPr>
              <a:t>(Text, String) are used for values that are </a:t>
            </a:r>
            <a:r>
              <a:rPr lang="en-GB" sz="1300" dirty="0" smtClean="0">
                <a:latin typeface="Avenir Next Cyr W04 Regular" panose="020B0503020202020204" pitchFamily="34" charset="0"/>
                <a:cs typeface="Book Antiqua"/>
              </a:rPr>
              <a:t>not </a:t>
            </a:r>
            <a:r>
              <a:rPr lang="en-GB" sz="1300" dirty="0" smtClean="0">
                <a:latin typeface="Avenir Next Cyr W04 Regular" panose="020B0503020202020204" pitchFamily="34" charset="0"/>
                <a:cs typeface="Book Antiqua"/>
              </a:rPr>
              <a:t>used in arithmetic calculations.</a:t>
            </a:r>
          </a:p>
          <a:p>
            <a:pPr>
              <a:lnSpc>
                <a:spcPct val="150000"/>
              </a:lnSpc>
              <a:buFont typeface="Arial"/>
              <a:buChar char="•"/>
            </a:pPr>
            <a:endParaRPr lang="en-GB" sz="1300" dirty="0">
              <a:latin typeface="Avenir Next Cyr W04 Regular" panose="020B0503020202020204" pitchFamily="34" charset="0"/>
              <a:cs typeface="Book Antiqua"/>
            </a:endParaRPr>
          </a:p>
          <a:p>
            <a:pPr>
              <a:lnSpc>
                <a:spcPct val="150000"/>
              </a:lnSpc>
              <a:buFont typeface="Arial"/>
              <a:buChar char="•"/>
            </a:pPr>
            <a:r>
              <a:rPr lang="en-GB" sz="1300" dirty="0">
                <a:latin typeface="Avenir Next Cyr W04 Regular" panose="020B0503020202020204" pitchFamily="34" charset="0"/>
                <a:cs typeface="Book Antiqua"/>
              </a:rPr>
              <a:t> </a:t>
            </a:r>
            <a:r>
              <a:rPr lang="en-GB" sz="1300" dirty="0" smtClean="0">
                <a:latin typeface="Avenir Next Cyr W04 Regular" panose="020B0503020202020204" pitchFamily="34" charset="0"/>
                <a:cs typeface="Book Antiqua"/>
              </a:rPr>
              <a:t>Date </a:t>
            </a:r>
            <a:r>
              <a:rPr lang="en-GB" sz="1300" dirty="0">
                <a:latin typeface="Avenir Next Cyr W04 Regular" panose="020B0503020202020204" pitchFamily="34" charset="0"/>
                <a:cs typeface="Book Antiqua"/>
              </a:rPr>
              <a:t>– </a:t>
            </a:r>
            <a:r>
              <a:rPr lang="en-GB" sz="1300" dirty="0" smtClean="0">
                <a:latin typeface="Avenir Next Cyr W04 Regular" panose="020B0503020202020204" pitchFamily="34" charset="0"/>
                <a:cs typeface="Book Antiqua"/>
              </a:rPr>
              <a:t>A date value may be entered into SAS using a variety of formats such as;</a:t>
            </a:r>
          </a:p>
          <a:p>
            <a:pPr lvl="1">
              <a:lnSpc>
                <a:spcPct val="150000"/>
              </a:lnSpc>
              <a:buFont typeface="Arial"/>
              <a:buChar char="•"/>
            </a:pPr>
            <a:r>
              <a:rPr lang="en-GB" sz="1300" dirty="0" smtClean="0">
                <a:latin typeface="Avenir Next Cyr W04 Regular" panose="020B0503020202020204" pitchFamily="34" charset="0"/>
                <a:cs typeface="Book Antiqua"/>
              </a:rPr>
              <a:t>10/15/09</a:t>
            </a:r>
          </a:p>
          <a:p>
            <a:pPr lvl="1">
              <a:lnSpc>
                <a:spcPct val="150000"/>
              </a:lnSpc>
              <a:buFont typeface="Arial"/>
              <a:buChar char="•"/>
            </a:pPr>
            <a:r>
              <a:rPr lang="en-GB" sz="1300" dirty="0" smtClean="0">
                <a:latin typeface="Avenir Next Cyr W04 Regular" panose="020B0503020202020204" pitchFamily="34" charset="0"/>
                <a:cs typeface="Book Antiqua"/>
              </a:rPr>
              <a:t>01/05/2010</a:t>
            </a:r>
          </a:p>
          <a:p>
            <a:pPr lvl="1">
              <a:lnSpc>
                <a:spcPct val="150000"/>
              </a:lnSpc>
              <a:buFont typeface="Arial"/>
              <a:buChar char="•"/>
            </a:pPr>
            <a:r>
              <a:rPr lang="en-GB" sz="1300" dirty="0" smtClean="0">
                <a:latin typeface="Avenir Next Cyr W04 Regular" panose="020B0503020202020204" pitchFamily="34" charset="0"/>
                <a:cs typeface="Book Antiqua"/>
              </a:rPr>
              <a:t>JAN052010</a:t>
            </a:r>
          </a:p>
        </p:txBody>
      </p:sp>
    </p:spTree>
    <p:extLst>
      <p:ext uri="{BB962C8B-B14F-4D97-AF65-F5344CB8AC3E}">
        <p14:creationId xmlns:p14="http://schemas.microsoft.com/office/powerpoint/2010/main" val="19613146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000" dirty="0" smtClean="0"/>
              <a:t>Methods of reading data into SAS</a:t>
            </a:r>
            <a:endParaRPr lang="en-ZA" sz="20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862170" y="1261261"/>
            <a:ext cx="7874788" cy="2192908"/>
          </a:xfrm>
          <a:prstGeom prst="rect">
            <a:avLst/>
          </a:prstGeom>
          <a:noFill/>
        </p:spPr>
        <p:txBody>
          <a:bodyPr wrap="square" rtlCol="0">
            <a:spAutoFit/>
          </a:bodyPr>
          <a:lstStyle/>
          <a:p>
            <a:pPr>
              <a:lnSpc>
                <a:spcPct val="150000"/>
              </a:lnSpc>
              <a:buFont typeface="Arial"/>
              <a:buChar char="•"/>
            </a:pPr>
            <a:r>
              <a:rPr lang="en-GB" sz="1300" dirty="0" smtClean="0">
                <a:latin typeface="Avenir Next Cyr W04 Regular" panose="020B0503020202020204" pitchFamily="34" charset="0"/>
                <a:cs typeface="Book Antiqua"/>
              </a:rPr>
              <a:t>Reading data using </a:t>
            </a:r>
            <a:r>
              <a:rPr lang="en-GB" sz="1300" b="1" i="1" dirty="0" smtClean="0">
                <a:solidFill>
                  <a:schemeClr val="accent1"/>
                </a:solidFill>
                <a:latin typeface="Avenir Next Cyr W04 Regular" panose="020B0503020202020204" pitchFamily="34" charset="0"/>
                <a:cs typeface="Book Antiqua"/>
              </a:rPr>
              <a:t>freeform list input</a:t>
            </a:r>
          </a:p>
          <a:p>
            <a:pPr>
              <a:lnSpc>
                <a:spcPct val="150000"/>
              </a:lnSpc>
              <a:buFont typeface="Arial"/>
              <a:buChar char="•"/>
            </a:pPr>
            <a:endParaRPr lang="en-GB" sz="1300" b="1" i="1" dirty="0" smtClean="0">
              <a:solidFill>
                <a:schemeClr val="accent1"/>
              </a:solidFill>
              <a:latin typeface="Avenir Next Cyr W04 Regular" panose="020B0503020202020204" pitchFamily="34" charset="0"/>
              <a:cs typeface="Book Antiqua"/>
            </a:endParaRPr>
          </a:p>
          <a:p>
            <a:pPr>
              <a:lnSpc>
                <a:spcPct val="150000"/>
              </a:lnSpc>
              <a:buFont typeface="Arial"/>
              <a:buChar char="•"/>
            </a:pPr>
            <a:r>
              <a:rPr lang="en-GB" sz="1300" dirty="0">
                <a:latin typeface="Avenir Next Cyr W04 Regular" panose="020B0503020202020204" pitchFamily="34" charset="0"/>
                <a:cs typeface="Book Antiqua"/>
              </a:rPr>
              <a:t>Reading data </a:t>
            </a:r>
            <a:r>
              <a:rPr lang="en-GB" sz="1300" dirty="0" smtClean="0">
                <a:latin typeface="Avenir Next Cyr W04 Regular" panose="020B0503020202020204" pitchFamily="34" charset="0"/>
                <a:cs typeface="Book Antiqua"/>
              </a:rPr>
              <a:t>using </a:t>
            </a:r>
            <a:r>
              <a:rPr lang="en-GB" sz="1300" b="1" i="1" dirty="0" smtClean="0">
                <a:solidFill>
                  <a:schemeClr val="accent1"/>
                </a:solidFill>
                <a:latin typeface="Avenir Next Cyr W04 Regular" panose="020B0503020202020204" pitchFamily="34" charset="0"/>
                <a:cs typeface="Book Antiqua"/>
              </a:rPr>
              <a:t>the compact method</a:t>
            </a:r>
          </a:p>
          <a:p>
            <a:pPr>
              <a:lnSpc>
                <a:spcPct val="150000"/>
              </a:lnSpc>
              <a:buFont typeface="Arial"/>
              <a:buChar char="•"/>
            </a:pPr>
            <a:endParaRPr lang="en-GB" sz="1300" b="1" i="1" dirty="0" smtClean="0">
              <a:solidFill>
                <a:schemeClr val="accent1"/>
              </a:solidFill>
              <a:latin typeface="Avenir Next Cyr W04 Regular" panose="020B0503020202020204" pitchFamily="34" charset="0"/>
              <a:cs typeface="Book Antiqua"/>
            </a:endParaRPr>
          </a:p>
          <a:p>
            <a:pPr>
              <a:lnSpc>
                <a:spcPct val="150000"/>
              </a:lnSpc>
              <a:buFont typeface="Arial"/>
              <a:buChar char="•"/>
            </a:pPr>
            <a:r>
              <a:rPr lang="en-GB" sz="1300" dirty="0">
                <a:latin typeface="Avenir Next Cyr W04 Regular" panose="020B0503020202020204" pitchFamily="34" charset="0"/>
                <a:cs typeface="Book Antiqua"/>
              </a:rPr>
              <a:t>Reading data </a:t>
            </a:r>
            <a:r>
              <a:rPr lang="en-GB" sz="1300" dirty="0" smtClean="0">
                <a:latin typeface="Avenir Next Cyr W04 Regular" panose="020B0503020202020204" pitchFamily="34" charset="0"/>
                <a:cs typeface="Book Antiqua"/>
              </a:rPr>
              <a:t>using </a:t>
            </a:r>
            <a:r>
              <a:rPr lang="en-GB" sz="1300" b="1" i="1" dirty="0" smtClean="0">
                <a:solidFill>
                  <a:schemeClr val="accent1"/>
                </a:solidFill>
                <a:latin typeface="Avenir Next Cyr W04 Regular" panose="020B0503020202020204" pitchFamily="34" charset="0"/>
                <a:cs typeface="Book Antiqua"/>
              </a:rPr>
              <a:t>column input</a:t>
            </a:r>
          </a:p>
          <a:p>
            <a:pPr>
              <a:lnSpc>
                <a:spcPct val="150000"/>
              </a:lnSpc>
              <a:buFont typeface="Arial"/>
              <a:buChar char="•"/>
            </a:pPr>
            <a:endParaRPr lang="en-GB" sz="1300" b="1" i="1" dirty="0" smtClean="0">
              <a:solidFill>
                <a:schemeClr val="accent1"/>
              </a:solidFill>
              <a:latin typeface="Avenir Next Cyr W04 Regular" panose="020B0503020202020204" pitchFamily="34" charset="0"/>
              <a:cs typeface="Book Antiqua"/>
            </a:endParaRPr>
          </a:p>
          <a:p>
            <a:pPr>
              <a:lnSpc>
                <a:spcPct val="150000"/>
              </a:lnSpc>
              <a:buFont typeface="Arial"/>
              <a:buChar char="•"/>
            </a:pPr>
            <a:r>
              <a:rPr lang="en-GB" sz="1300" dirty="0">
                <a:latin typeface="Avenir Next Cyr W04 Regular" panose="020B0503020202020204" pitchFamily="34" charset="0"/>
                <a:cs typeface="Book Antiqua"/>
              </a:rPr>
              <a:t>Reading data </a:t>
            </a:r>
            <a:r>
              <a:rPr lang="en-GB" sz="1300" dirty="0" smtClean="0">
                <a:latin typeface="Avenir Next Cyr W04 Regular" panose="020B0503020202020204" pitchFamily="34" charset="0"/>
                <a:cs typeface="Book Antiqua"/>
              </a:rPr>
              <a:t>using </a:t>
            </a:r>
            <a:r>
              <a:rPr lang="en-GB" sz="1300" b="1" i="1" dirty="0" smtClean="0">
                <a:solidFill>
                  <a:schemeClr val="accent1"/>
                </a:solidFill>
                <a:latin typeface="Avenir Next Cyr W04 Regular" panose="020B0503020202020204" pitchFamily="34" charset="0"/>
                <a:cs typeface="Book Antiqua"/>
              </a:rPr>
              <a:t>formatted input</a:t>
            </a:r>
            <a:endParaRPr lang="en-GB" sz="1300" b="1" i="1" dirty="0">
              <a:solidFill>
                <a:schemeClr val="accent1"/>
              </a:solidFill>
              <a:latin typeface="Avenir Next Cyr W04 Regular" panose="020B0503020202020204" pitchFamily="34" charset="0"/>
              <a:cs typeface="Book Antiqua"/>
            </a:endParaRPr>
          </a:p>
        </p:txBody>
      </p:sp>
    </p:spTree>
    <p:extLst>
      <p:ext uri="{BB962C8B-B14F-4D97-AF65-F5344CB8AC3E}">
        <p14:creationId xmlns:p14="http://schemas.microsoft.com/office/powerpoint/2010/main" val="1964444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Reading data using Freeform List Input</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118361" y="1305761"/>
            <a:ext cx="5034878" cy="4893647"/>
          </a:xfrm>
          <a:prstGeom prst="rect">
            <a:avLst/>
          </a:prstGeom>
          <a:noFill/>
        </p:spPr>
        <p:txBody>
          <a:bodyPr wrap="square" rtlCol="0">
            <a:spAutoFit/>
          </a:bodyPr>
          <a:lstStyle/>
          <a:p>
            <a:pPr>
              <a:lnSpc>
                <a:spcPct val="150000"/>
              </a:lnSpc>
              <a:buFont typeface="Arial"/>
              <a:buChar char="•"/>
            </a:pPr>
            <a:r>
              <a:rPr lang="en-GB" sz="1300" dirty="0" smtClean="0">
                <a:latin typeface="Book Antiqua" panose="02040602050305030304" pitchFamily="18" charset="0"/>
                <a:cs typeface="Book Antiqua"/>
              </a:rPr>
              <a:t> In this method variable names in the </a:t>
            </a:r>
            <a:r>
              <a:rPr lang="en-GB" sz="1300" dirty="0" smtClean="0">
                <a:solidFill>
                  <a:schemeClr val="accent1"/>
                </a:solidFill>
                <a:latin typeface="Book Antiqua" panose="02040602050305030304" pitchFamily="18" charset="0"/>
                <a:cs typeface="Book Antiqua"/>
              </a:rPr>
              <a:t>DATA step </a:t>
            </a:r>
            <a:r>
              <a:rPr lang="en-GB" sz="1300" dirty="0" smtClean="0">
                <a:latin typeface="Book Antiqua" panose="02040602050305030304" pitchFamily="18" charset="0"/>
                <a:cs typeface="Book Antiqua"/>
              </a:rPr>
              <a:t>are indicated by a list following the </a:t>
            </a:r>
            <a:r>
              <a:rPr lang="en-GB" sz="1300" dirty="0" smtClean="0">
                <a:solidFill>
                  <a:schemeClr val="accent1"/>
                </a:solidFill>
                <a:latin typeface="Book Antiqua" panose="02040602050305030304" pitchFamily="18" charset="0"/>
                <a:cs typeface="Book Antiqua"/>
              </a:rPr>
              <a:t>INPUT statement </a:t>
            </a:r>
            <a:r>
              <a:rPr lang="en-GB" sz="1300" dirty="0" smtClean="0">
                <a:latin typeface="Book Antiqua" panose="02040602050305030304" pitchFamily="18" charset="0"/>
                <a:cs typeface="Book Antiqua"/>
              </a:rPr>
              <a:t>keyword</a:t>
            </a:r>
          </a:p>
          <a:p>
            <a:pPr>
              <a:lnSpc>
                <a:spcPct val="150000"/>
              </a:lnSpc>
              <a:buFont typeface="Arial"/>
              <a:buChar char="•"/>
            </a:pPr>
            <a:r>
              <a:rPr lang="en-GB" sz="1300" dirty="0" smtClean="0">
                <a:latin typeface="Book Antiqua" panose="02040602050305030304" pitchFamily="18" charset="0"/>
                <a:cs typeface="Book Antiqua"/>
              </a:rPr>
              <a:t>Example; </a:t>
            </a:r>
          </a:p>
          <a:p>
            <a:pPr>
              <a:lnSpc>
                <a:spcPct val="150000"/>
              </a:lnSpc>
              <a:buFont typeface="Arial"/>
              <a:buChar char="•"/>
            </a:pPr>
            <a:endParaRPr lang="en-GB" sz="1300" dirty="0" smtClean="0">
              <a:latin typeface="Book Antiqua" panose="02040602050305030304" pitchFamily="18" charset="0"/>
              <a:cs typeface="Book Antiqua"/>
            </a:endParaRPr>
          </a:p>
          <a:p>
            <a:pPr>
              <a:lnSpc>
                <a:spcPct val="150000"/>
              </a:lnSpc>
              <a:buFont typeface="Arial"/>
              <a:buChar char="•"/>
            </a:pPr>
            <a:r>
              <a:rPr lang="en-GB" sz="1300" dirty="0" smtClean="0">
                <a:latin typeface="Book Antiqua" panose="02040602050305030304" pitchFamily="18" charset="0"/>
                <a:cs typeface="Book Antiqua"/>
              </a:rPr>
              <a:t>The </a:t>
            </a:r>
            <a:r>
              <a:rPr lang="en-GB" sz="1300" dirty="0" smtClean="0">
                <a:solidFill>
                  <a:schemeClr val="accent1"/>
                </a:solidFill>
                <a:latin typeface="Book Antiqua" panose="02040602050305030304" pitchFamily="18" charset="0"/>
                <a:cs typeface="Book Antiqua"/>
              </a:rPr>
              <a:t>INPUT statement </a:t>
            </a:r>
            <a:r>
              <a:rPr lang="en-GB" sz="1300" dirty="0" smtClean="0">
                <a:latin typeface="Book Antiqua" panose="02040602050305030304" pitchFamily="18" charset="0"/>
                <a:cs typeface="Book Antiqua"/>
              </a:rPr>
              <a:t>tells SAS the names of the variables in the data set.</a:t>
            </a:r>
          </a:p>
          <a:p>
            <a:pPr>
              <a:lnSpc>
                <a:spcPct val="150000"/>
              </a:lnSpc>
              <a:buFont typeface="Arial"/>
              <a:buChar char="•"/>
            </a:pPr>
            <a:r>
              <a:rPr lang="en-GB" sz="1300" dirty="0" smtClean="0">
                <a:latin typeface="Book Antiqua" panose="02040602050305030304" pitchFamily="18" charset="0"/>
                <a:cs typeface="Book Antiqua"/>
              </a:rPr>
              <a:t>Notice the </a:t>
            </a:r>
            <a:r>
              <a:rPr lang="en-GB" sz="1300" b="1" dirty="0" smtClean="0">
                <a:latin typeface="Book Antiqua" panose="02040602050305030304" pitchFamily="18" charset="0"/>
                <a:cs typeface="Book Antiqua"/>
              </a:rPr>
              <a:t>$</a:t>
            </a:r>
            <a:r>
              <a:rPr lang="en-GB" sz="1300" dirty="0" smtClean="0">
                <a:latin typeface="Book Antiqua" panose="02040602050305030304" pitchFamily="18" charset="0"/>
                <a:cs typeface="Book Antiqua"/>
              </a:rPr>
              <a:t> following the variable </a:t>
            </a:r>
            <a:r>
              <a:rPr lang="en-GB" sz="1300" dirty="0" smtClean="0">
                <a:solidFill>
                  <a:schemeClr val="accent1"/>
                </a:solidFill>
                <a:latin typeface="Book Antiqua" panose="02040602050305030304" pitchFamily="18" charset="0"/>
                <a:cs typeface="Book Antiqua"/>
              </a:rPr>
              <a:t>GENDER</a:t>
            </a:r>
            <a:r>
              <a:rPr lang="en-GB" sz="1300" dirty="0" smtClean="0">
                <a:latin typeface="Book Antiqua" panose="02040602050305030304" pitchFamily="18" charset="0"/>
                <a:cs typeface="Book Antiqua"/>
              </a:rPr>
              <a:t>. In Freeform input, this indicates to SAS that the variable </a:t>
            </a:r>
            <a:r>
              <a:rPr lang="en-GB" sz="1300" b="1" i="1" dirty="0" smtClean="0">
                <a:solidFill>
                  <a:schemeClr val="accent1"/>
                </a:solidFill>
                <a:latin typeface="Book Antiqua" panose="02040602050305030304" pitchFamily="18" charset="0"/>
                <a:cs typeface="Book Antiqua"/>
              </a:rPr>
              <a:t>GENDER is of a character type</a:t>
            </a:r>
            <a:r>
              <a:rPr lang="en-GB" sz="1300" dirty="0" smtClean="0">
                <a:latin typeface="Book Antiqua" panose="02040602050305030304" pitchFamily="18" charset="0"/>
                <a:cs typeface="Book Antiqua"/>
              </a:rPr>
              <a:t>.</a:t>
            </a:r>
          </a:p>
          <a:p>
            <a:pPr>
              <a:lnSpc>
                <a:spcPct val="150000"/>
              </a:lnSpc>
              <a:buFont typeface="Arial"/>
              <a:buChar char="•"/>
            </a:pPr>
            <a:r>
              <a:rPr lang="en-GB" sz="1300" dirty="0" smtClean="0">
                <a:latin typeface="Book Antiqua" panose="02040602050305030304" pitchFamily="18" charset="0"/>
                <a:cs typeface="Book Antiqua"/>
              </a:rPr>
              <a:t>You have to then tell SAS how to find and read in the data. The special keyword used is called </a:t>
            </a:r>
            <a:r>
              <a:rPr lang="en-GB" sz="1300" b="1" i="1" dirty="0" smtClean="0">
                <a:solidFill>
                  <a:schemeClr val="accent1"/>
                </a:solidFill>
                <a:latin typeface="Book Antiqua" panose="02040602050305030304" pitchFamily="18" charset="0"/>
                <a:cs typeface="Book Antiqua"/>
              </a:rPr>
              <a:t>DATALINES</a:t>
            </a:r>
            <a:r>
              <a:rPr lang="en-GB" sz="1300" dirty="0" smtClean="0">
                <a:latin typeface="Book Antiqua" panose="02040602050305030304" pitchFamily="18" charset="0"/>
                <a:cs typeface="Book Antiqua"/>
              </a:rPr>
              <a:t>, which tells SAS that the upcoming lines contain data.</a:t>
            </a:r>
          </a:p>
          <a:p>
            <a:pPr lvl="1">
              <a:lnSpc>
                <a:spcPct val="150000"/>
              </a:lnSpc>
              <a:buFont typeface="Arial"/>
              <a:buChar char="•"/>
            </a:pPr>
            <a:r>
              <a:rPr lang="en-GB" sz="1300" dirty="0" smtClean="0">
                <a:latin typeface="Book Antiqua" panose="02040602050305030304" pitchFamily="18" charset="0"/>
                <a:cs typeface="Book Antiqua"/>
              </a:rPr>
              <a:t>The first line of code contains the data for a single subject.</a:t>
            </a:r>
          </a:p>
          <a:p>
            <a:pPr lvl="1">
              <a:lnSpc>
                <a:spcPct val="150000"/>
              </a:lnSpc>
              <a:buFont typeface="Arial"/>
              <a:buChar char="•"/>
            </a:pPr>
            <a:r>
              <a:rPr lang="en-GB" sz="1300" dirty="0" smtClean="0">
                <a:latin typeface="Book Antiqua" panose="02040602050305030304" pitchFamily="18" charset="0"/>
                <a:cs typeface="Book Antiqua"/>
              </a:rPr>
              <a:t>The first data value (1) in that lines corresponds to the first variable (ID) in the </a:t>
            </a:r>
            <a:r>
              <a:rPr lang="en-GB" sz="1300" dirty="0" smtClean="0">
                <a:solidFill>
                  <a:schemeClr val="accent1"/>
                </a:solidFill>
                <a:latin typeface="Book Antiqua" panose="02040602050305030304" pitchFamily="18" charset="0"/>
                <a:cs typeface="Book Antiqua"/>
              </a:rPr>
              <a:t>INPUT Statement</a:t>
            </a:r>
            <a:r>
              <a:rPr lang="en-GB" sz="1300" dirty="0" smtClean="0">
                <a:latin typeface="Book Antiqua" panose="02040602050305030304" pitchFamily="18" charset="0"/>
                <a:cs typeface="Book Antiqua"/>
              </a:rPr>
              <a:t>.</a:t>
            </a:r>
          </a:p>
          <a:p>
            <a:pPr>
              <a:lnSpc>
                <a:spcPct val="150000"/>
              </a:lnSpc>
              <a:buFont typeface="Arial"/>
              <a:buChar char="•"/>
            </a:pPr>
            <a:endParaRPr lang="en-GB" sz="1300" dirty="0">
              <a:latin typeface="Book Antiqua" panose="02040602050305030304" pitchFamily="18" charset="0"/>
              <a:cs typeface="Book Antiqua"/>
            </a:endParaRPr>
          </a:p>
        </p:txBody>
      </p:sp>
      <p:sp>
        <p:nvSpPr>
          <p:cNvPr id="9" name="Rectangle 8"/>
          <p:cNvSpPr/>
          <p:nvPr/>
        </p:nvSpPr>
        <p:spPr>
          <a:xfrm>
            <a:off x="1203372" y="1993082"/>
            <a:ext cx="2864855" cy="400110"/>
          </a:xfrm>
          <a:prstGeom prst="rect">
            <a:avLst/>
          </a:prstGeom>
        </p:spPr>
        <p:txBody>
          <a:bodyPr wrap="square">
            <a:spAutoFit/>
          </a:bodyPr>
          <a:lstStyle/>
          <a:p>
            <a:r>
              <a:rPr lang="en-ZA" sz="1000" b="1" dirty="0">
                <a:solidFill>
                  <a:srgbClr val="000080"/>
                </a:solidFill>
                <a:latin typeface="Courier New" panose="02070309020205020404" pitchFamily="49" charset="0"/>
              </a:rPr>
              <a:t>DATA</a:t>
            </a:r>
            <a:r>
              <a:rPr lang="en-ZA" sz="1000" dirty="0">
                <a:solidFill>
                  <a:srgbClr val="000000"/>
                </a:solidFill>
                <a:latin typeface="Courier New" panose="02070309020205020404" pitchFamily="49" charset="0"/>
              </a:rPr>
              <a:t> MYDATA;</a:t>
            </a:r>
          </a:p>
          <a:p>
            <a:r>
              <a:rPr lang="en-ZA" sz="1000" dirty="0">
                <a:solidFill>
                  <a:srgbClr val="0000FF"/>
                </a:solidFill>
                <a:latin typeface="Courier New" panose="02070309020205020404" pitchFamily="49" charset="0"/>
              </a:rPr>
              <a:t>INPUT</a:t>
            </a:r>
            <a:r>
              <a:rPr lang="en-ZA" sz="1000" dirty="0">
                <a:solidFill>
                  <a:srgbClr val="000000"/>
                </a:solidFill>
                <a:latin typeface="Courier New" panose="02070309020205020404" pitchFamily="49" charset="0"/>
              </a:rPr>
              <a:t> ID $ SBP DBP GENDER $ AGE WT;</a:t>
            </a:r>
            <a:endParaRPr lang="en-ZA" dirty="0"/>
          </a:p>
        </p:txBody>
      </p:sp>
      <p:sp>
        <p:nvSpPr>
          <p:cNvPr id="12" name="TextBox 11"/>
          <p:cNvSpPr txBox="1"/>
          <p:nvPr/>
        </p:nvSpPr>
        <p:spPr>
          <a:xfrm>
            <a:off x="6908549" y="6092948"/>
            <a:ext cx="3220943" cy="338747"/>
          </a:xfrm>
          <a:prstGeom prst="rect">
            <a:avLst/>
          </a:prstGeom>
          <a:noFill/>
        </p:spPr>
        <p:txBody>
          <a:bodyPr wrap="square" rtlCol="0">
            <a:spAutoFit/>
          </a:bodyPr>
          <a:lstStyle/>
          <a:p>
            <a:pPr>
              <a:lnSpc>
                <a:spcPct val="150000"/>
              </a:lnSpc>
              <a:buFont typeface="Arial"/>
              <a:buChar char="•"/>
            </a:pPr>
            <a:r>
              <a:rPr lang="en-GB" sz="1200" b="1" dirty="0" smtClean="0">
                <a:solidFill>
                  <a:srgbClr val="FF0000"/>
                </a:solidFill>
                <a:latin typeface="Avenir Next Cyr W04 Regular" panose="020B0503020202020204" pitchFamily="34" charset="0"/>
                <a:cs typeface="Book Antiqua"/>
              </a:rPr>
              <a:t>Open SAS Program DFREEFORM.SAS</a:t>
            </a:r>
            <a:endParaRPr lang="en-GB" sz="1200" b="1" i="1" dirty="0">
              <a:solidFill>
                <a:srgbClr val="FF0000"/>
              </a:solidFill>
              <a:latin typeface="Avenir Next Cyr W04 Regular" panose="020B0503020202020204" pitchFamily="34" charset="0"/>
              <a:cs typeface="Book Antiqua"/>
            </a:endParaRPr>
          </a:p>
        </p:txBody>
      </p:sp>
      <p:pic>
        <p:nvPicPr>
          <p:cNvPr id="3" name="Picture 2"/>
          <p:cNvPicPr>
            <a:picLocks noChangeAspect="1"/>
          </p:cNvPicPr>
          <p:nvPr/>
        </p:nvPicPr>
        <p:blipFill>
          <a:blip r:embed="rId4"/>
          <a:stretch>
            <a:fillRect/>
          </a:stretch>
        </p:blipFill>
        <p:spPr>
          <a:xfrm>
            <a:off x="5304314" y="1305761"/>
            <a:ext cx="3880522" cy="3369564"/>
          </a:xfrm>
          <a:prstGeom prst="rect">
            <a:avLst/>
          </a:prstGeom>
        </p:spPr>
      </p:pic>
      <p:sp>
        <p:nvSpPr>
          <p:cNvPr id="4" name="Rectangle 3"/>
          <p:cNvSpPr/>
          <p:nvPr/>
        </p:nvSpPr>
        <p:spPr>
          <a:xfrm>
            <a:off x="1203372" y="1993082"/>
            <a:ext cx="2864855" cy="40011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pic>
        <p:nvPicPr>
          <p:cNvPr id="7" name="Picture 6"/>
          <p:cNvPicPr>
            <a:picLocks noChangeAspect="1"/>
          </p:cNvPicPr>
          <p:nvPr/>
        </p:nvPicPr>
        <p:blipFill>
          <a:blip r:embed="rId5"/>
          <a:stretch>
            <a:fillRect/>
          </a:stretch>
        </p:blipFill>
        <p:spPr>
          <a:xfrm>
            <a:off x="6099810" y="4687948"/>
            <a:ext cx="2705100" cy="1333500"/>
          </a:xfrm>
          <a:prstGeom prst="rect">
            <a:avLst/>
          </a:prstGeom>
        </p:spPr>
      </p:pic>
      <p:sp>
        <p:nvSpPr>
          <p:cNvPr id="10" name="Rectangle 9"/>
          <p:cNvSpPr/>
          <p:nvPr/>
        </p:nvSpPr>
        <p:spPr>
          <a:xfrm>
            <a:off x="5304314" y="1305761"/>
            <a:ext cx="4123962" cy="336956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14" name="Rectangle 13"/>
          <p:cNvSpPr/>
          <p:nvPr/>
        </p:nvSpPr>
        <p:spPr>
          <a:xfrm>
            <a:off x="6099810" y="4746825"/>
            <a:ext cx="2705100" cy="127462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8862105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732008"/>
            <a:ext cx="8915400" cy="845332"/>
          </a:xfrm>
        </p:spPr>
        <p:txBody>
          <a:bodyPr>
            <a:normAutofit/>
          </a:bodyPr>
          <a:lstStyle/>
          <a:p>
            <a:r>
              <a:rPr lang="en-ZA" sz="2800" dirty="0" smtClean="0"/>
              <a:t>Advantages of Freeform List Input</a:t>
            </a:r>
            <a:endParaRPr lang="en-ZA" sz="2800" dirty="0"/>
          </a:p>
        </p:txBody>
      </p:sp>
      <p:sp>
        <p:nvSpPr>
          <p:cNvPr id="5" name="TextBox 4"/>
          <p:cNvSpPr txBox="1"/>
          <p:nvPr/>
        </p:nvSpPr>
        <p:spPr>
          <a:xfrm>
            <a:off x="1461123" y="4169940"/>
            <a:ext cx="7874788" cy="1292662"/>
          </a:xfrm>
          <a:prstGeom prst="rect">
            <a:avLst/>
          </a:prstGeom>
          <a:noFill/>
        </p:spPr>
        <p:txBody>
          <a:bodyPr wrap="square" rtlCol="0">
            <a:spAutoFit/>
          </a:bodyPr>
          <a:lstStyle/>
          <a:p>
            <a:pPr>
              <a:lnSpc>
                <a:spcPct val="150000"/>
              </a:lnSpc>
              <a:buFont typeface="Arial"/>
              <a:buChar char="•"/>
            </a:pPr>
            <a:r>
              <a:rPr lang="en-GB" sz="1300" dirty="0" smtClean="0">
                <a:latin typeface="Avenir Next Cyr W04 Regular" panose="020B0503020202020204" pitchFamily="34" charset="0"/>
                <a:cs typeface="Book Antiqua"/>
              </a:rPr>
              <a:t>Every variable on each data lines must be in order specified by the INPUT statement.</a:t>
            </a:r>
          </a:p>
          <a:p>
            <a:pPr>
              <a:lnSpc>
                <a:spcPct val="150000"/>
              </a:lnSpc>
              <a:buFont typeface="Arial"/>
              <a:buChar char="•"/>
            </a:pPr>
            <a:r>
              <a:rPr lang="en-GB" sz="1300" dirty="0">
                <a:latin typeface="Avenir Next Cyr W04 Regular" panose="020B0503020202020204" pitchFamily="34" charset="0"/>
                <a:cs typeface="Book Antiqua"/>
              </a:rPr>
              <a:t> </a:t>
            </a:r>
            <a:r>
              <a:rPr lang="en-GB" sz="1300" dirty="0" smtClean="0">
                <a:latin typeface="Avenir Next Cyr W04 Regular" panose="020B0503020202020204" pitchFamily="34" charset="0"/>
                <a:cs typeface="Book Antiqua"/>
              </a:rPr>
              <a:t>Data values must be separated by at least on blank.</a:t>
            </a:r>
          </a:p>
          <a:p>
            <a:pPr>
              <a:lnSpc>
                <a:spcPct val="150000"/>
              </a:lnSpc>
              <a:buFont typeface="Arial"/>
              <a:buChar char="•"/>
            </a:pPr>
            <a:r>
              <a:rPr lang="en-GB" sz="1300" dirty="0" smtClean="0">
                <a:latin typeface="Avenir Next Cyr W04 Regular" panose="020B0503020202020204" pitchFamily="34" charset="0"/>
                <a:cs typeface="Book Antiqua"/>
              </a:rPr>
              <a:t>Blank spaces representing missing variables are not allowed. If you do have missing values within the data set, a (.) should represent the missing value.</a:t>
            </a:r>
            <a:endParaRPr lang="en-GB" sz="1300" dirty="0">
              <a:latin typeface="Avenir Next Cyr W04 Regular" panose="020B0503020202020204" pitchFamily="34" charset="0"/>
              <a:cs typeface="Book Antiqua"/>
            </a:endParaRPr>
          </a:p>
        </p:txBody>
      </p:sp>
      <p:sp>
        <p:nvSpPr>
          <p:cNvPr id="7" name="Title 1"/>
          <p:cNvSpPr txBox="1">
            <a:spLocks/>
          </p:cNvSpPr>
          <p:nvPr/>
        </p:nvSpPr>
        <p:spPr>
          <a:xfrm>
            <a:off x="420511" y="3182543"/>
            <a:ext cx="8915400" cy="84533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a:lstStyle>
          <a:p>
            <a:r>
              <a:rPr lang="en-ZA" sz="2800" dirty="0" smtClean="0"/>
              <a:t>Disadvantages of Freeform List Input</a:t>
            </a:r>
            <a:endParaRPr lang="en-ZA" sz="2800" dirty="0"/>
          </a:p>
        </p:txBody>
      </p:sp>
      <p:sp>
        <p:nvSpPr>
          <p:cNvPr id="9" name="TextBox 8"/>
          <p:cNvSpPr txBox="1"/>
          <p:nvPr/>
        </p:nvSpPr>
        <p:spPr>
          <a:xfrm>
            <a:off x="1160301" y="1818849"/>
            <a:ext cx="7874788" cy="1292662"/>
          </a:xfrm>
          <a:prstGeom prst="rect">
            <a:avLst/>
          </a:prstGeom>
          <a:noFill/>
        </p:spPr>
        <p:txBody>
          <a:bodyPr wrap="square" rtlCol="0">
            <a:spAutoFit/>
          </a:bodyPr>
          <a:lstStyle/>
          <a:p>
            <a:pPr>
              <a:lnSpc>
                <a:spcPct val="150000"/>
              </a:lnSpc>
              <a:buFont typeface="Arial"/>
              <a:buChar char="•"/>
            </a:pPr>
            <a:r>
              <a:rPr lang="en-GB" sz="1300" dirty="0">
                <a:latin typeface="Avenir Next Cyr W04 Regular" panose="020B0503020202020204" pitchFamily="34" charset="0"/>
                <a:cs typeface="Book Antiqua"/>
              </a:rPr>
              <a:t> </a:t>
            </a:r>
            <a:r>
              <a:rPr lang="en-GB" sz="1300" dirty="0" smtClean="0">
                <a:latin typeface="Avenir Next Cyr W04 Regular" panose="020B0503020202020204" pitchFamily="34" charset="0"/>
                <a:cs typeface="Book Antiqua"/>
              </a:rPr>
              <a:t>Its easy, little to specify.</a:t>
            </a:r>
          </a:p>
          <a:p>
            <a:pPr>
              <a:lnSpc>
                <a:spcPct val="150000"/>
              </a:lnSpc>
              <a:buFont typeface="Arial"/>
              <a:buChar char="•"/>
            </a:pPr>
            <a:r>
              <a:rPr lang="en-GB" sz="1300" dirty="0" smtClean="0">
                <a:latin typeface="Avenir Next Cyr W04 Regular" panose="020B0503020202020204" pitchFamily="34" charset="0"/>
                <a:cs typeface="Book Antiqua"/>
              </a:rPr>
              <a:t>Its rigid column positions are not required, making data entry easy.</a:t>
            </a:r>
          </a:p>
          <a:p>
            <a:pPr>
              <a:lnSpc>
                <a:spcPct val="150000"/>
              </a:lnSpc>
              <a:buFont typeface="Arial"/>
              <a:buChar char="•"/>
            </a:pPr>
            <a:r>
              <a:rPr lang="en-GB" sz="1300" dirty="0" smtClean="0">
                <a:latin typeface="Avenir Next Cyr W04 Regular" panose="020B0503020202020204" pitchFamily="34" charset="0"/>
                <a:cs typeface="Book Antiqua"/>
              </a:rPr>
              <a:t>If you have a data set in which the data are separated by blanks, this is the quickest way to get your data into SAS.</a:t>
            </a:r>
            <a:endParaRPr lang="en-GB" sz="1300" dirty="0">
              <a:latin typeface="Avenir Next Cyr W04 Regular" panose="020B0503020202020204" pitchFamily="34" charset="0"/>
              <a:cs typeface="Book Antiqua"/>
            </a:endParaRPr>
          </a:p>
        </p:txBody>
      </p:sp>
      <p:sp>
        <p:nvSpPr>
          <p:cNvPr id="10" name="TextBox 9"/>
          <p:cNvSpPr txBox="1"/>
          <p:nvPr/>
        </p:nvSpPr>
        <p:spPr>
          <a:xfrm>
            <a:off x="6908549" y="6140497"/>
            <a:ext cx="3220943" cy="338747"/>
          </a:xfrm>
          <a:prstGeom prst="rect">
            <a:avLst/>
          </a:prstGeom>
          <a:noFill/>
        </p:spPr>
        <p:txBody>
          <a:bodyPr wrap="square" rtlCol="0">
            <a:spAutoFit/>
          </a:bodyPr>
          <a:lstStyle/>
          <a:p>
            <a:pPr>
              <a:lnSpc>
                <a:spcPct val="150000"/>
              </a:lnSpc>
              <a:buFont typeface="Arial"/>
              <a:buChar char="•"/>
            </a:pPr>
            <a:r>
              <a:rPr lang="en-GB" sz="1200" b="1" dirty="0" smtClean="0">
                <a:solidFill>
                  <a:srgbClr val="FF0000"/>
                </a:solidFill>
                <a:latin typeface="Avenir Next Cyr W04 Regular" panose="020B0503020202020204" pitchFamily="34" charset="0"/>
                <a:cs typeface="Book Antiqua"/>
              </a:rPr>
              <a:t>Open SAS Program DFREEFORM.SAS</a:t>
            </a:r>
            <a:endParaRPr lang="en-GB" sz="1200" b="1" i="1" dirty="0">
              <a:solidFill>
                <a:srgbClr val="FF0000"/>
              </a:solidFill>
              <a:latin typeface="Avenir Next Cyr W04 Regular" panose="020B0503020202020204" pitchFamily="34" charset="0"/>
              <a:cs typeface="Book Antiqua"/>
            </a:endParaRPr>
          </a:p>
        </p:txBody>
      </p:sp>
    </p:spTree>
    <p:extLst>
      <p:ext uri="{BB962C8B-B14F-4D97-AF65-F5344CB8AC3E}">
        <p14:creationId xmlns:p14="http://schemas.microsoft.com/office/powerpoint/2010/main" val="4854054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Reading data using the Compact Method</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1094895" y="877619"/>
            <a:ext cx="7874788" cy="1592744"/>
          </a:xfrm>
          <a:prstGeom prst="rect">
            <a:avLst/>
          </a:prstGeom>
          <a:noFill/>
        </p:spPr>
        <p:txBody>
          <a:bodyPr wrap="square" rtlCol="0">
            <a:spAutoFit/>
          </a:bodyPr>
          <a:lstStyle/>
          <a:p>
            <a:pPr>
              <a:lnSpc>
                <a:spcPct val="150000"/>
              </a:lnSpc>
              <a:buFont typeface="Arial"/>
              <a:buChar char="•"/>
            </a:pPr>
            <a:r>
              <a:rPr lang="en-GB" sz="1300" dirty="0" smtClean="0">
                <a:latin typeface="Avenir Next Cyr W04 Regular" panose="020B0503020202020204" pitchFamily="34" charset="0"/>
                <a:cs typeface="Book Antiqua"/>
              </a:rPr>
              <a:t>This method is regarded as the second version of the Freeform List, it allows you to have several subjects data on a single line.</a:t>
            </a:r>
          </a:p>
          <a:p>
            <a:pPr>
              <a:lnSpc>
                <a:spcPct val="150000"/>
              </a:lnSpc>
              <a:buFont typeface="Arial"/>
              <a:buChar char="•"/>
            </a:pPr>
            <a:r>
              <a:rPr lang="en-GB" sz="1300" dirty="0" smtClean="0">
                <a:latin typeface="Avenir Next Cyr W04 Regular" panose="020B0503020202020204" pitchFamily="34" charset="0"/>
                <a:cs typeface="Book Antiqua"/>
              </a:rPr>
              <a:t> A typical Freeform data set would look like this;</a:t>
            </a:r>
          </a:p>
          <a:p>
            <a:pPr>
              <a:lnSpc>
                <a:spcPct val="150000"/>
              </a:lnSpc>
              <a:buFont typeface="Arial"/>
              <a:buChar char="•"/>
            </a:pPr>
            <a:r>
              <a:rPr lang="en-GB" sz="1300" dirty="0">
                <a:latin typeface="Avenir Next Cyr W04 Regular" panose="020B0503020202020204" pitchFamily="34" charset="0"/>
                <a:cs typeface="Book Antiqua"/>
              </a:rPr>
              <a:t>To save space, the data can be compared using an @@ option in the INPUT statement to tell SAS to continue reading each line until it runs out of data</a:t>
            </a:r>
            <a:r>
              <a:rPr lang="en-GB" sz="1300" dirty="0" smtClean="0">
                <a:latin typeface="Avenir Next Cyr W04 Regular" panose="020B0503020202020204" pitchFamily="34" charset="0"/>
                <a:cs typeface="Book Antiqua"/>
              </a:rPr>
              <a:t>.</a:t>
            </a:r>
          </a:p>
        </p:txBody>
      </p:sp>
      <p:pic>
        <p:nvPicPr>
          <p:cNvPr id="9" name="Picture 8"/>
          <p:cNvPicPr>
            <a:picLocks noChangeAspect="1"/>
          </p:cNvPicPr>
          <p:nvPr/>
        </p:nvPicPr>
        <p:blipFill>
          <a:blip r:embed="rId4"/>
          <a:stretch>
            <a:fillRect/>
          </a:stretch>
        </p:blipFill>
        <p:spPr>
          <a:xfrm>
            <a:off x="5032289" y="2665095"/>
            <a:ext cx="4171950" cy="3600450"/>
          </a:xfrm>
          <a:prstGeom prst="rect">
            <a:avLst/>
          </a:prstGeom>
        </p:spPr>
      </p:pic>
      <p:pic>
        <p:nvPicPr>
          <p:cNvPr id="11" name="Picture 10"/>
          <p:cNvPicPr>
            <a:picLocks noChangeAspect="1"/>
          </p:cNvPicPr>
          <p:nvPr/>
        </p:nvPicPr>
        <p:blipFill>
          <a:blip r:embed="rId5"/>
          <a:stretch>
            <a:fillRect/>
          </a:stretch>
        </p:blipFill>
        <p:spPr>
          <a:xfrm>
            <a:off x="574236" y="2665095"/>
            <a:ext cx="4152900" cy="3600450"/>
          </a:xfrm>
          <a:prstGeom prst="rect">
            <a:avLst/>
          </a:prstGeom>
        </p:spPr>
      </p:pic>
      <p:sp>
        <p:nvSpPr>
          <p:cNvPr id="12" name="Rectangle 11"/>
          <p:cNvSpPr/>
          <p:nvPr/>
        </p:nvSpPr>
        <p:spPr>
          <a:xfrm>
            <a:off x="574236" y="2665095"/>
            <a:ext cx="4371312" cy="360045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13" name="Rectangle 12"/>
          <p:cNvSpPr/>
          <p:nvPr/>
        </p:nvSpPr>
        <p:spPr>
          <a:xfrm>
            <a:off x="5032289" y="2665095"/>
            <a:ext cx="4395987" cy="360045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2963883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Reading data using the Column Input</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593797" y="771960"/>
            <a:ext cx="7874788" cy="992579"/>
          </a:xfrm>
          <a:prstGeom prst="rect">
            <a:avLst/>
          </a:prstGeom>
          <a:noFill/>
        </p:spPr>
        <p:txBody>
          <a:bodyPr wrap="square" rtlCol="0">
            <a:spAutoFit/>
          </a:bodyPr>
          <a:lstStyle/>
          <a:p>
            <a:pPr>
              <a:lnSpc>
                <a:spcPct val="150000"/>
              </a:lnSpc>
              <a:buFont typeface="Arial"/>
              <a:buChar char="•"/>
            </a:pPr>
            <a:r>
              <a:rPr lang="en-GB" sz="1300" dirty="0" smtClean="0">
                <a:latin typeface="Avenir Next Cyr W04 Regular" panose="020B0503020202020204" pitchFamily="34" charset="0"/>
                <a:cs typeface="Book Antiqua"/>
              </a:rPr>
              <a:t>This data entry technique should be used when your data consists of fixed columns of values that are not necessarily separated by blanks. For example;</a:t>
            </a:r>
          </a:p>
          <a:p>
            <a:pPr lvl="8">
              <a:lnSpc>
                <a:spcPct val="150000"/>
              </a:lnSpc>
              <a:buFont typeface="Arial"/>
              <a:buChar char="•"/>
            </a:pPr>
            <a:endParaRPr lang="en-GB" sz="1300" dirty="0">
              <a:latin typeface="Avenir Next Cyr W04 Regular" panose="020B0503020202020204" pitchFamily="34" charset="0"/>
              <a:cs typeface="Book Antiqua"/>
            </a:endParaRPr>
          </a:p>
        </p:txBody>
      </p:sp>
      <p:sp>
        <p:nvSpPr>
          <p:cNvPr id="7" name="TextBox 6"/>
          <p:cNvSpPr txBox="1"/>
          <p:nvPr/>
        </p:nvSpPr>
        <p:spPr>
          <a:xfrm>
            <a:off x="6908549" y="6140497"/>
            <a:ext cx="3220943" cy="338747"/>
          </a:xfrm>
          <a:prstGeom prst="rect">
            <a:avLst/>
          </a:prstGeom>
          <a:noFill/>
        </p:spPr>
        <p:txBody>
          <a:bodyPr wrap="square" rtlCol="0">
            <a:spAutoFit/>
          </a:bodyPr>
          <a:lstStyle/>
          <a:p>
            <a:pPr>
              <a:lnSpc>
                <a:spcPct val="150000"/>
              </a:lnSpc>
              <a:buFont typeface="Arial"/>
              <a:buChar char="•"/>
            </a:pPr>
            <a:r>
              <a:rPr lang="en-GB" sz="1200" b="1" dirty="0" smtClean="0">
                <a:solidFill>
                  <a:srgbClr val="FF0000"/>
                </a:solidFill>
                <a:latin typeface="Avenir Next Cyr W04 Regular" panose="020B0503020202020204" pitchFamily="34" charset="0"/>
                <a:cs typeface="Book Antiqua"/>
              </a:rPr>
              <a:t>Open SAS Program DCOLUMN.SAS</a:t>
            </a:r>
            <a:endParaRPr lang="en-GB" sz="1200" b="1" i="1" dirty="0">
              <a:solidFill>
                <a:srgbClr val="FF0000"/>
              </a:solidFill>
              <a:latin typeface="Avenir Next Cyr W04 Regular" panose="020B0503020202020204" pitchFamily="34" charset="0"/>
              <a:cs typeface="Book Antiqua"/>
            </a:endParaRPr>
          </a:p>
        </p:txBody>
      </p:sp>
      <p:sp>
        <p:nvSpPr>
          <p:cNvPr id="9" name="TextBox 8"/>
          <p:cNvSpPr txBox="1"/>
          <p:nvPr/>
        </p:nvSpPr>
        <p:spPr>
          <a:xfrm>
            <a:off x="593797" y="2271975"/>
            <a:ext cx="7874788" cy="659348"/>
          </a:xfrm>
          <a:prstGeom prst="rect">
            <a:avLst/>
          </a:prstGeom>
          <a:noFill/>
        </p:spPr>
        <p:txBody>
          <a:bodyPr wrap="square" rtlCol="0">
            <a:spAutoFit/>
          </a:bodyPr>
          <a:lstStyle/>
          <a:p>
            <a:pPr>
              <a:lnSpc>
                <a:spcPct val="150000"/>
              </a:lnSpc>
              <a:buFont typeface="Arial"/>
              <a:buChar char="•"/>
            </a:pPr>
            <a:r>
              <a:rPr lang="en-GB" sz="1300" dirty="0" smtClean="0">
                <a:latin typeface="Avenir Next Cyr W04 Regular" panose="020B0503020202020204" pitchFamily="34" charset="0"/>
                <a:cs typeface="Book Antiqua"/>
              </a:rPr>
              <a:t>SAS allows you to specify which columns in the raw data set contain each variable’s values. You must know the starting column and ending columns for each variable’s values.</a:t>
            </a:r>
          </a:p>
        </p:txBody>
      </p:sp>
      <p:sp>
        <p:nvSpPr>
          <p:cNvPr id="10" name="TextBox 9"/>
          <p:cNvSpPr txBox="1"/>
          <p:nvPr/>
        </p:nvSpPr>
        <p:spPr>
          <a:xfrm>
            <a:off x="593797" y="1361869"/>
            <a:ext cx="8135675" cy="992579"/>
          </a:xfrm>
          <a:prstGeom prst="rect">
            <a:avLst/>
          </a:prstGeom>
          <a:noFill/>
        </p:spPr>
        <p:txBody>
          <a:bodyPr wrap="square" rtlCol="0">
            <a:spAutoFit/>
          </a:bodyPr>
          <a:lstStyle/>
          <a:p>
            <a:pPr>
              <a:lnSpc>
                <a:spcPct val="150000"/>
              </a:lnSpc>
              <a:buFont typeface="Arial"/>
              <a:buChar char="•"/>
            </a:pPr>
            <a:r>
              <a:rPr lang="en-GB" sz="1300" dirty="0" smtClean="0">
                <a:latin typeface="Avenir Next Cyr W04 Regular" panose="020B0503020202020204" pitchFamily="34" charset="0"/>
                <a:cs typeface="Book Antiqua"/>
              </a:rPr>
              <a:t>Notice that the primary difference between this column INPUT statement and the freeform list INPUT statement is the inclusion of column ranges telling SAS where in the data set to find the information for each variable. </a:t>
            </a:r>
          </a:p>
        </p:txBody>
      </p:sp>
      <p:pic>
        <p:nvPicPr>
          <p:cNvPr id="30" name="Picture 29"/>
          <p:cNvPicPr>
            <a:picLocks noChangeAspect="1"/>
          </p:cNvPicPr>
          <p:nvPr/>
        </p:nvPicPr>
        <p:blipFill>
          <a:blip r:embed="rId4"/>
          <a:stretch>
            <a:fillRect/>
          </a:stretch>
        </p:blipFill>
        <p:spPr>
          <a:xfrm>
            <a:off x="7266101" y="4148815"/>
            <a:ext cx="1228725" cy="276225"/>
          </a:xfrm>
          <a:prstGeom prst="rect">
            <a:avLst/>
          </a:prstGeom>
        </p:spPr>
      </p:pic>
      <p:pic>
        <p:nvPicPr>
          <p:cNvPr id="8" name="Picture 7"/>
          <p:cNvPicPr>
            <a:picLocks noChangeAspect="1"/>
          </p:cNvPicPr>
          <p:nvPr/>
        </p:nvPicPr>
        <p:blipFill>
          <a:blip r:embed="rId5"/>
          <a:stretch>
            <a:fillRect/>
          </a:stretch>
        </p:blipFill>
        <p:spPr>
          <a:xfrm>
            <a:off x="1328928" y="3190241"/>
            <a:ext cx="3821754" cy="3202186"/>
          </a:xfrm>
          <a:prstGeom prst="rect">
            <a:avLst/>
          </a:prstGeom>
        </p:spPr>
      </p:pic>
      <p:sp>
        <p:nvSpPr>
          <p:cNvPr id="29" name="Oval 28"/>
          <p:cNvSpPr/>
          <p:nvPr/>
        </p:nvSpPr>
        <p:spPr>
          <a:xfrm>
            <a:off x="2653476" y="4509677"/>
            <a:ext cx="353085" cy="272409"/>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31" name="Oval 30"/>
          <p:cNvSpPr/>
          <p:nvPr/>
        </p:nvSpPr>
        <p:spPr>
          <a:xfrm>
            <a:off x="3092238" y="4513681"/>
            <a:ext cx="353085" cy="272409"/>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32" name="Oval 31"/>
          <p:cNvSpPr/>
          <p:nvPr/>
        </p:nvSpPr>
        <p:spPr>
          <a:xfrm>
            <a:off x="3718913" y="4502815"/>
            <a:ext cx="353085" cy="272409"/>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33" name="Oval 32"/>
          <p:cNvSpPr/>
          <p:nvPr/>
        </p:nvSpPr>
        <p:spPr>
          <a:xfrm>
            <a:off x="2168243" y="4512270"/>
            <a:ext cx="353085" cy="272409"/>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34" name="Oval 33"/>
          <p:cNvSpPr/>
          <p:nvPr/>
        </p:nvSpPr>
        <p:spPr>
          <a:xfrm>
            <a:off x="4161199" y="4513681"/>
            <a:ext cx="353085" cy="272409"/>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35" name="Oval 34"/>
          <p:cNvSpPr/>
          <p:nvPr/>
        </p:nvSpPr>
        <p:spPr>
          <a:xfrm>
            <a:off x="4636889" y="4520904"/>
            <a:ext cx="426206" cy="272409"/>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cxnSp>
        <p:nvCxnSpPr>
          <p:cNvPr id="36" name="Straight Connector 35"/>
          <p:cNvCxnSpPr>
            <a:stCxn id="33" idx="7"/>
          </p:cNvCxnSpPr>
          <p:nvPr/>
        </p:nvCxnSpPr>
        <p:spPr>
          <a:xfrm flipV="1">
            <a:off x="2469620" y="4329414"/>
            <a:ext cx="635046" cy="222749"/>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flipV="1">
            <a:off x="2979717" y="4319561"/>
            <a:ext cx="635046" cy="222749"/>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flipV="1">
            <a:off x="3392614" y="4299386"/>
            <a:ext cx="635046" cy="222749"/>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p:nvCxnSpPr>
        <p:spPr>
          <a:xfrm flipV="1">
            <a:off x="3944496" y="4286928"/>
            <a:ext cx="635046" cy="222749"/>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flipV="1">
            <a:off x="4401731" y="4301990"/>
            <a:ext cx="635046" cy="222749"/>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flipV="1">
            <a:off x="3054934" y="4276641"/>
            <a:ext cx="3239346" cy="69283"/>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a:off x="6256707" y="4276641"/>
            <a:ext cx="8858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flipV="1">
            <a:off x="4894462" y="4307578"/>
            <a:ext cx="635046" cy="222749"/>
          </a:xfrm>
          <a:prstGeom prst="line">
            <a:avLst/>
          </a:prstGeom>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183842" y="4109360"/>
            <a:ext cx="1393245" cy="3014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2189430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Advantages of Column Input</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959093" y="895726"/>
            <a:ext cx="7874788" cy="1592744"/>
          </a:xfrm>
          <a:prstGeom prst="rect">
            <a:avLst/>
          </a:prstGeom>
          <a:noFill/>
        </p:spPr>
        <p:txBody>
          <a:bodyPr wrap="square" rtlCol="0">
            <a:spAutoFit/>
          </a:bodyPr>
          <a:lstStyle/>
          <a:p>
            <a:pPr>
              <a:lnSpc>
                <a:spcPct val="150000"/>
              </a:lnSpc>
              <a:buFont typeface="Arial"/>
              <a:buChar char="•"/>
            </a:pPr>
            <a:r>
              <a:rPr lang="en-GB" sz="1300" dirty="0">
                <a:latin typeface="Avenir Next Cyr W04 Regular" panose="020B0503020202020204" pitchFamily="34" charset="0"/>
                <a:cs typeface="Book Antiqua"/>
              </a:rPr>
              <a:t> </a:t>
            </a:r>
            <a:r>
              <a:rPr lang="en-GB" sz="1300" dirty="0" smtClean="0">
                <a:latin typeface="Avenir Next Cyr W04 Regular" panose="020B0503020202020204" pitchFamily="34" charset="0"/>
                <a:cs typeface="Book Antiqua"/>
              </a:rPr>
              <a:t>Blanks are not needed to separate fields</a:t>
            </a:r>
          </a:p>
          <a:p>
            <a:pPr>
              <a:lnSpc>
                <a:spcPct val="150000"/>
              </a:lnSpc>
            </a:pPr>
            <a:endParaRPr lang="en-GB" sz="1300" dirty="0" smtClean="0">
              <a:latin typeface="Avenir Next Cyr W04 Regular" panose="020B0503020202020204" pitchFamily="34" charset="0"/>
              <a:cs typeface="Book Antiqua"/>
            </a:endParaRPr>
          </a:p>
          <a:p>
            <a:pPr>
              <a:lnSpc>
                <a:spcPct val="150000"/>
              </a:lnSpc>
              <a:buFont typeface="Arial"/>
              <a:buChar char="•"/>
            </a:pPr>
            <a:r>
              <a:rPr lang="en-GB" sz="1300" dirty="0" smtClean="0">
                <a:latin typeface="Avenir Next Cyr W04 Regular" panose="020B0503020202020204" pitchFamily="34" charset="0"/>
                <a:cs typeface="Book Antiqua"/>
              </a:rPr>
              <a:t>Character values can range from 1 to 200 characters. For example;</a:t>
            </a:r>
          </a:p>
          <a:p>
            <a:pPr>
              <a:lnSpc>
                <a:spcPct val="150000"/>
              </a:lnSpc>
              <a:buFont typeface="Arial"/>
              <a:buChar char="•"/>
            </a:pPr>
            <a:endParaRPr lang="en-GB" sz="1300" dirty="0">
              <a:latin typeface="Avenir Next Cyr W04 Regular" panose="020B0503020202020204" pitchFamily="34" charset="0"/>
              <a:cs typeface="Book Antiqua"/>
            </a:endParaRPr>
          </a:p>
          <a:p>
            <a:pPr>
              <a:lnSpc>
                <a:spcPct val="150000"/>
              </a:lnSpc>
              <a:buFont typeface="Arial"/>
              <a:buChar char="•"/>
            </a:pPr>
            <a:r>
              <a:rPr lang="en-GB" sz="1300" dirty="0" smtClean="0">
                <a:latin typeface="Avenir Next Cyr W04 Regular" panose="020B0503020202020204" pitchFamily="34" charset="0"/>
                <a:cs typeface="Book Antiqua"/>
              </a:rPr>
              <a:t>For character values, embedded  blanks are not problem (</a:t>
            </a:r>
            <a:r>
              <a:rPr lang="en-GB" sz="1300" dirty="0" err="1" smtClean="0">
                <a:latin typeface="Avenir Next Cyr W04 Regular" panose="020B0503020202020204" pitchFamily="34" charset="0"/>
                <a:cs typeface="Book Antiqua"/>
              </a:rPr>
              <a:t>Eg</a:t>
            </a:r>
            <a:r>
              <a:rPr lang="en-GB" sz="1300" dirty="0" smtClean="0">
                <a:latin typeface="Avenir Next Cyr W04 Regular" panose="020B0503020202020204" pitchFamily="34" charset="0"/>
                <a:cs typeface="Book Antiqua"/>
              </a:rPr>
              <a:t>., John Smith)</a:t>
            </a:r>
          </a:p>
        </p:txBody>
      </p:sp>
      <p:sp>
        <p:nvSpPr>
          <p:cNvPr id="4" name="Rectangle 3"/>
          <p:cNvSpPr/>
          <p:nvPr/>
        </p:nvSpPr>
        <p:spPr>
          <a:xfrm>
            <a:off x="6252704" y="1568987"/>
            <a:ext cx="1184940" cy="246221"/>
          </a:xfrm>
          <a:prstGeom prst="rect">
            <a:avLst/>
          </a:prstGeom>
        </p:spPr>
        <p:txBody>
          <a:bodyPr wrap="none">
            <a:spAutoFit/>
          </a:bodyPr>
          <a:lstStyle/>
          <a:p>
            <a:r>
              <a:rPr lang="en-ZA" sz="1000" dirty="0">
                <a:solidFill>
                  <a:srgbClr val="0000FF"/>
                </a:solidFill>
                <a:latin typeface="Courier New" panose="02070309020205020404" pitchFamily="49" charset="0"/>
              </a:rPr>
              <a:t>INPUT</a:t>
            </a:r>
            <a:r>
              <a:rPr lang="en-ZA" sz="1000" dirty="0">
                <a:solidFill>
                  <a:srgbClr val="000000"/>
                </a:solidFill>
                <a:latin typeface="Courier New" panose="02070309020205020404" pitchFamily="49" charset="0"/>
              </a:rPr>
              <a:t> SBP </a:t>
            </a:r>
            <a:r>
              <a:rPr lang="en-ZA" sz="1000" b="1" dirty="0">
                <a:solidFill>
                  <a:srgbClr val="008080"/>
                </a:solidFill>
                <a:latin typeface="Courier New" panose="02070309020205020404" pitchFamily="49" charset="0"/>
              </a:rPr>
              <a:t>2</a:t>
            </a:r>
            <a:r>
              <a:rPr lang="en-ZA" sz="1000" dirty="0">
                <a:solidFill>
                  <a:srgbClr val="000000"/>
                </a:solidFill>
                <a:latin typeface="Courier New" panose="02070309020205020404" pitchFamily="49" charset="0"/>
              </a:rPr>
              <a:t>-</a:t>
            </a:r>
            <a:r>
              <a:rPr lang="en-ZA" sz="1000" b="1" dirty="0">
                <a:solidFill>
                  <a:srgbClr val="008080"/>
                </a:solidFill>
                <a:latin typeface="Courier New" panose="02070309020205020404" pitchFamily="49" charset="0"/>
              </a:rPr>
              <a:t>4</a:t>
            </a:r>
            <a:endParaRPr lang="en-ZA" dirty="0"/>
          </a:p>
        </p:txBody>
      </p:sp>
      <p:sp>
        <p:nvSpPr>
          <p:cNvPr id="7" name="Title 1"/>
          <p:cNvSpPr txBox="1">
            <a:spLocks/>
          </p:cNvSpPr>
          <p:nvPr/>
        </p:nvSpPr>
        <p:spPr>
          <a:xfrm>
            <a:off x="269436" y="2488470"/>
            <a:ext cx="8915400" cy="84533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a:lstStyle>
          <a:p>
            <a:r>
              <a:rPr lang="en-ZA" sz="2800" dirty="0" smtClean="0"/>
              <a:t>Disadvantages of Column Input</a:t>
            </a:r>
            <a:endParaRPr lang="en-ZA" sz="2800" dirty="0"/>
          </a:p>
        </p:txBody>
      </p:sp>
      <p:sp>
        <p:nvSpPr>
          <p:cNvPr id="9" name="TextBox 8"/>
          <p:cNvSpPr txBox="1"/>
          <p:nvPr/>
        </p:nvSpPr>
        <p:spPr>
          <a:xfrm>
            <a:off x="959093" y="3257978"/>
            <a:ext cx="7874788" cy="2793072"/>
          </a:xfrm>
          <a:prstGeom prst="rect">
            <a:avLst/>
          </a:prstGeom>
          <a:noFill/>
        </p:spPr>
        <p:txBody>
          <a:bodyPr wrap="square" rtlCol="0">
            <a:spAutoFit/>
          </a:bodyPr>
          <a:lstStyle/>
          <a:p>
            <a:pPr>
              <a:lnSpc>
                <a:spcPct val="150000"/>
              </a:lnSpc>
              <a:buFont typeface="Arial"/>
              <a:buChar char="•"/>
            </a:pPr>
            <a:r>
              <a:rPr lang="en-GB" sz="1300" dirty="0">
                <a:latin typeface="Avenir Next Cyr W04 Regular" panose="020B0503020202020204" pitchFamily="34" charset="0"/>
                <a:cs typeface="Book Antiqua"/>
              </a:rPr>
              <a:t> </a:t>
            </a:r>
            <a:r>
              <a:rPr lang="en-GB" sz="1300" dirty="0" smtClean="0">
                <a:latin typeface="Avenir Next Cyr W04 Regular" panose="020B0503020202020204" pitchFamily="34" charset="0"/>
                <a:cs typeface="Book Antiqua"/>
              </a:rPr>
              <a:t>Data values must be fixed column positions</a:t>
            </a:r>
          </a:p>
          <a:p>
            <a:pPr>
              <a:lnSpc>
                <a:spcPct val="150000"/>
              </a:lnSpc>
              <a:buFont typeface="Arial"/>
              <a:buChar char="•"/>
            </a:pPr>
            <a:endParaRPr lang="en-GB" sz="1300" dirty="0" smtClean="0">
              <a:latin typeface="Avenir Next Cyr W04 Regular" panose="020B0503020202020204" pitchFamily="34" charset="0"/>
              <a:cs typeface="Book Antiqua"/>
            </a:endParaRPr>
          </a:p>
          <a:p>
            <a:pPr>
              <a:lnSpc>
                <a:spcPct val="150000"/>
              </a:lnSpc>
              <a:buFont typeface="Arial"/>
              <a:buChar char="•"/>
            </a:pPr>
            <a:r>
              <a:rPr lang="en-GB" sz="1300" dirty="0" smtClean="0">
                <a:latin typeface="Avenir Next Cyr W04 Regular" panose="020B0503020202020204" pitchFamily="34" charset="0"/>
                <a:cs typeface="Book Antiqua"/>
              </a:rPr>
              <a:t>Banks fields rea as missing</a:t>
            </a:r>
          </a:p>
          <a:p>
            <a:pPr>
              <a:lnSpc>
                <a:spcPct val="150000"/>
              </a:lnSpc>
              <a:buFont typeface="Arial"/>
              <a:buChar char="•"/>
            </a:pPr>
            <a:endParaRPr lang="en-GB" sz="1300" dirty="0" smtClean="0">
              <a:latin typeface="Avenir Next Cyr W04 Regular" panose="020B0503020202020204" pitchFamily="34" charset="0"/>
              <a:cs typeface="Book Antiqua"/>
            </a:endParaRPr>
          </a:p>
          <a:p>
            <a:pPr>
              <a:lnSpc>
                <a:spcPct val="150000"/>
              </a:lnSpc>
              <a:buFont typeface="Arial"/>
              <a:buChar char="•"/>
            </a:pPr>
            <a:r>
              <a:rPr lang="en-GB" sz="1300" dirty="0" smtClean="0">
                <a:latin typeface="Avenir Next Cyr W04 Regular" panose="020B0503020202020204" pitchFamily="34" charset="0"/>
                <a:cs typeface="Book Antiqua"/>
              </a:rPr>
              <a:t>Character fields are read right-justified in the field</a:t>
            </a:r>
          </a:p>
          <a:p>
            <a:pPr>
              <a:lnSpc>
                <a:spcPct val="150000"/>
              </a:lnSpc>
              <a:buFont typeface="Arial"/>
              <a:buChar char="•"/>
            </a:pPr>
            <a:endParaRPr lang="en-GB" sz="1300" dirty="0" smtClean="0">
              <a:latin typeface="Avenir Next Cyr W04 Regular" panose="020B0503020202020204" pitchFamily="34" charset="0"/>
              <a:cs typeface="Book Antiqua"/>
            </a:endParaRPr>
          </a:p>
          <a:p>
            <a:pPr>
              <a:lnSpc>
                <a:spcPct val="150000"/>
              </a:lnSpc>
              <a:buFont typeface="Arial"/>
              <a:buChar char="•"/>
            </a:pPr>
            <a:r>
              <a:rPr lang="en-GB" sz="1300" dirty="0" smtClean="0">
                <a:latin typeface="Avenir Next Cyr W04 Regular" panose="020B0503020202020204" pitchFamily="34" charset="0"/>
                <a:cs typeface="Book Antiqua"/>
              </a:rPr>
              <a:t>Column input has more specifications than list input</a:t>
            </a:r>
          </a:p>
          <a:p>
            <a:pPr>
              <a:lnSpc>
                <a:spcPct val="150000"/>
              </a:lnSpc>
            </a:pPr>
            <a:endParaRPr lang="en-GB" sz="1300" dirty="0" smtClean="0">
              <a:latin typeface="Avenir Next Cyr W04 Regular" panose="020B0503020202020204" pitchFamily="34" charset="0"/>
              <a:cs typeface="Book Antiqua"/>
            </a:endParaRPr>
          </a:p>
          <a:p>
            <a:pPr>
              <a:lnSpc>
                <a:spcPct val="150000"/>
              </a:lnSpc>
              <a:buFont typeface="Arial"/>
              <a:buChar char="•"/>
            </a:pPr>
            <a:r>
              <a:rPr lang="en-GB" sz="1300" dirty="0" smtClean="0">
                <a:latin typeface="Avenir Next Cyr W04 Regular" panose="020B0503020202020204" pitchFamily="34" charset="0"/>
                <a:cs typeface="Book Antiqua"/>
              </a:rPr>
              <a:t>You must specify the ranges for each variable</a:t>
            </a:r>
          </a:p>
        </p:txBody>
      </p:sp>
      <p:sp>
        <p:nvSpPr>
          <p:cNvPr id="3" name="Rectangle 2"/>
          <p:cNvSpPr/>
          <p:nvPr/>
        </p:nvSpPr>
        <p:spPr>
          <a:xfrm>
            <a:off x="6252704" y="1568987"/>
            <a:ext cx="1184940" cy="246221"/>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5742079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0"/>
            <a:ext cx="8915400" cy="845332"/>
          </a:xfrm>
        </p:spPr>
        <p:txBody>
          <a:bodyPr>
            <a:normAutofit/>
          </a:bodyPr>
          <a:lstStyle/>
          <a:p>
            <a:r>
              <a:rPr lang="en-ZA" sz="2800" dirty="0" smtClean="0"/>
              <a:t>Reading data using Formatted Input</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918254" y="549824"/>
            <a:ext cx="7874788" cy="3093154"/>
          </a:xfrm>
          <a:prstGeom prst="rect">
            <a:avLst/>
          </a:prstGeom>
          <a:noFill/>
        </p:spPr>
        <p:txBody>
          <a:bodyPr wrap="square" rtlCol="0">
            <a:spAutoFit/>
          </a:bodyPr>
          <a:lstStyle/>
          <a:p>
            <a:pPr>
              <a:lnSpc>
                <a:spcPct val="150000"/>
              </a:lnSpc>
              <a:buFont typeface="Arial"/>
              <a:buChar char="•"/>
            </a:pPr>
            <a:r>
              <a:rPr lang="en-GB" sz="1300" dirty="0" smtClean="0">
                <a:latin typeface="Avenir Next Cyr W04 Regular" panose="020B0503020202020204" pitchFamily="34" charset="0"/>
                <a:cs typeface="Book Antiqua"/>
              </a:rPr>
              <a:t> This technique allows you to specify information about how SAS will interpret data as they are read into the program.</a:t>
            </a:r>
          </a:p>
          <a:p>
            <a:pPr>
              <a:lnSpc>
                <a:spcPct val="150000"/>
              </a:lnSpc>
              <a:buFont typeface="Arial"/>
              <a:buChar char="•"/>
            </a:pPr>
            <a:r>
              <a:rPr lang="en-GB" sz="1300" dirty="0" smtClean="0">
                <a:latin typeface="Avenir Next Cyr W04 Regular" panose="020B0503020202020204" pitchFamily="34" charset="0"/>
                <a:cs typeface="Book Antiqua"/>
              </a:rPr>
              <a:t>SAS uses the term </a:t>
            </a:r>
            <a:r>
              <a:rPr lang="en-GB" sz="1300" dirty="0" smtClean="0">
                <a:solidFill>
                  <a:schemeClr val="accent1"/>
                </a:solidFill>
                <a:latin typeface="Avenir Next Cyr W04 Regular" panose="020B0503020202020204" pitchFamily="34" charset="0"/>
                <a:cs typeface="Book Antiqua"/>
              </a:rPr>
              <a:t>INFORMAT </a:t>
            </a:r>
            <a:r>
              <a:rPr lang="en-GB" sz="1300" dirty="0" smtClean="0">
                <a:latin typeface="Avenir Next Cyr W04 Regular" panose="020B0503020202020204" pitchFamily="34" charset="0"/>
                <a:cs typeface="Book Antiqua"/>
              </a:rPr>
              <a:t>to specify an input specification that tells it how to read data.</a:t>
            </a:r>
            <a:endParaRPr lang="en-GB" sz="1300" dirty="0">
              <a:latin typeface="Avenir Next Cyr W04 Regular" panose="020B0503020202020204" pitchFamily="34" charset="0"/>
              <a:cs typeface="Book Antiqua"/>
            </a:endParaRPr>
          </a:p>
          <a:p>
            <a:pPr>
              <a:lnSpc>
                <a:spcPct val="150000"/>
              </a:lnSpc>
              <a:buFont typeface="Arial"/>
              <a:buChar char="•"/>
            </a:pPr>
            <a:r>
              <a:rPr lang="en-GB" sz="1300" dirty="0" smtClean="0">
                <a:latin typeface="Avenir Next Cyr W04 Regular" panose="020B0503020202020204" pitchFamily="34" charset="0"/>
                <a:cs typeface="Book Antiqua"/>
              </a:rPr>
              <a:t>Using an </a:t>
            </a:r>
            <a:r>
              <a:rPr lang="en-GB" sz="1300" dirty="0" smtClean="0">
                <a:solidFill>
                  <a:schemeClr val="accent1"/>
                </a:solidFill>
                <a:latin typeface="Avenir Next Cyr W04 Regular" panose="020B0503020202020204" pitchFamily="34" charset="0"/>
                <a:cs typeface="Book Antiqua"/>
              </a:rPr>
              <a:t>INFORMAT</a:t>
            </a:r>
            <a:r>
              <a:rPr lang="en-GB" sz="1300" dirty="0" smtClean="0">
                <a:latin typeface="Avenir Next Cyr W04 Regular" panose="020B0503020202020204" pitchFamily="34" charset="0"/>
                <a:cs typeface="Book Antiqua"/>
              </a:rPr>
              <a:t> is helpful when you are reading data that might be in a otherwise hard-to-read format, such as data and dollar values.</a:t>
            </a:r>
          </a:p>
          <a:p>
            <a:pPr>
              <a:lnSpc>
                <a:spcPct val="150000"/>
              </a:lnSpc>
              <a:buFont typeface="Arial"/>
              <a:buChar char="•"/>
            </a:pPr>
            <a:r>
              <a:rPr lang="en-GB" sz="1300" dirty="0">
                <a:latin typeface="Avenir Next Cyr W04 Regular" panose="020B0503020202020204" pitchFamily="34" charset="0"/>
                <a:cs typeface="Book Antiqua"/>
              </a:rPr>
              <a:t> </a:t>
            </a:r>
            <a:r>
              <a:rPr lang="en-GB" sz="1300" b="1" dirty="0">
                <a:solidFill>
                  <a:schemeClr val="accent1"/>
                </a:solidFill>
                <a:latin typeface="Avenir Next Cyr W04 Regular" panose="020B0503020202020204" pitchFamily="34" charset="0"/>
                <a:cs typeface="Book Antiqua"/>
              </a:rPr>
              <a:t>The Pointer </a:t>
            </a:r>
            <a:r>
              <a:rPr lang="en-GB" sz="1300" dirty="0">
                <a:latin typeface="Avenir Next Cyr W04 Regular" panose="020B0503020202020204" pitchFamily="34" charset="0"/>
                <a:cs typeface="Book Antiqua"/>
              </a:rPr>
              <a:t>– (The @ sign) tells SAS to read data for this variable beginning in the indicated column.</a:t>
            </a:r>
          </a:p>
          <a:p>
            <a:pPr>
              <a:lnSpc>
                <a:spcPct val="150000"/>
              </a:lnSpc>
              <a:buFont typeface="Arial"/>
              <a:buChar char="•"/>
            </a:pPr>
            <a:r>
              <a:rPr lang="en-GB" sz="1300" b="1" dirty="0">
                <a:solidFill>
                  <a:schemeClr val="accent1"/>
                </a:solidFill>
                <a:latin typeface="Avenir Next Cyr W04 Regular" panose="020B0503020202020204" pitchFamily="34" charset="0"/>
                <a:cs typeface="Book Antiqua"/>
              </a:rPr>
              <a:t>The variable name </a:t>
            </a:r>
            <a:r>
              <a:rPr lang="en-GB" sz="1300" dirty="0">
                <a:latin typeface="Avenir Next Cyr W04 Regular" panose="020B0503020202020204" pitchFamily="34" charset="0"/>
                <a:cs typeface="Book Antiqua"/>
              </a:rPr>
              <a:t>– (SBP) tells SAS that the name of this first variable is SBP.</a:t>
            </a:r>
          </a:p>
          <a:p>
            <a:pPr>
              <a:lnSpc>
                <a:spcPct val="150000"/>
              </a:lnSpc>
              <a:buFont typeface="Arial"/>
              <a:buChar char="•"/>
            </a:pPr>
            <a:r>
              <a:rPr lang="en-GB" sz="1300" b="1" dirty="0">
                <a:solidFill>
                  <a:schemeClr val="accent1"/>
                </a:solidFill>
                <a:latin typeface="Avenir Next Cyr W04 Regular" panose="020B0503020202020204" pitchFamily="34" charset="0"/>
                <a:cs typeface="Book Antiqua"/>
              </a:rPr>
              <a:t>The INFORMAT </a:t>
            </a:r>
            <a:r>
              <a:rPr lang="en-GB" sz="1300" dirty="0">
                <a:latin typeface="Avenir Next Cyr W04 Regular" panose="020B0503020202020204" pitchFamily="34" charset="0"/>
                <a:cs typeface="Book Antiqua"/>
              </a:rPr>
              <a:t>(3.) tells SAS that data at this location in each row are numbers containing three digits.</a:t>
            </a:r>
          </a:p>
          <a:p>
            <a:pPr>
              <a:lnSpc>
                <a:spcPct val="150000"/>
              </a:lnSpc>
              <a:buFont typeface="Arial"/>
              <a:buChar char="•"/>
            </a:pPr>
            <a:endParaRPr lang="en-GB" sz="1300" dirty="0">
              <a:latin typeface="Avenir Next Cyr W04 Regular" panose="020B0503020202020204" pitchFamily="34" charset="0"/>
              <a:cs typeface="Book Antiqua"/>
            </a:endParaRPr>
          </a:p>
        </p:txBody>
      </p:sp>
      <p:sp>
        <p:nvSpPr>
          <p:cNvPr id="10" name="TextBox 9"/>
          <p:cNvSpPr txBox="1"/>
          <p:nvPr/>
        </p:nvSpPr>
        <p:spPr>
          <a:xfrm>
            <a:off x="6908549" y="6140497"/>
            <a:ext cx="3220943" cy="338747"/>
          </a:xfrm>
          <a:prstGeom prst="rect">
            <a:avLst/>
          </a:prstGeom>
          <a:noFill/>
        </p:spPr>
        <p:txBody>
          <a:bodyPr wrap="square" rtlCol="0">
            <a:spAutoFit/>
          </a:bodyPr>
          <a:lstStyle/>
          <a:p>
            <a:pPr>
              <a:lnSpc>
                <a:spcPct val="150000"/>
              </a:lnSpc>
              <a:buFont typeface="Arial"/>
              <a:buChar char="•"/>
            </a:pPr>
            <a:r>
              <a:rPr lang="en-GB" sz="1200" b="1" dirty="0" smtClean="0">
                <a:solidFill>
                  <a:srgbClr val="FF0000"/>
                </a:solidFill>
                <a:latin typeface="Avenir Next Cyr W04 Regular" panose="020B0503020202020204" pitchFamily="34" charset="0"/>
                <a:cs typeface="Book Antiqua"/>
              </a:rPr>
              <a:t>Open SAS Program DINFORMAT.SAS</a:t>
            </a:r>
            <a:endParaRPr lang="en-GB" sz="1200" b="1" i="1" dirty="0">
              <a:solidFill>
                <a:srgbClr val="FF0000"/>
              </a:solidFill>
              <a:latin typeface="Avenir Next Cyr W04 Regular" panose="020B0503020202020204" pitchFamily="34" charset="0"/>
              <a:cs typeface="Book Antiqua"/>
            </a:endParaRPr>
          </a:p>
        </p:txBody>
      </p:sp>
      <p:pic>
        <p:nvPicPr>
          <p:cNvPr id="4" name="Picture 3"/>
          <p:cNvPicPr>
            <a:picLocks noChangeAspect="1"/>
          </p:cNvPicPr>
          <p:nvPr/>
        </p:nvPicPr>
        <p:blipFill>
          <a:blip r:embed="rId4"/>
          <a:stretch>
            <a:fillRect/>
          </a:stretch>
        </p:blipFill>
        <p:spPr>
          <a:xfrm>
            <a:off x="1003598" y="3346285"/>
            <a:ext cx="4139184" cy="3060220"/>
          </a:xfrm>
          <a:prstGeom prst="rect">
            <a:avLst/>
          </a:prstGeom>
        </p:spPr>
      </p:pic>
      <p:pic>
        <p:nvPicPr>
          <p:cNvPr id="7" name="Picture 6"/>
          <p:cNvPicPr>
            <a:picLocks noChangeAspect="1"/>
          </p:cNvPicPr>
          <p:nvPr/>
        </p:nvPicPr>
        <p:blipFill>
          <a:blip r:embed="rId5"/>
          <a:stretch>
            <a:fillRect/>
          </a:stretch>
        </p:blipFill>
        <p:spPr>
          <a:xfrm>
            <a:off x="6670236" y="4048125"/>
            <a:ext cx="2514600" cy="1238250"/>
          </a:xfrm>
          <a:prstGeom prst="rect">
            <a:avLst/>
          </a:prstGeom>
        </p:spPr>
      </p:pic>
      <p:sp>
        <p:nvSpPr>
          <p:cNvPr id="8" name="Rectangle 7"/>
          <p:cNvSpPr/>
          <p:nvPr/>
        </p:nvSpPr>
        <p:spPr>
          <a:xfrm>
            <a:off x="1003598" y="3343444"/>
            <a:ext cx="4139184" cy="3063061"/>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11" name="Rectangle 10"/>
          <p:cNvSpPr/>
          <p:nvPr/>
        </p:nvSpPr>
        <p:spPr>
          <a:xfrm>
            <a:off x="6670236" y="4048125"/>
            <a:ext cx="2514600" cy="123825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cxnSp>
        <p:nvCxnSpPr>
          <p:cNvPr id="13" name="Straight Arrow Connector 12"/>
          <p:cNvCxnSpPr>
            <a:stCxn id="4" idx="3"/>
            <a:endCxn id="11" idx="1"/>
          </p:cNvCxnSpPr>
          <p:nvPr/>
        </p:nvCxnSpPr>
        <p:spPr>
          <a:xfrm flipV="1">
            <a:off x="5142782" y="4667250"/>
            <a:ext cx="1527454" cy="20914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65324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Examples of SAS formats</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graphicFrame>
        <p:nvGraphicFramePr>
          <p:cNvPr id="9" name="Table 8"/>
          <p:cNvGraphicFramePr>
            <a:graphicFrameLocks noGrp="1"/>
          </p:cNvGraphicFramePr>
          <p:nvPr>
            <p:extLst>
              <p:ext uri="{D42A27DB-BD31-4B8C-83A1-F6EECF244321}">
                <p14:modId xmlns:p14="http://schemas.microsoft.com/office/powerpoint/2010/main" val="451249830"/>
              </p:ext>
            </p:extLst>
          </p:nvPr>
        </p:nvGraphicFramePr>
        <p:xfrm>
          <a:off x="1817366" y="1471644"/>
          <a:ext cx="6006234" cy="3171304"/>
        </p:xfrm>
        <a:graphic>
          <a:graphicData uri="http://schemas.openxmlformats.org/drawingml/2006/table">
            <a:tbl>
              <a:tblPr firstRow="1" bandRow="1">
                <a:tableStyleId>{5C22544A-7EE6-4342-B048-85BDC9FD1C3A}</a:tableStyleId>
              </a:tblPr>
              <a:tblGrid>
                <a:gridCol w="2002078">
                  <a:extLst>
                    <a:ext uri="{9D8B030D-6E8A-4147-A177-3AD203B41FA5}">
                      <a16:colId xmlns:a16="http://schemas.microsoft.com/office/drawing/2014/main" val="20000"/>
                    </a:ext>
                  </a:extLst>
                </a:gridCol>
                <a:gridCol w="2002078">
                  <a:extLst>
                    <a:ext uri="{9D8B030D-6E8A-4147-A177-3AD203B41FA5}">
                      <a16:colId xmlns:a16="http://schemas.microsoft.com/office/drawing/2014/main" val="20001"/>
                    </a:ext>
                  </a:extLst>
                </a:gridCol>
                <a:gridCol w="2002078">
                  <a:extLst>
                    <a:ext uri="{9D8B030D-6E8A-4147-A177-3AD203B41FA5}">
                      <a16:colId xmlns:a16="http://schemas.microsoft.com/office/drawing/2014/main" val="20002"/>
                    </a:ext>
                  </a:extLst>
                </a:gridCol>
              </a:tblGrid>
              <a:tr h="431800">
                <a:tc>
                  <a:txBody>
                    <a:bodyPr/>
                    <a:lstStyle/>
                    <a:p>
                      <a:pPr algn="ctr"/>
                      <a:r>
                        <a:rPr lang="en-ZA" dirty="0" smtClean="0">
                          <a:solidFill>
                            <a:schemeClr val="tx1"/>
                          </a:solidFill>
                        </a:rPr>
                        <a:t>Format</a:t>
                      </a:r>
                      <a:endParaRPr lang="en-ZA"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ZA" dirty="0" smtClean="0">
                          <a:solidFill>
                            <a:schemeClr val="tx1"/>
                          </a:solidFill>
                        </a:rPr>
                        <a:t>Raw value</a:t>
                      </a:r>
                      <a:endParaRPr lang="en-ZA"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ZA" dirty="0" smtClean="0">
                          <a:solidFill>
                            <a:schemeClr val="tx1"/>
                          </a:solidFill>
                        </a:rPr>
                        <a:t>Read As</a:t>
                      </a:r>
                      <a:endParaRPr lang="en-ZA"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84876">
                <a:tc>
                  <a:txBody>
                    <a:bodyPr/>
                    <a:lstStyle/>
                    <a:p>
                      <a:pPr algn="ctr"/>
                      <a:r>
                        <a:rPr lang="en-ZA" dirty="0" smtClean="0"/>
                        <a:t>Comma7.</a:t>
                      </a:r>
                      <a:endParaRPr lang="en-Z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ZA" dirty="0" smtClean="0"/>
                        <a:t>$40,000</a:t>
                      </a:r>
                      <a:endParaRPr lang="en-Z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ZA" dirty="0" smtClean="0"/>
                        <a:t>40000</a:t>
                      </a:r>
                      <a:endParaRPr lang="en-Z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84876">
                <a:tc>
                  <a:txBody>
                    <a:bodyPr/>
                    <a:lstStyle/>
                    <a:p>
                      <a:pPr algn="ctr"/>
                      <a:r>
                        <a:rPr lang="en-ZA" dirty="0" smtClean="0"/>
                        <a:t>Comma10.2</a:t>
                      </a:r>
                      <a:endParaRPr lang="en-Z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ZA" dirty="0" smtClean="0"/>
                        <a:t>190,020.22</a:t>
                      </a:r>
                      <a:endParaRPr lang="en-Z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ZA" dirty="0" smtClean="0"/>
                        <a:t>190020.22</a:t>
                      </a:r>
                      <a:endParaRPr lang="en-Z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84876">
                <a:tc>
                  <a:txBody>
                    <a:bodyPr/>
                    <a:lstStyle/>
                    <a:p>
                      <a:pPr algn="ctr"/>
                      <a:r>
                        <a:rPr lang="en-ZA" dirty="0" smtClean="0"/>
                        <a:t>Dollar10.2</a:t>
                      </a:r>
                      <a:endParaRPr lang="en-Z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ZA" dirty="0" smtClean="0"/>
                        <a:t>$19020.22</a:t>
                      </a:r>
                      <a:endParaRPr lang="en-Z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ZA" dirty="0" smtClean="0"/>
                        <a:t>19020.22</a:t>
                      </a:r>
                      <a:endParaRPr lang="en-Z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84876">
                <a:tc>
                  <a:txBody>
                    <a:bodyPr/>
                    <a:lstStyle/>
                    <a:p>
                      <a:pPr algn="ctr"/>
                      <a:r>
                        <a:rPr lang="en-ZA" dirty="0" smtClean="0"/>
                        <a:t>Date9.</a:t>
                      </a:r>
                      <a:endParaRPr lang="en-Z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ZA" dirty="0" smtClean="0"/>
                        <a:t>12JAN1999</a:t>
                      </a:r>
                      <a:endParaRPr lang="en-Z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ZA" dirty="0" smtClean="0"/>
                        <a:t>SAS numeric value</a:t>
                      </a:r>
                      <a:endParaRPr lang="en-Z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700005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Reading external data using </a:t>
            </a:r>
            <a:r>
              <a:rPr lang="en-ZA" sz="2800" dirty="0" err="1" smtClean="0"/>
              <a:t>Infile</a:t>
            </a:r>
            <a:r>
              <a:rPr lang="en-ZA" sz="2800" dirty="0" smtClean="0"/>
              <a:t> statement</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606628" y="714656"/>
            <a:ext cx="8241016" cy="429348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1300" dirty="0" smtClean="0">
                <a:latin typeface="Avenir Next Cyr W04 Regular" panose="020B0503020202020204" pitchFamily="34" charset="0"/>
                <a:cs typeface="Book Antiqua"/>
              </a:rPr>
              <a:t>The INFILE statement is used to identify an external ASCII (Text) file in SAS. Its is an alternative to the DATALINES statement.</a:t>
            </a:r>
          </a:p>
          <a:p>
            <a:pPr marL="285750" indent="-285750">
              <a:lnSpc>
                <a:spcPct val="150000"/>
              </a:lnSpc>
              <a:buFont typeface="Arial" panose="020B0604020202020204" pitchFamily="34" charset="0"/>
              <a:buChar char="•"/>
            </a:pPr>
            <a:r>
              <a:rPr lang="en-GB" sz="1300" dirty="0">
                <a:latin typeface="Avenir Next Cyr W04 Regular" panose="020B0503020202020204" pitchFamily="34" charset="0"/>
                <a:cs typeface="Book Antiqua"/>
              </a:rPr>
              <a:t>Notice that the INFILE statement must appear in the code before the INPUT statement that reads the data lines. When you run this code produces the following output.</a:t>
            </a:r>
          </a:p>
          <a:p>
            <a:pPr marL="285750" indent="-285750">
              <a:lnSpc>
                <a:spcPct val="150000"/>
              </a:lnSpc>
              <a:buFont typeface="Arial" panose="020B0604020202020204" pitchFamily="34" charset="0"/>
              <a:buChar char="•"/>
            </a:pPr>
            <a:endParaRPr lang="en-GB" sz="1300" dirty="0" smtClean="0">
              <a:latin typeface="Avenir Next Cyr W04 Regular" panose="020B0503020202020204" pitchFamily="34" charset="0"/>
              <a:cs typeface="Book Antiqua"/>
            </a:endParaRPr>
          </a:p>
          <a:p>
            <a:pPr marL="285750" indent="-285750">
              <a:lnSpc>
                <a:spcPct val="150000"/>
              </a:lnSpc>
              <a:buFont typeface="Arial" panose="020B0604020202020204" pitchFamily="34" charset="0"/>
              <a:buChar char="•"/>
            </a:pPr>
            <a:endParaRPr lang="en-GB" sz="1300" dirty="0">
              <a:latin typeface="Avenir Next Cyr W04 Regular" panose="020B0503020202020204" pitchFamily="34" charset="0"/>
              <a:cs typeface="Book Antiqua"/>
            </a:endParaRPr>
          </a:p>
          <a:p>
            <a:pPr marL="285750" indent="-285750">
              <a:lnSpc>
                <a:spcPct val="150000"/>
              </a:lnSpc>
              <a:buFont typeface="Arial" panose="020B0604020202020204" pitchFamily="34" charset="0"/>
              <a:buChar char="•"/>
            </a:pPr>
            <a:endParaRPr lang="en-GB" sz="1300" dirty="0" smtClean="0">
              <a:latin typeface="Avenir Next Cyr W04 Regular" panose="020B0503020202020204" pitchFamily="34" charset="0"/>
              <a:cs typeface="Book Antiqua"/>
            </a:endParaRPr>
          </a:p>
          <a:p>
            <a:pPr marL="285750" indent="-285750">
              <a:lnSpc>
                <a:spcPct val="150000"/>
              </a:lnSpc>
              <a:buFont typeface="Arial" panose="020B0604020202020204" pitchFamily="34" charset="0"/>
              <a:buChar char="•"/>
            </a:pPr>
            <a:endParaRPr lang="en-GB" sz="1300" dirty="0">
              <a:latin typeface="Avenir Next Cyr W04 Regular" panose="020B0503020202020204" pitchFamily="34" charset="0"/>
              <a:cs typeface="Book Antiqua"/>
            </a:endParaRPr>
          </a:p>
          <a:p>
            <a:pPr marL="285750" indent="-285750">
              <a:lnSpc>
                <a:spcPct val="150000"/>
              </a:lnSpc>
              <a:buFont typeface="Arial" panose="020B0604020202020204" pitchFamily="34" charset="0"/>
              <a:buChar char="•"/>
            </a:pPr>
            <a:endParaRPr lang="en-GB" sz="1300" dirty="0" smtClean="0">
              <a:latin typeface="Avenir Next Cyr W04 Regular" panose="020B0503020202020204" pitchFamily="34" charset="0"/>
              <a:cs typeface="Book Antiqua"/>
            </a:endParaRPr>
          </a:p>
          <a:p>
            <a:pPr marL="285750" indent="-285750">
              <a:lnSpc>
                <a:spcPct val="150000"/>
              </a:lnSpc>
              <a:buFont typeface="Arial" panose="020B0604020202020204" pitchFamily="34" charset="0"/>
              <a:buChar char="•"/>
            </a:pPr>
            <a:endParaRPr lang="en-GB" sz="1300" dirty="0">
              <a:latin typeface="Avenir Next Cyr W04 Regular" panose="020B0503020202020204" pitchFamily="34" charset="0"/>
              <a:cs typeface="Book Antiqua"/>
            </a:endParaRPr>
          </a:p>
          <a:p>
            <a:pPr marL="285750" indent="-285750">
              <a:lnSpc>
                <a:spcPct val="150000"/>
              </a:lnSpc>
              <a:buFont typeface="Arial" panose="020B0604020202020204" pitchFamily="34" charset="0"/>
              <a:buChar char="•"/>
            </a:pPr>
            <a:endParaRPr lang="en-GB" sz="1300" dirty="0" smtClean="0">
              <a:latin typeface="Avenir Next Cyr W04 Regular" panose="020B0503020202020204" pitchFamily="34" charset="0"/>
              <a:cs typeface="Book Antiqua"/>
            </a:endParaRPr>
          </a:p>
          <a:p>
            <a:pPr marL="285750" indent="-285750">
              <a:lnSpc>
                <a:spcPct val="150000"/>
              </a:lnSpc>
              <a:buFont typeface="Arial" panose="020B0604020202020204" pitchFamily="34" charset="0"/>
              <a:buChar char="•"/>
            </a:pPr>
            <a:endParaRPr lang="en-GB" sz="1300" dirty="0" smtClean="0">
              <a:latin typeface="Avenir Next Cyr W04 Regular" panose="020B0503020202020204" pitchFamily="34" charset="0"/>
              <a:cs typeface="Book Antiqua"/>
            </a:endParaRPr>
          </a:p>
          <a:p>
            <a:pPr marL="285750" indent="-285750">
              <a:lnSpc>
                <a:spcPct val="150000"/>
              </a:lnSpc>
              <a:buFont typeface="Arial" panose="020B0604020202020204" pitchFamily="34" charset="0"/>
              <a:buChar char="•"/>
            </a:pPr>
            <a:endParaRPr lang="en-GB" sz="1300" dirty="0">
              <a:latin typeface="Avenir Next Cyr W04 Regular" panose="020B0503020202020204" pitchFamily="34" charset="0"/>
              <a:cs typeface="Book Antiqua"/>
            </a:endParaRPr>
          </a:p>
          <a:p>
            <a:pPr marL="285750" indent="-285750">
              <a:lnSpc>
                <a:spcPct val="150000"/>
              </a:lnSpc>
              <a:buFont typeface="Arial" panose="020B0604020202020204" pitchFamily="34" charset="0"/>
              <a:buChar char="•"/>
            </a:pPr>
            <a:endParaRPr lang="en-GB" sz="1300" dirty="0">
              <a:latin typeface="Avenir Next Cyr W04 Regular" panose="020B0503020202020204" pitchFamily="34" charset="0"/>
              <a:cs typeface="Book Antiqua"/>
            </a:endParaRPr>
          </a:p>
        </p:txBody>
      </p:sp>
      <p:pic>
        <p:nvPicPr>
          <p:cNvPr id="4" name="Picture 3"/>
          <p:cNvPicPr>
            <a:picLocks noChangeAspect="1"/>
          </p:cNvPicPr>
          <p:nvPr/>
        </p:nvPicPr>
        <p:blipFill>
          <a:blip r:embed="rId4"/>
          <a:stretch>
            <a:fillRect/>
          </a:stretch>
        </p:blipFill>
        <p:spPr>
          <a:xfrm>
            <a:off x="6076950" y="3417950"/>
            <a:ext cx="3829050" cy="1314450"/>
          </a:xfrm>
          <a:prstGeom prst="rect">
            <a:avLst/>
          </a:prstGeom>
        </p:spPr>
      </p:pic>
      <p:sp>
        <p:nvSpPr>
          <p:cNvPr id="9" name="Rectangle 8"/>
          <p:cNvSpPr/>
          <p:nvPr/>
        </p:nvSpPr>
        <p:spPr>
          <a:xfrm>
            <a:off x="6136566" y="3401999"/>
            <a:ext cx="3677994" cy="1330401"/>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pic>
        <p:nvPicPr>
          <p:cNvPr id="11" name="Picture 10"/>
          <p:cNvPicPr>
            <a:picLocks noChangeAspect="1"/>
          </p:cNvPicPr>
          <p:nvPr/>
        </p:nvPicPr>
        <p:blipFill>
          <a:blip r:embed="rId5"/>
          <a:stretch>
            <a:fillRect/>
          </a:stretch>
        </p:blipFill>
        <p:spPr>
          <a:xfrm>
            <a:off x="269436" y="2308288"/>
            <a:ext cx="5807514" cy="3533775"/>
          </a:xfrm>
          <a:prstGeom prst="rect">
            <a:avLst/>
          </a:prstGeom>
        </p:spPr>
      </p:pic>
      <p:sp>
        <p:nvSpPr>
          <p:cNvPr id="12" name="Rectangle 11"/>
          <p:cNvSpPr/>
          <p:nvPr/>
        </p:nvSpPr>
        <p:spPr>
          <a:xfrm>
            <a:off x="269436" y="2308288"/>
            <a:ext cx="5807514" cy="353377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7392357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Using Advanced INFILE statement options</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606628" y="824370"/>
            <a:ext cx="8241016" cy="2392963"/>
          </a:xfrm>
          <a:prstGeom prst="rect">
            <a:avLst/>
          </a:prstGeom>
          <a:noFill/>
        </p:spPr>
        <p:txBody>
          <a:bodyPr wrap="square" rtlCol="0">
            <a:spAutoFit/>
          </a:bodyPr>
          <a:lstStyle/>
          <a:p>
            <a:pPr>
              <a:lnSpc>
                <a:spcPct val="150000"/>
              </a:lnSpc>
              <a:buFont typeface="Arial"/>
              <a:buChar char="•"/>
            </a:pPr>
            <a:r>
              <a:rPr lang="en-GB" sz="1300" dirty="0">
                <a:latin typeface="Avenir Next Cyr W04 Regular" panose="020B0503020202020204" pitchFamily="34" charset="0"/>
                <a:cs typeface="Book Antiqua"/>
              </a:rPr>
              <a:t> </a:t>
            </a:r>
            <a:r>
              <a:rPr lang="en-GB" sz="1300" dirty="0" smtClean="0">
                <a:latin typeface="Avenir Next Cyr W04 Regular" panose="020B0503020202020204" pitchFamily="34" charset="0"/>
                <a:cs typeface="Book Antiqua"/>
              </a:rPr>
              <a:t>DLM </a:t>
            </a:r>
            <a:r>
              <a:rPr lang="en-GB" sz="1300" dirty="0">
                <a:latin typeface="Avenir Next Cyr W04 Regular" panose="020B0503020202020204" pitchFamily="34" charset="0"/>
                <a:cs typeface="Book Antiqua"/>
              </a:rPr>
              <a:t>– specify the delimiter to be used (e.g. </a:t>
            </a:r>
            <a:r>
              <a:rPr lang="en-GB" sz="1300" dirty="0" smtClean="0">
                <a:latin typeface="Avenir Next Cyr W04 Regular" panose="020B0503020202020204" pitchFamily="34" charset="0"/>
                <a:cs typeface="Book Antiqua"/>
              </a:rPr>
              <a:t>“,”)</a:t>
            </a:r>
            <a:endParaRPr lang="en-GB" sz="1300" dirty="0">
              <a:latin typeface="Avenir Next Cyr W04 Regular" panose="020B0503020202020204" pitchFamily="34" charset="0"/>
              <a:cs typeface="Book Antiqua"/>
            </a:endParaRPr>
          </a:p>
          <a:p>
            <a:pPr>
              <a:lnSpc>
                <a:spcPct val="200000"/>
              </a:lnSpc>
              <a:buFont typeface="Arial"/>
              <a:buChar char="•"/>
            </a:pPr>
            <a:r>
              <a:rPr lang="en-GB" sz="1300" dirty="0">
                <a:latin typeface="Avenir Next Cyr W04 Regular" panose="020B0503020202020204" pitchFamily="34" charset="0"/>
                <a:cs typeface="Book Antiqua"/>
              </a:rPr>
              <a:t> DSD – </a:t>
            </a:r>
            <a:r>
              <a:rPr lang="en-GB" sz="1300" dirty="0" smtClean="0">
                <a:latin typeface="Avenir Next Cyr W04 Regular" panose="020B0503020202020204" pitchFamily="34" charset="0"/>
                <a:cs typeface="Book Antiqua"/>
              </a:rPr>
              <a:t>Instructs SAS to recognize two consecutive delimiters as a missing value. For example, the information M, 15, , 115 would be read as M, 15, MISSING, 115.</a:t>
            </a:r>
            <a:endParaRPr lang="en-GB" sz="1300" dirty="0">
              <a:latin typeface="Avenir Next Cyr W04 Regular" panose="020B0503020202020204" pitchFamily="34" charset="0"/>
              <a:cs typeface="Book Antiqua"/>
            </a:endParaRPr>
          </a:p>
          <a:p>
            <a:pPr>
              <a:lnSpc>
                <a:spcPct val="200000"/>
              </a:lnSpc>
              <a:buFont typeface="Arial"/>
              <a:buChar char="•"/>
            </a:pPr>
            <a:r>
              <a:rPr lang="en-GB" sz="1300" dirty="0">
                <a:latin typeface="Avenir Next Cyr W04 Regular" panose="020B0503020202020204" pitchFamily="34" charset="0"/>
                <a:cs typeface="Book Antiqua"/>
              </a:rPr>
              <a:t> MISSOVER – moves to the next line to fill up the observation’s variable </a:t>
            </a:r>
            <a:r>
              <a:rPr lang="en-GB" sz="1300" dirty="0" smtClean="0">
                <a:latin typeface="Avenir Next Cyr W04 Regular" panose="020B0503020202020204" pitchFamily="34" charset="0"/>
                <a:cs typeface="Book Antiqua"/>
              </a:rPr>
              <a:t>values</a:t>
            </a:r>
            <a:endParaRPr lang="en-GB" sz="1300" dirty="0">
              <a:latin typeface="Avenir Next Cyr W04 Regular" panose="020B0503020202020204" pitchFamily="34" charset="0"/>
              <a:cs typeface="Book Antiqua"/>
            </a:endParaRPr>
          </a:p>
          <a:p>
            <a:pPr>
              <a:lnSpc>
                <a:spcPct val="200000"/>
              </a:lnSpc>
              <a:buFont typeface="Arial"/>
              <a:buChar char="•"/>
            </a:pPr>
            <a:r>
              <a:rPr lang="en-GB" sz="1300" dirty="0">
                <a:latin typeface="Avenir Next Cyr W04 Regular" panose="020B0503020202020204" pitchFamily="34" charset="0"/>
                <a:cs typeface="Book Antiqua"/>
              </a:rPr>
              <a:t> FIRSTOBS – specify the starting point </a:t>
            </a:r>
            <a:endParaRPr lang="en-GB" sz="1300" dirty="0" smtClean="0">
              <a:latin typeface="Avenir Next Cyr W04 Regular" panose="020B0503020202020204" pitchFamily="34" charset="0"/>
              <a:cs typeface="Book Antiqua"/>
            </a:endParaRPr>
          </a:p>
          <a:p>
            <a:pPr>
              <a:lnSpc>
                <a:spcPct val="200000"/>
              </a:lnSpc>
              <a:buFont typeface="Arial"/>
              <a:buChar char="•"/>
            </a:pPr>
            <a:r>
              <a:rPr lang="en-GB" sz="1300" dirty="0" smtClean="0">
                <a:latin typeface="Avenir Next Cyr W04 Regular" panose="020B0503020202020204" pitchFamily="34" charset="0"/>
                <a:cs typeface="Book Antiqua"/>
              </a:rPr>
              <a:t> </a:t>
            </a:r>
            <a:r>
              <a:rPr lang="en-GB" sz="1300" dirty="0">
                <a:latin typeface="Avenir Next Cyr W04 Regular" panose="020B0503020202020204" pitchFamily="34" charset="0"/>
                <a:cs typeface="Book Antiqua"/>
              </a:rPr>
              <a:t>OBS – specifies the last observation </a:t>
            </a:r>
            <a:r>
              <a:rPr lang="en-GB" sz="1300" dirty="0" smtClean="0">
                <a:latin typeface="Avenir Next Cyr W04 Regular" panose="020B0503020202020204" pitchFamily="34" charset="0"/>
                <a:cs typeface="Book Antiqua"/>
              </a:rPr>
              <a:t>point</a:t>
            </a:r>
            <a:endParaRPr lang="en-GB" sz="1300" dirty="0">
              <a:latin typeface="Avenir Next Cyr W04 Regular" panose="020B0503020202020204" pitchFamily="34" charset="0"/>
              <a:cs typeface="Book Antiqua"/>
            </a:endParaRPr>
          </a:p>
        </p:txBody>
      </p:sp>
      <p:sp>
        <p:nvSpPr>
          <p:cNvPr id="8" name="TextBox 7"/>
          <p:cNvSpPr txBox="1"/>
          <p:nvPr/>
        </p:nvSpPr>
        <p:spPr>
          <a:xfrm>
            <a:off x="6908549" y="6140497"/>
            <a:ext cx="3220943" cy="369332"/>
          </a:xfrm>
          <a:prstGeom prst="rect">
            <a:avLst/>
          </a:prstGeom>
          <a:noFill/>
        </p:spPr>
        <p:txBody>
          <a:bodyPr wrap="square" rtlCol="0">
            <a:spAutoFit/>
          </a:bodyPr>
          <a:lstStyle/>
          <a:p>
            <a:pPr>
              <a:lnSpc>
                <a:spcPct val="150000"/>
              </a:lnSpc>
              <a:buFont typeface="Arial"/>
              <a:buChar char="•"/>
            </a:pPr>
            <a:r>
              <a:rPr lang="en-GB" sz="1200" b="1" dirty="0" smtClean="0">
                <a:solidFill>
                  <a:srgbClr val="FF0000"/>
                </a:solidFill>
                <a:latin typeface="Avenir Next Cyr W04 Regular" panose="020B0503020202020204" pitchFamily="34" charset="0"/>
                <a:cs typeface="Book Antiqua"/>
              </a:rPr>
              <a:t>Open SAS Program DINPUT.SAS</a:t>
            </a:r>
            <a:endParaRPr lang="en-GB" sz="1200" b="1" i="1" dirty="0">
              <a:solidFill>
                <a:srgbClr val="FF0000"/>
              </a:solidFill>
              <a:latin typeface="Avenir Next Cyr W04 Regular" panose="020B0503020202020204" pitchFamily="34" charset="0"/>
              <a:cs typeface="Book Antiqua"/>
            </a:endParaRPr>
          </a:p>
        </p:txBody>
      </p:sp>
      <p:pic>
        <p:nvPicPr>
          <p:cNvPr id="4" name="Picture 3"/>
          <p:cNvPicPr>
            <a:picLocks noChangeAspect="1"/>
          </p:cNvPicPr>
          <p:nvPr/>
        </p:nvPicPr>
        <p:blipFill>
          <a:blip r:embed="rId4"/>
          <a:stretch>
            <a:fillRect/>
          </a:stretch>
        </p:blipFill>
        <p:spPr>
          <a:xfrm>
            <a:off x="358873" y="3355084"/>
            <a:ext cx="5562851" cy="3002048"/>
          </a:xfrm>
          <a:prstGeom prst="rect">
            <a:avLst/>
          </a:prstGeom>
        </p:spPr>
      </p:pic>
      <p:pic>
        <p:nvPicPr>
          <p:cNvPr id="7" name="Picture 6"/>
          <p:cNvPicPr>
            <a:picLocks noChangeAspect="1"/>
          </p:cNvPicPr>
          <p:nvPr/>
        </p:nvPicPr>
        <p:blipFill>
          <a:blip r:embed="rId5"/>
          <a:stretch>
            <a:fillRect/>
          </a:stretch>
        </p:blipFill>
        <p:spPr>
          <a:xfrm>
            <a:off x="6184829" y="4246560"/>
            <a:ext cx="3552825" cy="1200150"/>
          </a:xfrm>
          <a:prstGeom prst="rect">
            <a:avLst/>
          </a:prstGeom>
        </p:spPr>
      </p:pic>
      <p:sp>
        <p:nvSpPr>
          <p:cNvPr id="9" name="Rectangle 8"/>
          <p:cNvSpPr/>
          <p:nvPr/>
        </p:nvSpPr>
        <p:spPr>
          <a:xfrm>
            <a:off x="6184830" y="4225887"/>
            <a:ext cx="3552825" cy="120015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10" name="Rectangle 9"/>
          <p:cNvSpPr/>
          <p:nvPr/>
        </p:nvSpPr>
        <p:spPr>
          <a:xfrm>
            <a:off x="377845" y="3362557"/>
            <a:ext cx="5562851" cy="3002048"/>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0990312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742950" y="501651"/>
            <a:ext cx="8420100" cy="1470025"/>
          </a:xfrm>
        </p:spPr>
        <p:txBody>
          <a:bodyPr>
            <a:normAutofit/>
          </a:bodyPr>
          <a:lstStyle/>
          <a:p>
            <a:r>
              <a:rPr lang="en-ZA" sz="2400" b="1" dirty="0" smtClean="0">
                <a:solidFill>
                  <a:srgbClr val="A7853E"/>
                </a:solidFill>
                <a:latin typeface="Baskerville Old Face" charset="0"/>
                <a:cs typeface="+mj-cs"/>
              </a:rPr>
              <a:t/>
            </a:r>
            <a:br>
              <a:rPr lang="en-ZA" sz="2400" b="1" dirty="0" smtClean="0">
                <a:solidFill>
                  <a:srgbClr val="A7853E"/>
                </a:solidFill>
                <a:latin typeface="Baskerville Old Face" charset="0"/>
                <a:cs typeface="+mj-cs"/>
              </a:rPr>
            </a:br>
            <a:endParaRPr lang="en-ZA" sz="2400" b="1" dirty="0">
              <a:solidFill>
                <a:srgbClr val="A7853E"/>
              </a:solidFill>
              <a:latin typeface="Baskerville Old Face" charset="0"/>
              <a:cs typeface="+mj-cs"/>
            </a:endParaRPr>
          </a:p>
        </p:txBody>
      </p:sp>
      <p:sp>
        <p:nvSpPr>
          <p:cNvPr id="2" name="Rectangle 1"/>
          <p:cNvSpPr/>
          <p:nvPr/>
        </p:nvSpPr>
        <p:spPr>
          <a:xfrm>
            <a:off x="1186703" y="2719454"/>
            <a:ext cx="7532594" cy="1077218"/>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3200" b="0" i="0" u="none" strike="noStrike" kern="1200" cap="none" spc="0" normalizeH="0" baseline="0" noProof="0" dirty="0" smtClean="0">
                <a:ln>
                  <a:noFill/>
                </a:ln>
                <a:solidFill>
                  <a:prstClr val="white"/>
                </a:solidFill>
                <a:effectLst/>
                <a:uLnTx/>
                <a:uFillTx/>
                <a:latin typeface="Calibri"/>
                <a:ea typeface="+mn-ea"/>
                <a:cs typeface="+mn-cs"/>
              </a:rPr>
              <a:t>Study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3200" b="0" i="0" u="none" strike="noStrike" kern="1200" cap="none" spc="0" normalizeH="0" baseline="0" noProof="0" smtClean="0">
                <a:ln>
                  <a:noFill/>
                </a:ln>
                <a:solidFill>
                  <a:prstClr val="white"/>
                </a:solidFill>
                <a:effectLst/>
                <a:uLnTx/>
                <a:uFillTx/>
                <a:latin typeface="Calibri"/>
                <a:ea typeface="+mn-ea"/>
                <a:cs typeface="+mn-cs"/>
              </a:rPr>
              <a:t>Chapter 2 </a:t>
            </a:r>
            <a:endParaRPr kumimoji="0" lang="en-ZA" sz="3200" b="0" i="0" u="none" strike="noStrike" kern="1200" cap="none" spc="0" normalizeH="0" baseline="0" noProof="0" dirty="0" smtClean="0">
              <a:ln>
                <a:noFill/>
              </a:ln>
              <a:solidFill>
                <a:prstClr val="white"/>
              </a:solidFill>
              <a:effectLst/>
              <a:uLnTx/>
              <a:uFillTx/>
              <a:latin typeface="Calibri"/>
              <a:ea typeface="+mn-ea"/>
              <a:cs typeface="+mn-cs"/>
            </a:endParaRPr>
          </a:p>
        </p:txBody>
      </p:sp>
      <p:sp>
        <p:nvSpPr>
          <p:cNvPr id="4" name="TextBox 3"/>
          <p:cNvSpPr txBox="1"/>
          <p:nvPr/>
        </p:nvSpPr>
        <p:spPr>
          <a:xfrm>
            <a:off x="6702088" y="5220717"/>
            <a:ext cx="3024161" cy="1015663"/>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smtClean="0">
                <a:ln w="0"/>
                <a:solidFill>
                  <a:srgbClr val="EEECE1"/>
                </a:solidFill>
                <a:effectLst>
                  <a:innerShdw blurRad="63500" dist="50800" dir="13500000">
                    <a:srgbClr val="000000">
                      <a:alpha val="50000"/>
                    </a:srgbClr>
                  </a:innerShdw>
                </a:effectLst>
                <a:uLnTx/>
                <a:uFillTx/>
                <a:latin typeface="Calibri"/>
                <a:ea typeface="+mn-ea"/>
                <a:cs typeface="+mn-cs"/>
              </a:rPr>
              <a:t>Matthew Valentine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smtClean="0">
                <a:ln w="0"/>
                <a:solidFill>
                  <a:srgbClr val="EEECE1"/>
                </a:solidFill>
                <a:effectLst>
                  <a:innerShdw blurRad="63500" dist="50800" dir="13500000">
                    <a:srgbClr val="000000">
                      <a:alpha val="50000"/>
                    </a:srgbClr>
                  </a:innerShdw>
                </a:effectLst>
                <a:uLnTx/>
                <a:uFillTx/>
                <a:latin typeface="Calibri"/>
                <a:ea typeface="+mn-ea"/>
                <a:cs typeface="+mn-cs"/>
              </a:rPr>
              <a:t>Office: Tech Room Lab K2</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smtClean="0">
                <a:ln w="0"/>
                <a:solidFill>
                  <a:srgbClr val="EEECE1"/>
                </a:solidFill>
                <a:effectLst>
                  <a:innerShdw blurRad="63500" dist="50800" dir="13500000">
                    <a:srgbClr val="000000">
                      <a:alpha val="50000"/>
                    </a:srgbClr>
                  </a:innerShdw>
                </a:effectLst>
                <a:uLnTx/>
                <a:uFillTx/>
                <a:latin typeface="Calibri"/>
                <a:ea typeface="+mn-ea"/>
                <a:cs typeface="+mn-cs"/>
              </a:rPr>
              <a:t>Mvalentine@uwc.ac.za</a:t>
            </a:r>
            <a:endParaRPr kumimoji="0" lang="en-ZA" sz="18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endParaRPr>
          </a:p>
        </p:txBody>
      </p:sp>
    </p:spTree>
    <p:extLst>
      <p:ext uri="{BB962C8B-B14F-4D97-AF65-F5344CB8AC3E}">
        <p14:creationId xmlns:p14="http://schemas.microsoft.com/office/powerpoint/2010/main" val="214721587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6821</TotalTime>
  <Words>1617</Words>
  <Application>Microsoft Office PowerPoint</Application>
  <PresentationFormat>A4 Paper (210x297 mm)</PresentationFormat>
  <Paragraphs>220</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Avenir Next Cyr W04 Regular</vt:lpstr>
      <vt:lpstr>Baskerville Old Face</vt:lpstr>
      <vt:lpstr>Book Antiqua</vt:lpstr>
      <vt:lpstr>Calibri</vt:lpstr>
      <vt:lpstr>Courier New</vt:lpstr>
      <vt:lpstr>Office Theme</vt:lpstr>
      <vt:lpstr> </vt:lpstr>
      <vt:lpstr>PowerPoint Presentation</vt:lpstr>
      <vt:lpstr>Using the SAS data sets</vt:lpstr>
      <vt:lpstr>Importing a dataset into SAS</vt:lpstr>
      <vt:lpstr>Importing a dataset into SAS</vt:lpstr>
      <vt:lpstr>Understanding SAS data set Structure</vt:lpstr>
      <vt:lpstr>Rules for SAS variable Names</vt:lpstr>
      <vt:lpstr>SAS Naming Examples</vt:lpstr>
      <vt:lpstr>Understanding Three SAS variable Types</vt:lpstr>
      <vt:lpstr>Methods of reading data into SAS</vt:lpstr>
      <vt:lpstr>Reading data using Freeform List Input</vt:lpstr>
      <vt:lpstr>Advantages of Freeform List Input</vt:lpstr>
      <vt:lpstr>Reading data using the Compact Method</vt:lpstr>
      <vt:lpstr>Reading data using the Column Input</vt:lpstr>
      <vt:lpstr>Advantages of Column Input</vt:lpstr>
      <vt:lpstr>Reading data using Formatted Input</vt:lpstr>
      <vt:lpstr>Examples of SAS formats</vt:lpstr>
      <vt:lpstr>Reading external data using Infile statement</vt:lpstr>
      <vt:lpstr>Using Advanced INFILE statement options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NDorfling</dc:creator>
  <cp:lastModifiedBy>Matthew Valentine</cp:lastModifiedBy>
  <cp:revision>589</cp:revision>
  <dcterms:created xsi:type="dcterms:W3CDTF">2015-03-11T08:56:03Z</dcterms:created>
  <dcterms:modified xsi:type="dcterms:W3CDTF">2020-04-28T14:26:50Z</dcterms:modified>
</cp:coreProperties>
</file>