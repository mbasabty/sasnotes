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409" r:id="rId2"/>
    <p:sldId id="366" r:id="rId3"/>
    <p:sldId id="400" r:id="rId4"/>
    <p:sldId id="401" r:id="rId5"/>
    <p:sldId id="392" r:id="rId6"/>
    <p:sldId id="394" r:id="rId7"/>
    <p:sldId id="408" r:id="rId8"/>
    <p:sldId id="402" r:id="rId9"/>
    <p:sldId id="395" r:id="rId10"/>
    <p:sldId id="403" r:id="rId11"/>
    <p:sldId id="404" r:id="rId12"/>
    <p:sldId id="405" r:id="rId13"/>
    <p:sldId id="396" r:id="rId14"/>
    <p:sldId id="406" r:id="rId15"/>
    <p:sldId id="407" r:id="rId16"/>
    <p:sldId id="391" r:id="rId17"/>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409"/>
            <p14:sldId id="366"/>
            <p14:sldId id="400"/>
            <p14:sldId id="401"/>
            <p14:sldId id="392"/>
            <p14:sldId id="394"/>
            <p14:sldId id="408"/>
            <p14:sldId id="402"/>
            <p14:sldId id="395"/>
            <p14:sldId id="403"/>
            <p14:sldId id="404"/>
            <p14:sldId id="405"/>
            <p14:sldId id="396"/>
            <p14:sldId id="406"/>
            <p14:sldId id="407"/>
            <p14:sldId id="391"/>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85" autoAdjust="0"/>
    <p:restoredTop sz="92374" autoAdjust="0"/>
  </p:normalViewPr>
  <p:slideViewPr>
    <p:cSldViewPr snapToGrid="0" snapToObjects="1">
      <p:cViewPr varScale="1">
        <p:scale>
          <a:sx n="80" d="100"/>
          <a:sy n="80" d="100"/>
        </p:scale>
        <p:origin x="1627" y="53"/>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dirty="0"/>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11/25/2020</a:t>
            </a:fld>
            <a:endParaRPr lang="en-ZA" dirty="0"/>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dirty="0"/>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dirty="0"/>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dirty="0"/>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11/25/2020</a:t>
            </a:fld>
            <a:endParaRPr lang="en-US" dirty="0"/>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dirty="0"/>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dirty="0"/>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6626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a:t>
            </a:fld>
            <a:endParaRPr lang="en-US" dirty="0"/>
          </a:p>
        </p:txBody>
      </p:sp>
    </p:spTree>
    <p:extLst>
      <p:ext uri="{BB962C8B-B14F-4D97-AF65-F5344CB8AC3E}">
        <p14:creationId xmlns:p14="http://schemas.microsoft.com/office/powerpoint/2010/main" val="1207551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4413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2216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28947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493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3903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9503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23933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6790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0505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0751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74720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9506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7345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5538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11/25/2020</a:t>
            </a:fld>
            <a:endParaRPr lang="en-US" dirty="0"/>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dirty="0"/>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186703" y="2438151"/>
            <a:ext cx="7532594" cy="1200329"/>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4000" b="0" i="0" u="none" strike="noStrike" kern="1200" cap="none" spc="0" normalizeH="0" baseline="0" noProof="0" dirty="0">
                <a:ln>
                  <a:noFill/>
                </a:ln>
                <a:solidFill>
                  <a:prstClr val="white"/>
                </a:solidFill>
                <a:effectLst/>
                <a:uLnTx/>
                <a:uFillTx/>
                <a:latin typeface="Calibri"/>
                <a:ea typeface="+mn-ea"/>
                <a:cs typeface="+mn-cs"/>
              </a:rPr>
              <a:t>Lecture</a:t>
            </a:r>
            <a:r>
              <a:rPr kumimoji="0" lang="en-ZA" sz="3200" b="0" i="0" u="none" strike="noStrike" kern="1200" cap="none" spc="0" normalizeH="0" baseline="0" noProof="0" dirty="0">
                <a:ln>
                  <a:noFill/>
                </a:ln>
                <a:solidFill>
                  <a:prstClr val="white"/>
                </a:solidFill>
                <a:effectLst/>
                <a:uLnTx/>
                <a:uFillTx/>
                <a:latin typeface="Calibri"/>
                <a:ea typeface="+mn-ea"/>
                <a:cs typeface="+mn-cs"/>
              </a:rPr>
              <a:t> 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dirty="0">
                <a:ln>
                  <a:noFill/>
                </a:ln>
                <a:solidFill>
                  <a:prstClr val="white"/>
                </a:solidFill>
                <a:effectLst/>
                <a:uLnTx/>
                <a:uFillTx/>
                <a:latin typeface="Calibri"/>
                <a:ea typeface="+mn-ea"/>
                <a:cs typeface="+mn-cs"/>
              </a:rPr>
              <a:t>Getting Started</a:t>
            </a:r>
          </a:p>
        </p:txBody>
      </p:sp>
      <p:sp>
        <p:nvSpPr>
          <p:cNvPr id="4" name="TextBox 3"/>
          <p:cNvSpPr txBox="1"/>
          <p:nvPr/>
        </p:nvSpPr>
        <p:spPr>
          <a:xfrm>
            <a:off x="6702088" y="5220717"/>
            <a:ext cx="3024161" cy="101566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Matthew Valentine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Office: Tech Room Lab K2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mvalentine@uwc.ac.za</a:t>
            </a:r>
            <a:endParaRPr kumimoji="0" lang="en-ZA" sz="18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endParaRPr>
          </a:p>
        </p:txBody>
      </p:sp>
    </p:spTree>
    <p:extLst>
      <p:ext uri="{BB962C8B-B14F-4D97-AF65-F5344CB8AC3E}">
        <p14:creationId xmlns:p14="http://schemas.microsoft.com/office/powerpoint/2010/main" val="75467043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ZoneTexte 7"/>
          <p:cNvSpPr txBox="1"/>
          <p:nvPr/>
        </p:nvSpPr>
        <p:spPr>
          <a:xfrm>
            <a:off x="630770" y="1355285"/>
            <a:ext cx="7977753" cy="2031325"/>
          </a:xfrm>
          <a:prstGeom prst="rect">
            <a:avLst/>
          </a:prstGeom>
          <a:noFill/>
        </p:spPr>
        <p:txBody>
          <a:bodyPr wrap="square" rtlCol="0">
            <a:spAutoFit/>
          </a:bodyPr>
          <a:lstStyle/>
          <a:p>
            <a:pPr marL="742950" lvl="1" indent="-285750">
              <a:buFont typeface="Arial" panose="020B0604020202020204" pitchFamily="34" charset="0"/>
              <a:buChar char="•"/>
            </a:pPr>
            <a:r>
              <a:rPr lang="en-GB" dirty="0">
                <a:latin typeface="Book Antiqua" panose="02040602050305030304" pitchFamily="18" charset="0"/>
                <a:cs typeface="Book Antiqua"/>
              </a:rPr>
              <a:t>To be able to use the SAS Software program in a windows Environment</a:t>
            </a:r>
          </a:p>
          <a:p>
            <a:pPr lvl="1"/>
            <a:endParaRPr lang="en-GB" dirty="0">
              <a:latin typeface="Book Antiqua" panose="02040602050305030304" pitchFamily="18" charset="0"/>
              <a:cs typeface="Book Antiqua"/>
            </a:endParaRPr>
          </a:p>
          <a:p>
            <a:pPr marL="742950" lvl="1" indent="-285750">
              <a:buFont typeface="Arial" panose="020B0604020202020204" pitchFamily="34" charset="0"/>
              <a:buChar char="•"/>
            </a:pPr>
            <a:r>
              <a:rPr lang="en-GB" dirty="0">
                <a:latin typeface="Book Antiqua" panose="02040602050305030304" pitchFamily="18" charset="0"/>
                <a:cs typeface="Book Antiqua"/>
              </a:rPr>
              <a:t>To understand basic information about getting data into SAS and running a SAS Program</a:t>
            </a:r>
          </a:p>
          <a:p>
            <a:pPr lvl="1"/>
            <a:endParaRPr lang="en-GB" dirty="0">
              <a:latin typeface="Book Antiqua" panose="02040602050305030304" pitchFamily="18" charset="0"/>
              <a:cs typeface="Book Antiqua"/>
            </a:endParaRPr>
          </a:p>
          <a:p>
            <a:pPr marL="742950" lvl="1" indent="-285750">
              <a:buFont typeface="Arial" panose="020B0604020202020204" pitchFamily="34" charset="0"/>
              <a:buChar char="•"/>
            </a:pPr>
            <a:r>
              <a:rPr lang="en-GB" dirty="0">
                <a:latin typeface="Book Antiqua" panose="02040602050305030304" pitchFamily="18" charset="0"/>
                <a:cs typeface="Book Antiqua"/>
              </a:rPr>
              <a:t>To be able to run a simple SAS program</a:t>
            </a:r>
          </a:p>
        </p:txBody>
      </p:sp>
      <p:sp>
        <p:nvSpPr>
          <p:cNvPr id="5" name="ZoneTexte 10"/>
          <p:cNvSpPr txBox="1"/>
          <p:nvPr/>
        </p:nvSpPr>
        <p:spPr>
          <a:xfrm>
            <a:off x="1613222" y="523443"/>
            <a:ext cx="6012848" cy="400110"/>
          </a:xfrm>
          <a:prstGeom prst="rect">
            <a:avLst/>
          </a:prstGeom>
          <a:noFill/>
        </p:spPr>
        <p:txBody>
          <a:bodyPr wrap="square" rtlCol="0">
            <a:spAutoFit/>
          </a:bodyPr>
          <a:lstStyle/>
          <a:p>
            <a:pPr algn="ctr"/>
            <a:r>
              <a:rPr lang="en-GB" sz="2000" b="1" cap="small" dirty="0">
                <a:solidFill>
                  <a:srgbClr val="342E2B"/>
                </a:solidFill>
                <a:latin typeface="Book Antiqua"/>
                <a:cs typeface="Book Antiqua"/>
              </a:rPr>
              <a:t>Learning objectives</a:t>
            </a:r>
          </a:p>
        </p:txBody>
      </p:sp>
    </p:spTree>
    <p:extLst>
      <p:ext uri="{BB962C8B-B14F-4D97-AF65-F5344CB8AC3E}">
        <p14:creationId xmlns:p14="http://schemas.microsoft.com/office/powerpoint/2010/main" val="254137014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ZoneTexte 7"/>
          <p:cNvSpPr txBox="1"/>
          <p:nvPr/>
        </p:nvSpPr>
        <p:spPr>
          <a:xfrm>
            <a:off x="630770" y="1165504"/>
            <a:ext cx="7977753" cy="4247317"/>
          </a:xfrm>
          <a:prstGeom prst="rect">
            <a:avLst/>
          </a:prstGeom>
          <a:noFill/>
        </p:spPr>
        <p:txBody>
          <a:bodyPr wrap="square" rtlCol="0">
            <a:spAutoFit/>
          </a:bodyPr>
          <a:lstStyle/>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SAS system is a powerful software</a:t>
            </a:r>
            <a:r>
              <a:rPr kumimoji="0" lang="en-GB" sz="18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program designed to give researchers a wide variety of both data management and data analysis capabilities.</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solidFill>
                  <a:prstClr val="black"/>
                </a:solidFill>
                <a:latin typeface="Book Antiqua" panose="02040602050305030304" pitchFamily="18" charset="0"/>
                <a:cs typeface="Book Antiqua"/>
              </a:rPr>
              <a:t>The</a:t>
            </a:r>
            <a:r>
              <a:rPr lang="en-GB" dirty="0">
                <a:solidFill>
                  <a:prstClr val="black"/>
                </a:solidFill>
                <a:latin typeface="Book Antiqua" panose="02040602050305030304" pitchFamily="18" charset="0"/>
                <a:cs typeface="Book Antiqua"/>
              </a:rPr>
              <a:t> two main concepts in learning SAS are the following;</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Book Antiqua" panose="02040602050305030304" pitchFamily="18" charset="0"/>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How</a:t>
            </a:r>
            <a:r>
              <a:rPr kumimoji="0" lang="en-GB"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to get data into SAS and ready for analysis.</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solidFill>
                  <a:prstClr val="black"/>
                </a:solidFill>
                <a:latin typeface="Book Antiqua" panose="02040602050305030304" pitchFamily="18" charset="0"/>
                <a:cs typeface="Book Antiqua"/>
              </a:rPr>
              <a:t>How</a:t>
            </a:r>
            <a:r>
              <a:rPr lang="en-GB" dirty="0">
                <a:solidFill>
                  <a:prstClr val="black"/>
                </a:solidFill>
                <a:latin typeface="Book Antiqua" panose="02040602050305030304" pitchFamily="18" charset="0"/>
                <a:cs typeface="Book Antiqua"/>
              </a:rPr>
              <a:t> to perform the desired data analysis.</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Book Antiqua" panose="02040602050305030304" pitchFamily="18" charset="0"/>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solidFill>
                  <a:prstClr val="black"/>
                </a:solidFill>
                <a:latin typeface="Book Antiqua" panose="02040602050305030304" pitchFamily="18" charset="0"/>
                <a:cs typeface="Book Antiqua"/>
              </a:rPr>
              <a:t>Employment</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Book Antiqua" panose="02040602050305030304" pitchFamily="18" charset="0"/>
              <a:cs typeface="Book Antiqua"/>
            </a:endParaRPr>
          </a:p>
          <a:p>
            <a:pPr marL="742950" lvl="1" indent="-285750" algn="just">
              <a:buFont typeface="Arial" panose="020B0604020202020204" pitchFamily="34" charset="0"/>
              <a:buChar char="•"/>
            </a:pPr>
            <a:r>
              <a:rPr lang="en-GB" dirty="0">
                <a:solidFill>
                  <a:prstClr val="black"/>
                </a:solidFill>
                <a:latin typeface="Book Antiqua" panose="02040602050305030304" pitchFamily="18" charset="0"/>
                <a:cs typeface="Book Antiqua"/>
              </a:rPr>
              <a:t>Most companies in todays 4</a:t>
            </a:r>
            <a:r>
              <a:rPr lang="en-GB" baseline="30000" dirty="0">
                <a:solidFill>
                  <a:prstClr val="black"/>
                </a:solidFill>
                <a:latin typeface="Book Antiqua" panose="02040602050305030304" pitchFamily="18" charset="0"/>
                <a:cs typeface="Book Antiqua"/>
              </a:rPr>
              <a:t>th</a:t>
            </a:r>
            <a:r>
              <a:rPr lang="en-GB" dirty="0">
                <a:solidFill>
                  <a:prstClr val="black"/>
                </a:solidFill>
                <a:latin typeface="Book Antiqua" panose="02040602050305030304" pitchFamily="18" charset="0"/>
                <a:cs typeface="Book Antiqua"/>
              </a:rPr>
              <a:t> industrial revolution require you to have coding skill in the following namely; (SAS®, R, Python, SQL and Excel VBA)</a:t>
            </a:r>
          </a:p>
          <a:p>
            <a:pPr marL="742950" lvl="1" indent="-285750" algn="just">
              <a:buFont typeface="Arial" panose="020B0604020202020204" pitchFamily="34" charset="0"/>
              <a:buChar char="•"/>
            </a:pPr>
            <a:r>
              <a:rPr lang="en-GB" dirty="0">
                <a:solidFill>
                  <a:prstClr val="black"/>
                </a:solidFill>
                <a:latin typeface="Book Antiqua" panose="02040602050305030304" pitchFamily="18" charset="0"/>
                <a:cs typeface="Book Antiqua"/>
              </a:rPr>
              <a:t>SAS is one of the leading analytical software suppliers to </a:t>
            </a:r>
          </a:p>
        </p:txBody>
      </p:sp>
      <p:sp>
        <p:nvSpPr>
          <p:cNvPr id="5" name="ZoneTexte 10"/>
          <p:cNvSpPr txBox="1"/>
          <p:nvPr/>
        </p:nvSpPr>
        <p:spPr>
          <a:xfrm>
            <a:off x="1613222" y="523443"/>
            <a:ext cx="6012848" cy="400110"/>
          </a:xfrm>
          <a:prstGeom prst="rect">
            <a:avLst/>
          </a:prstGeom>
          <a:noFill/>
        </p:spPr>
        <p:txBody>
          <a:bodyPr wrap="square" rtlCol="0">
            <a:spAutoFit/>
          </a:bodyPr>
          <a:lstStyle/>
          <a:p>
            <a:pPr lvl="0" algn="ctr"/>
            <a:r>
              <a:rPr lang="en-GB" sz="2000" b="1" cap="small" dirty="0">
                <a:solidFill>
                  <a:srgbClr val="342E2B"/>
                </a:solidFill>
                <a:latin typeface="Book Antiqua"/>
                <a:cs typeface="Book Antiqua"/>
              </a:rPr>
              <a:t>Why SAS®?</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Tree>
    <p:extLst>
      <p:ext uri="{BB962C8B-B14F-4D97-AF65-F5344CB8AC3E}">
        <p14:creationId xmlns:p14="http://schemas.microsoft.com/office/powerpoint/2010/main" val="223928145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ZoneTexte 7"/>
          <p:cNvSpPr txBox="1"/>
          <p:nvPr/>
        </p:nvSpPr>
        <p:spPr>
          <a:xfrm>
            <a:off x="-193492" y="991825"/>
            <a:ext cx="9008308" cy="1200329"/>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SAS runs on many other operating systems such as; UNIX, MAC OS x, Linux and Windows.</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The book we will be using is based on Windows Environment.</a:t>
            </a:r>
          </a:p>
        </p:txBody>
      </p:sp>
      <p:sp>
        <p:nvSpPr>
          <p:cNvPr id="5" name="ZoneTexte 10"/>
          <p:cNvSpPr txBox="1"/>
          <p:nvPr/>
        </p:nvSpPr>
        <p:spPr>
          <a:xfrm>
            <a:off x="1613222"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Using SAS in a Windows Environment</a:t>
            </a:r>
          </a:p>
        </p:txBody>
      </p:sp>
      <p:pic>
        <p:nvPicPr>
          <p:cNvPr id="2" name="Picture 1"/>
          <p:cNvPicPr>
            <a:picLocks noChangeAspect="1"/>
          </p:cNvPicPr>
          <p:nvPr/>
        </p:nvPicPr>
        <p:blipFill>
          <a:blip r:embed="rId4"/>
          <a:stretch>
            <a:fillRect/>
          </a:stretch>
        </p:blipFill>
        <p:spPr>
          <a:xfrm>
            <a:off x="548640" y="2192154"/>
            <a:ext cx="8400288" cy="4250485"/>
          </a:xfrm>
          <a:prstGeom prst="rect">
            <a:avLst/>
          </a:prstGeom>
        </p:spPr>
      </p:pic>
      <p:sp>
        <p:nvSpPr>
          <p:cNvPr id="7" name="Rectangle 6"/>
          <p:cNvSpPr/>
          <p:nvPr/>
        </p:nvSpPr>
        <p:spPr>
          <a:xfrm>
            <a:off x="548640" y="2192154"/>
            <a:ext cx="8400288" cy="425048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174703635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523443"/>
            <a:ext cx="6012848"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Using</a:t>
            </a:r>
            <a:r>
              <a:rPr kumimoji="0" lang="en-GB" sz="2000" b="1" i="0" u="none" strike="noStrike" kern="1200" cap="small" spc="0" normalizeH="0" noProof="0" dirty="0">
                <a:ln>
                  <a:noFill/>
                </a:ln>
                <a:solidFill>
                  <a:srgbClr val="342E2B"/>
                </a:solidFill>
                <a:effectLst/>
                <a:uLnTx/>
                <a:uFillTx/>
                <a:latin typeface="Book Antiqua"/>
                <a:ea typeface="+mn-ea"/>
                <a:cs typeface="Book Antiqua"/>
              </a:rPr>
              <a:t> and understanding SAS in a windows Environment</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pic>
        <p:nvPicPr>
          <p:cNvPr id="3" name="Picture 2"/>
          <p:cNvPicPr>
            <a:picLocks noChangeAspect="1"/>
          </p:cNvPicPr>
          <p:nvPr/>
        </p:nvPicPr>
        <p:blipFill>
          <a:blip r:embed="rId4"/>
          <a:stretch>
            <a:fillRect/>
          </a:stretch>
        </p:blipFill>
        <p:spPr>
          <a:xfrm>
            <a:off x="3192725" y="2110154"/>
            <a:ext cx="6440628" cy="4093990"/>
          </a:xfrm>
          <a:prstGeom prst="rect">
            <a:avLst/>
          </a:prstGeom>
        </p:spPr>
      </p:pic>
      <p:sp>
        <p:nvSpPr>
          <p:cNvPr id="7" name="ZoneTexte 7"/>
          <p:cNvSpPr txBox="1"/>
          <p:nvPr/>
        </p:nvSpPr>
        <p:spPr>
          <a:xfrm>
            <a:off x="2923804" y="1231329"/>
            <a:ext cx="4702265" cy="646331"/>
          </a:xfrm>
          <a:prstGeom prst="rect">
            <a:avLst/>
          </a:prstGeom>
          <a:noFill/>
        </p:spPr>
        <p:txBody>
          <a:bodyPr wrap="square" rtlCol="0">
            <a:spAutoFit/>
          </a:bodyPr>
          <a:lstStyle/>
          <a:p>
            <a:pPr lvl="1">
              <a:lnSpc>
                <a:spcPct val="200000"/>
              </a:lnSpc>
            </a:pPr>
            <a:r>
              <a:rPr lang="en-GB" b="1" dirty="0">
                <a:latin typeface="Book Antiqua"/>
                <a:cs typeface="Book Antiqua"/>
              </a:rPr>
              <a:t>SAS Studio (University Edition)</a:t>
            </a:r>
          </a:p>
        </p:txBody>
      </p:sp>
      <p:cxnSp>
        <p:nvCxnSpPr>
          <p:cNvPr id="6" name="Straight Arrow Connector 5"/>
          <p:cNvCxnSpPr/>
          <p:nvPr/>
        </p:nvCxnSpPr>
        <p:spPr>
          <a:xfrm flipV="1">
            <a:off x="1955409" y="2660114"/>
            <a:ext cx="3782239" cy="10996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2067951" y="3438144"/>
            <a:ext cx="1809105" cy="871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1955409" y="2660114"/>
            <a:ext cx="3343796" cy="3925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1955409" y="2660114"/>
            <a:ext cx="4192174" cy="19606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6610" y="3570884"/>
            <a:ext cx="1575581" cy="369332"/>
          </a:xfrm>
          <a:prstGeom prst="rect">
            <a:avLst/>
          </a:prstGeom>
          <a:noFill/>
        </p:spPr>
        <p:txBody>
          <a:bodyPr wrap="square" rtlCol="0">
            <a:spAutoFit/>
          </a:bodyPr>
          <a:lstStyle/>
          <a:p>
            <a:r>
              <a:rPr lang="en-GB" dirty="0">
                <a:solidFill>
                  <a:prstClr val="black"/>
                </a:solidFill>
                <a:latin typeface="Book Antiqua" panose="02040602050305030304" pitchFamily="18" charset="0"/>
                <a:cs typeface="Book Antiqua"/>
              </a:rPr>
              <a:t>Log Window</a:t>
            </a:r>
            <a:endParaRPr lang="en-ZA" dirty="0"/>
          </a:p>
        </p:txBody>
      </p:sp>
      <p:sp>
        <p:nvSpPr>
          <p:cNvPr id="22" name="TextBox 21"/>
          <p:cNvSpPr txBox="1"/>
          <p:nvPr/>
        </p:nvSpPr>
        <p:spPr>
          <a:xfrm>
            <a:off x="126610" y="2930833"/>
            <a:ext cx="1941341" cy="369332"/>
          </a:xfrm>
          <a:prstGeom prst="rect">
            <a:avLst/>
          </a:prstGeom>
          <a:noFill/>
        </p:spPr>
        <p:txBody>
          <a:bodyPr wrap="square" rtlCol="0">
            <a:spAutoFit/>
          </a:bodyPr>
          <a:lstStyle/>
          <a:p>
            <a:r>
              <a:rPr lang="en-ZA" dirty="0">
                <a:latin typeface="Book Antiqua" panose="02040602050305030304" pitchFamily="18" charset="0"/>
              </a:rPr>
              <a:t>Editor Window</a:t>
            </a:r>
          </a:p>
        </p:txBody>
      </p:sp>
      <p:sp>
        <p:nvSpPr>
          <p:cNvPr id="23" name="TextBox 22"/>
          <p:cNvSpPr txBox="1"/>
          <p:nvPr/>
        </p:nvSpPr>
        <p:spPr>
          <a:xfrm>
            <a:off x="126610" y="4164614"/>
            <a:ext cx="1941341" cy="646331"/>
          </a:xfrm>
          <a:prstGeom prst="rect">
            <a:avLst/>
          </a:prstGeom>
          <a:noFill/>
        </p:spPr>
        <p:txBody>
          <a:bodyPr wrap="square" rtlCol="0">
            <a:spAutoFit/>
          </a:bodyPr>
          <a:lstStyle/>
          <a:p>
            <a:r>
              <a:rPr lang="en-ZA" dirty="0">
                <a:latin typeface="Book Antiqua" panose="02040602050305030304" pitchFamily="18" charset="0"/>
              </a:rPr>
              <a:t>SAS Explorer/ Results Window</a:t>
            </a:r>
          </a:p>
        </p:txBody>
      </p:sp>
      <p:sp>
        <p:nvSpPr>
          <p:cNvPr id="24" name="TextBox 23"/>
          <p:cNvSpPr txBox="1"/>
          <p:nvPr/>
        </p:nvSpPr>
        <p:spPr>
          <a:xfrm>
            <a:off x="126609" y="4949822"/>
            <a:ext cx="1941341" cy="646331"/>
          </a:xfrm>
          <a:prstGeom prst="rect">
            <a:avLst/>
          </a:prstGeom>
          <a:noFill/>
        </p:spPr>
        <p:txBody>
          <a:bodyPr wrap="square" rtlCol="0">
            <a:spAutoFit/>
          </a:bodyPr>
          <a:lstStyle/>
          <a:p>
            <a:r>
              <a:rPr lang="en-ZA" dirty="0">
                <a:latin typeface="Book Antiqua" panose="02040602050305030304" pitchFamily="18" charset="0"/>
              </a:rPr>
              <a:t>Tab for Output Window</a:t>
            </a:r>
          </a:p>
        </p:txBody>
      </p:sp>
      <p:cxnSp>
        <p:nvCxnSpPr>
          <p:cNvPr id="15" name="Straight Arrow Connector 14"/>
          <p:cNvCxnSpPr/>
          <p:nvPr/>
        </p:nvCxnSpPr>
        <p:spPr>
          <a:xfrm flipV="1">
            <a:off x="1937226" y="4481474"/>
            <a:ext cx="5060982" cy="6634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16391" y="3873957"/>
            <a:ext cx="2635145" cy="1200329"/>
          </a:xfrm>
          <a:prstGeom prst="rect">
            <a:avLst/>
          </a:prstGeom>
          <a:noFill/>
        </p:spPr>
        <p:txBody>
          <a:bodyPr wrap="square" rtlCol="0">
            <a:spAutoFit/>
          </a:bodyPr>
          <a:lstStyle/>
          <a:p>
            <a:r>
              <a:rPr lang="en-ZA" dirty="0">
                <a:latin typeface="Book Antiqua" panose="02040602050305030304" pitchFamily="18" charset="0"/>
              </a:rPr>
              <a:t>The output window will appear once you run SAS program code within the Editor.</a:t>
            </a:r>
          </a:p>
        </p:txBody>
      </p:sp>
      <p:sp>
        <p:nvSpPr>
          <p:cNvPr id="14" name="Rectangle 13"/>
          <p:cNvSpPr/>
          <p:nvPr/>
        </p:nvSpPr>
        <p:spPr>
          <a:xfrm>
            <a:off x="3192725" y="2110154"/>
            <a:ext cx="6440628" cy="409399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66309779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523443"/>
            <a:ext cx="6012848"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Using and understanding SAS in a windows Environment</a:t>
            </a:r>
          </a:p>
        </p:txBody>
      </p:sp>
      <p:sp>
        <p:nvSpPr>
          <p:cNvPr id="8" name="ZoneTexte 7"/>
          <p:cNvSpPr txBox="1"/>
          <p:nvPr/>
        </p:nvSpPr>
        <p:spPr>
          <a:xfrm>
            <a:off x="0" y="1580490"/>
            <a:ext cx="4788619" cy="2308324"/>
          </a:xfrm>
          <a:prstGeom prst="rect">
            <a:avLst/>
          </a:prstGeom>
          <a:noFill/>
        </p:spPr>
        <p:txBody>
          <a:bodyPr wrap="square" rtlCol="0">
            <a:spAutoFit/>
          </a:bodyPr>
          <a:lstStyle/>
          <a:p>
            <a:pPr lvl="1" algn="just">
              <a:lnSpc>
                <a:spcPct val="200000"/>
              </a:lnSpc>
            </a:pPr>
            <a:r>
              <a:rPr lang="en-GB" sz="1200" b="1" u="sng" dirty="0">
                <a:latin typeface="Book Antiqua"/>
                <a:cs typeface="Book Antiqua"/>
              </a:rPr>
              <a:t>Editor: </a:t>
            </a:r>
            <a:r>
              <a:rPr lang="en-GB" sz="1200" dirty="0">
                <a:latin typeface="Book Antiqua"/>
                <a:cs typeface="Book Antiqua"/>
              </a:rPr>
              <a:t>“Enhanced Editor Window”. This is the area in which SAS code will be written. SAS code is stored in a text called “American Standard Code for Information Interchange” – ASCII. This means that previously written code can be saved in any word processor and pasted in SAS’s Editor Window with ease.</a:t>
            </a:r>
          </a:p>
        </p:txBody>
      </p:sp>
      <p:sp>
        <p:nvSpPr>
          <p:cNvPr id="9" name="ZoneTexte 7"/>
          <p:cNvSpPr txBox="1"/>
          <p:nvPr/>
        </p:nvSpPr>
        <p:spPr>
          <a:xfrm>
            <a:off x="3248685" y="1097787"/>
            <a:ext cx="7977753" cy="464423"/>
          </a:xfrm>
          <a:prstGeom prst="rect">
            <a:avLst/>
          </a:prstGeom>
          <a:noFill/>
        </p:spPr>
        <p:txBody>
          <a:bodyPr wrap="square" rtlCol="0">
            <a:spAutoFit/>
          </a:bodyPr>
          <a:lstStyle/>
          <a:p>
            <a:pPr lvl="1">
              <a:lnSpc>
                <a:spcPct val="200000"/>
              </a:lnSpc>
            </a:pPr>
            <a:r>
              <a:rPr lang="en-GB" sz="1400" b="1" dirty="0">
                <a:latin typeface="Book Antiqua"/>
                <a:cs typeface="Book Antiqua"/>
              </a:rPr>
              <a:t>The purposes of  these windows:</a:t>
            </a:r>
          </a:p>
        </p:txBody>
      </p:sp>
      <p:sp>
        <p:nvSpPr>
          <p:cNvPr id="10" name="ZoneTexte 7"/>
          <p:cNvSpPr txBox="1"/>
          <p:nvPr/>
        </p:nvSpPr>
        <p:spPr>
          <a:xfrm>
            <a:off x="4619646" y="1538377"/>
            <a:ext cx="4921169" cy="2308324"/>
          </a:xfrm>
          <a:prstGeom prst="rect">
            <a:avLst/>
          </a:prstGeom>
          <a:noFill/>
        </p:spPr>
        <p:txBody>
          <a:bodyPr wrap="square" rtlCol="0">
            <a:spAutoFit/>
          </a:bodyPr>
          <a:lstStyle/>
          <a:p>
            <a:pPr lvl="1" algn="just">
              <a:lnSpc>
                <a:spcPct val="200000"/>
              </a:lnSpc>
            </a:pPr>
            <a:r>
              <a:rPr lang="en-GB" sz="1200" b="1" u="sng" dirty="0">
                <a:latin typeface="Book Antiqua"/>
                <a:cs typeface="Book Antiqua"/>
              </a:rPr>
              <a:t>Log: </a:t>
            </a:r>
            <a:r>
              <a:rPr lang="en-GB" sz="1200" dirty="0">
                <a:latin typeface="Book Antiqua"/>
                <a:cs typeface="Book Antiqua"/>
              </a:rPr>
              <a:t>After you have ran a SAS Program, a detailed explanation of the program will be shown in the Log Window. The Log Window is also a handy tool to understand what SAS Program code Errors you have made. The Log Window also contains, warning and Notes about the SAS Program code you have ran. Typically, the errors will be highlighted in red.</a:t>
            </a:r>
          </a:p>
        </p:txBody>
      </p:sp>
      <p:sp>
        <p:nvSpPr>
          <p:cNvPr id="2" name="Rectangle 1"/>
          <p:cNvSpPr/>
          <p:nvPr/>
        </p:nvSpPr>
        <p:spPr>
          <a:xfrm>
            <a:off x="4934308" y="1629440"/>
            <a:ext cx="4606506" cy="221726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2" name="Rectangle 11"/>
          <p:cNvSpPr/>
          <p:nvPr/>
        </p:nvSpPr>
        <p:spPr>
          <a:xfrm>
            <a:off x="386449" y="1629440"/>
            <a:ext cx="4547860" cy="221726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3" name="ZoneTexte 7"/>
          <p:cNvSpPr txBox="1"/>
          <p:nvPr/>
        </p:nvSpPr>
        <p:spPr>
          <a:xfrm>
            <a:off x="0" y="3828422"/>
            <a:ext cx="4788619" cy="1938992"/>
          </a:xfrm>
          <a:prstGeom prst="rect">
            <a:avLst/>
          </a:prstGeom>
          <a:noFill/>
        </p:spPr>
        <p:txBody>
          <a:bodyPr wrap="square" rtlCol="0">
            <a:spAutoFit/>
          </a:bodyPr>
          <a:lstStyle/>
          <a:p>
            <a:pPr lvl="1" algn="just">
              <a:lnSpc>
                <a:spcPct val="200000"/>
              </a:lnSpc>
            </a:pPr>
            <a:r>
              <a:rPr lang="en-GB" sz="1200" b="1" u="sng" dirty="0">
                <a:latin typeface="Book Antiqua"/>
                <a:cs typeface="Book Antiqua"/>
              </a:rPr>
              <a:t>SAS Explorer/Results: </a:t>
            </a:r>
            <a:r>
              <a:rPr lang="en-GB" sz="1200" dirty="0">
                <a:latin typeface="Book Antiqua"/>
                <a:cs typeface="Book Antiqua"/>
              </a:rPr>
              <a:t>This Window is shown on the left of the screen and contains to Tabs. The results window shows all you SAS Program code that you have run in a tree-like fashion. The Explorer tab indicates the available libraries as well as shows which SAS data files are kept.</a:t>
            </a:r>
          </a:p>
        </p:txBody>
      </p:sp>
      <p:sp>
        <p:nvSpPr>
          <p:cNvPr id="14" name="Rectangle 13"/>
          <p:cNvSpPr/>
          <p:nvPr/>
        </p:nvSpPr>
        <p:spPr>
          <a:xfrm>
            <a:off x="386447" y="3846702"/>
            <a:ext cx="4547860" cy="206901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5" name="ZoneTexte 7"/>
          <p:cNvSpPr txBox="1"/>
          <p:nvPr/>
        </p:nvSpPr>
        <p:spPr>
          <a:xfrm>
            <a:off x="4624799" y="3754464"/>
            <a:ext cx="4929154" cy="1200329"/>
          </a:xfrm>
          <a:prstGeom prst="rect">
            <a:avLst/>
          </a:prstGeom>
          <a:noFill/>
        </p:spPr>
        <p:txBody>
          <a:bodyPr wrap="square" rtlCol="0">
            <a:spAutoFit/>
          </a:bodyPr>
          <a:lstStyle/>
          <a:p>
            <a:pPr lvl="1" algn="just">
              <a:lnSpc>
                <a:spcPct val="200000"/>
              </a:lnSpc>
            </a:pPr>
            <a:r>
              <a:rPr lang="en-GB" sz="1200" b="1" u="sng" dirty="0">
                <a:latin typeface="Book Antiqua"/>
                <a:cs typeface="Book Antiqua"/>
              </a:rPr>
              <a:t>Output: </a:t>
            </a:r>
            <a:r>
              <a:rPr lang="en-GB" sz="1200" dirty="0">
                <a:latin typeface="Book Antiqua"/>
                <a:cs typeface="Book Antiqua"/>
              </a:rPr>
              <a:t>Once you have ran your SAS Program Code in order to perform your analysis. The Output Window displays all your results pertaining to the Code that you have ran. </a:t>
            </a:r>
          </a:p>
        </p:txBody>
      </p:sp>
      <p:sp>
        <p:nvSpPr>
          <p:cNvPr id="16" name="Rectangle 15"/>
          <p:cNvSpPr/>
          <p:nvPr/>
        </p:nvSpPr>
        <p:spPr>
          <a:xfrm>
            <a:off x="4934308" y="3842120"/>
            <a:ext cx="4606505" cy="107493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7" name="ZoneTexte 7"/>
          <p:cNvSpPr txBox="1"/>
          <p:nvPr/>
        </p:nvSpPr>
        <p:spPr>
          <a:xfrm>
            <a:off x="4611659" y="4778329"/>
            <a:ext cx="4929154" cy="1200329"/>
          </a:xfrm>
          <a:prstGeom prst="rect">
            <a:avLst/>
          </a:prstGeom>
          <a:noFill/>
        </p:spPr>
        <p:txBody>
          <a:bodyPr wrap="square" rtlCol="0">
            <a:spAutoFit/>
          </a:bodyPr>
          <a:lstStyle/>
          <a:p>
            <a:pPr lvl="1" algn="just">
              <a:lnSpc>
                <a:spcPct val="200000"/>
              </a:lnSpc>
            </a:pPr>
            <a:r>
              <a:rPr lang="en-GB" sz="1200" b="1" u="sng" dirty="0">
                <a:latin typeface="Book Antiqua"/>
                <a:cs typeface="Book Antiqua"/>
              </a:rPr>
              <a:t>Graph: </a:t>
            </a:r>
            <a:r>
              <a:rPr lang="en-GB" sz="1200" dirty="0">
                <a:latin typeface="Book Antiqua"/>
                <a:cs typeface="Book Antiqua"/>
              </a:rPr>
              <a:t>When SAS Program Code has been run, and the set Analysis has indicated the needs for graphs. It will be displayed, usually be default.</a:t>
            </a:r>
          </a:p>
        </p:txBody>
      </p:sp>
      <p:sp>
        <p:nvSpPr>
          <p:cNvPr id="18" name="Rectangle 17"/>
          <p:cNvSpPr/>
          <p:nvPr/>
        </p:nvSpPr>
        <p:spPr>
          <a:xfrm>
            <a:off x="4934307" y="4917057"/>
            <a:ext cx="4606505" cy="99865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69093734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152506"/>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Using SAS in a Windows Environment</a:t>
            </a:r>
          </a:p>
        </p:txBody>
      </p:sp>
      <p:pic>
        <p:nvPicPr>
          <p:cNvPr id="3" name="Picture 2"/>
          <p:cNvPicPr>
            <a:picLocks noChangeAspect="1"/>
          </p:cNvPicPr>
          <p:nvPr/>
        </p:nvPicPr>
        <p:blipFill>
          <a:blip r:embed="rId4"/>
          <a:stretch>
            <a:fillRect/>
          </a:stretch>
        </p:blipFill>
        <p:spPr>
          <a:xfrm>
            <a:off x="463377" y="1614095"/>
            <a:ext cx="3783091" cy="3197123"/>
          </a:xfrm>
          <a:prstGeom prst="rect">
            <a:avLst/>
          </a:prstGeom>
        </p:spPr>
      </p:pic>
      <p:sp>
        <p:nvSpPr>
          <p:cNvPr id="8" name="ZoneTexte 7"/>
          <p:cNvSpPr txBox="1"/>
          <p:nvPr/>
        </p:nvSpPr>
        <p:spPr>
          <a:xfrm>
            <a:off x="-193492" y="592031"/>
            <a:ext cx="9008308" cy="1015663"/>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5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To</a:t>
            </a:r>
            <a:r>
              <a:rPr kumimoji="0" lang="en-GB" sz="15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create a folder to store our SAS Program Data, the following will be done; Click on “My Folders” - &gt; “New” - &gt; “Folder” - &gt; “Name” – “</a:t>
            </a:r>
            <a:r>
              <a:rPr lang="en-GB" sz="1500" dirty="0">
                <a:solidFill>
                  <a:prstClr val="black"/>
                </a:solidFill>
                <a:latin typeface="Book Antiqua" panose="02040602050305030304" pitchFamily="18" charset="0"/>
                <a:cs typeface="Book Antiqua"/>
              </a:rPr>
              <a:t>Chapter 1</a:t>
            </a:r>
            <a:r>
              <a:rPr kumimoji="0" lang="en-GB" sz="15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 Getting Started” -&gt; “Save”</a:t>
            </a:r>
          </a:p>
          <a:p>
            <a:pPr marL="742950" lvl="1" indent="-285750">
              <a:buFont typeface="Arial" panose="020B0604020202020204" pitchFamily="34" charset="0"/>
              <a:buChar char="•"/>
              <a:defRPr/>
            </a:pPr>
            <a:r>
              <a:rPr lang="en-GB" sz="1500" baseline="0" dirty="0">
                <a:solidFill>
                  <a:prstClr val="black"/>
                </a:solidFill>
                <a:latin typeface="Book Antiqua" panose="02040602050305030304" pitchFamily="18" charset="0"/>
                <a:cs typeface="Book Antiqua"/>
              </a:rPr>
              <a:t>To Upload the</a:t>
            </a:r>
            <a:r>
              <a:rPr lang="en-GB" sz="1500" dirty="0">
                <a:solidFill>
                  <a:prstClr val="black"/>
                </a:solidFill>
                <a:latin typeface="Book Antiqua" panose="02040602050305030304" pitchFamily="18" charset="0"/>
                <a:cs typeface="Book Antiqua"/>
              </a:rPr>
              <a:t> SAS Program Data, the following will be done; Click on “Lecture 1 – Getting Started” -&gt;  “Upload Files” -&gt; “Choose Files” -&gt; “Upload”</a:t>
            </a:r>
            <a:endParaRPr kumimoji="0" lang="en-GB" sz="15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p:txBody>
      </p:sp>
      <p:pic>
        <p:nvPicPr>
          <p:cNvPr id="6" name="Picture 5"/>
          <p:cNvPicPr>
            <a:picLocks noChangeAspect="1"/>
          </p:cNvPicPr>
          <p:nvPr/>
        </p:nvPicPr>
        <p:blipFill>
          <a:blip r:embed="rId5"/>
          <a:stretch>
            <a:fillRect/>
          </a:stretch>
        </p:blipFill>
        <p:spPr>
          <a:xfrm>
            <a:off x="0" y="4811218"/>
            <a:ext cx="5004486" cy="1633082"/>
          </a:xfrm>
          <a:prstGeom prst="rect">
            <a:avLst/>
          </a:prstGeom>
        </p:spPr>
      </p:pic>
      <p:pic>
        <p:nvPicPr>
          <p:cNvPr id="9" name="Picture 8"/>
          <p:cNvPicPr>
            <a:picLocks noChangeAspect="1"/>
          </p:cNvPicPr>
          <p:nvPr/>
        </p:nvPicPr>
        <p:blipFill>
          <a:blip r:embed="rId6"/>
          <a:stretch>
            <a:fillRect/>
          </a:stretch>
        </p:blipFill>
        <p:spPr>
          <a:xfrm>
            <a:off x="5584631" y="1614095"/>
            <a:ext cx="3524250" cy="3209925"/>
          </a:xfrm>
          <a:prstGeom prst="rect">
            <a:avLst/>
          </a:prstGeom>
        </p:spPr>
      </p:pic>
      <p:pic>
        <p:nvPicPr>
          <p:cNvPr id="10" name="Picture 9"/>
          <p:cNvPicPr>
            <a:picLocks noChangeAspect="1"/>
          </p:cNvPicPr>
          <p:nvPr/>
        </p:nvPicPr>
        <p:blipFill>
          <a:blip r:embed="rId7"/>
          <a:stretch>
            <a:fillRect/>
          </a:stretch>
        </p:blipFill>
        <p:spPr>
          <a:xfrm>
            <a:off x="5004486" y="4824020"/>
            <a:ext cx="4901514" cy="1620280"/>
          </a:xfrm>
          <a:prstGeom prst="rect">
            <a:avLst/>
          </a:prstGeom>
        </p:spPr>
      </p:pic>
      <p:sp>
        <p:nvSpPr>
          <p:cNvPr id="11" name="Rectangle 10"/>
          <p:cNvSpPr/>
          <p:nvPr/>
        </p:nvSpPr>
        <p:spPr>
          <a:xfrm>
            <a:off x="0" y="4811218"/>
            <a:ext cx="5004486" cy="16330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3" name="Rectangle 12"/>
          <p:cNvSpPr/>
          <p:nvPr/>
        </p:nvSpPr>
        <p:spPr>
          <a:xfrm>
            <a:off x="5004486" y="4811218"/>
            <a:ext cx="4901514" cy="16330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5" name="Rectangle 14"/>
          <p:cNvSpPr/>
          <p:nvPr/>
        </p:nvSpPr>
        <p:spPr>
          <a:xfrm>
            <a:off x="463377" y="1614095"/>
            <a:ext cx="3783091" cy="32099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6" name="Rectangle 15"/>
          <p:cNvSpPr/>
          <p:nvPr/>
        </p:nvSpPr>
        <p:spPr>
          <a:xfrm>
            <a:off x="5584631" y="1614095"/>
            <a:ext cx="3524250" cy="319712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7" name="TextBox 16"/>
          <p:cNvSpPr txBox="1"/>
          <p:nvPr/>
        </p:nvSpPr>
        <p:spPr>
          <a:xfrm>
            <a:off x="86497" y="1614095"/>
            <a:ext cx="284206" cy="369332"/>
          </a:xfrm>
          <a:prstGeom prst="rect">
            <a:avLst/>
          </a:prstGeom>
          <a:noFill/>
        </p:spPr>
        <p:txBody>
          <a:bodyPr wrap="square" rtlCol="0">
            <a:spAutoFit/>
          </a:bodyPr>
          <a:lstStyle/>
          <a:p>
            <a:r>
              <a:rPr lang="en-ZA" dirty="0"/>
              <a:t>1</a:t>
            </a:r>
          </a:p>
        </p:txBody>
      </p:sp>
      <p:sp>
        <p:nvSpPr>
          <p:cNvPr id="18" name="TextBox 17"/>
          <p:cNvSpPr txBox="1"/>
          <p:nvPr/>
        </p:nvSpPr>
        <p:spPr>
          <a:xfrm>
            <a:off x="86497" y="4441886"/>
            <a:ext cx="284206" cy="369332"/>
          </a:xfrm>
          <a:prstGeom prst="rect">
            <a:avLst/>
          </a:prstGeom>
          <a:noFill/>
        </p:spPr>
        <p:txBody>
          <a:bodyPr wrap="square" rtlCol="0">
            <a:spAutoFit/>
          </a:bodyPr>
          <a:lstStyle/>
          <a:p>
            <a:r>
              <a:rPr lang="en-ZA" dirty="0"/>
              <a:t>2</a:t>
            </a:r>
          </a:p>
        </p:txBody>
      </p:sp>
      <p:sp>
        <p:nvSpPr>
          <p:cNvPr id="19" name="TextBox 18"/>
          <p:cNvSpPr txBox="1"/>
          <p:nvPr/>
        </p:nvSpPr>
        <p:spPr>
          <a:xfrm>
            <a:off x="5152456" y="1614095"/>
            <a:ext cx="284206" cy="369332"/>
          </a:xfrm>
          <a:prstGeom prst="rect">
            <a:avLst/>
          </a:prstGeom>
          <a:noFill/>
        </p:spPr>
        <p:txBody>
          <a:bodyPr wrap="square" rtlCol="0">
            <a:spAutoFit/>
          </a:bodyPr>
          <a:lstStyle/>
          <a:p>
            <a:r>
              <a:rPr lang="en-ZA" dirty="0"/>
              <a:t>3</a:t>
            </a:r>
          </a:p>
        </p:txBody>
      </p:sp>
      <p:sp>
        <p:nvSpPr>
          <p:cNvPr id="20" name="TextBox 19"/>
          <p:cNvSpPr txBox="1"/>
          <p:nvPr/>
        </p:nvSpPr>
        <p:spPr>
          <a:xfrm>
            <a:off x="5152456" y="4441886"/>
            <a:ext cx="284206" cy="369332"/>
          </a:xfrm>
          <a:prstGeom prst="rect">
            <a:avLst/>
          </a:prstGeom>
          <a:noFill/>
        </p:spPr>
        <p:txBody>
          <a:bodyPr wrap="square" rtlCol="0">
            <a:spAutoFit/>
          </a:bodyPr>
          <a:lstStyle/>
          <a:p>
            <a:r>
              <a:rPr lang="en-ZA" dirty="0"/>
              <a:t>4</a:t>
            </a:r>
          </a:p>
        </p:txBody>
      </p:sp>
      <p:sp>
        <p:nvSpPr>
          <p:cNvPr id="21" name="Oval 20"/>
          <p:cNvSpPr/>
          <p:nvPr/>
        </p:nvSpPr>
        <p:spPr>
          <a:xfrm>
            <a:off x="86497" y="1614095"/>
            <a:ext cx="284206" cy="369332"/>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22" name="Oval 21"/>
          <p:cNvSpPr/>
          <p:nvPr/>
        </p:nvSpPr>
        <p:spPr>
          <a:xfrm>
            <a:off x="86497" y="4441365"/>
            <a:ext cx="284206" cy="369332"/>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23" name="Oval 22"/>
          <p:cNvSpPr/>
          <p:nvPr/>
        </p:nvSpPr>
        <p:spPr>
          <a:xfrm>
            <a:off x="5152456" y="4435485"/>
            <a:ext cx="284206" cy="369332"/>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24" name="Oval 23"/>
          <p:cNvSpPr/>
          <p:nvPr/>
        </p:nvSpPr>
        <p:spPr>
          <a:xfrm>
            <a:off x="5152456" y="1607694"/>
            <a:ext cx="284206" cy="369332"/>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147211206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305331"/>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000" b="1" cap="small" dirty="0">
                <a:solidFill>
                  <a:srgbClr val="342E2B"/>
                </a:solidFill>
                <a:latin typeface="Book Antiqua"/>
                <a:cs typeface="Book Antiqua"/>
              </a:rPr>
              <a:t>Your First SAS Analysis</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
        <p:nvSpPr>
          <p:cNvPr id="21" name="ZoneTexte 7"/>
          <p:cNvSpPr txBox="1"/>
          <p:nvPr/>
        </p:nvSpPr>
        <p:spPr>
          <a:xfrm>
            <a:off x="-355467" y="1950855"/>
            <a:ext cx="3755136" cy="2169825"/>
          </a:xfrm>
          <a:prstGeom prst="rect">
            <a:avLst/>
          </a:prstGeom>
          <a:noFill/>
        </p:spPr>
        <p:txBody>
          <a:bodyPr wrap="square" rtlCol="0">
            <a:spAutoFit/>
          </a:bodyPr>
          <a:lstStyle/>
          <a:p>
            <a:pPr marL="742950" lvl="1" indent="-285750" algn="just">
              <a:buFont typeface="Arial" panose="020B0604020202020204" pitchFamily="34" charset="0"/>
              <a:buChar char="•"/>
            </a:pPr>
            <a:r>
              <a:rPr lang="en-GB" sz="1500" dirty="0">
                <a:solidFill>
                  <a:prstClr val="black"/>
                </a:solidFill>
                <a:latin typeface="Book Antiqua" panose="02040602050305030304" pitchFamily="18" charset="0"/>
                <a:cs typeface="Book Antiqua"/>
              </a:rPr>
              <a:t>Open the Program file. The example uses the file name </a:t>
            </a:r>
            <a:r>
              <a:rPr lang="en-GB" sz="1500" b="1" dirty="0">
                <a:solidFill>
                  <a:srgbClr val="FF0000"/>
                </a:solidFill>
                <a:latin typeface="Book Antiqua" panose="02040602050305030304" pitchFamily="18" charset="0"/>
                <a:cs typeface="Book Antiqua"/>
              </a:rPr>
              <a:t>FIRST.SAS. </a:t>
            </a:r>
            <a:r>
              <a:rPr lang="en-GB" sz="1500" dirty="0">
                <a:latin typeface="Book Antiqua" panose="02040602050305030304" pitchFamily="18" charset="0"/>
                <a:cs typeface="Book Antiqua"/>
              </a:rPr>
              <a:t>In order to open the file you have to do the following; </a:t>
            </a:r>
          </a:p>
          <a:p>
            <a:pPr lvl="1" algn="just"/>
            <a:endParaRPr lang="en-GB" sz="1500" i="1" dirty="0">
              <a:latin typeface="Book Antiqua" panose="02040602050305030304" pitchFamily="18" charset="0"/>
              <a:cs typeface="Book Antiqua"/>
            </a:endParaRPr>
          </a:p>
          <a:p>
            <a:pPr marL="742950" lvl="1" indent="-285750" algn="just">
              <a:buFont typeface="Arial" panose="020B0604020202020204" pitchFamily="34" charset="0"/>
              <a:buChar char="•"/>
            </a:pPr>
            <a:r>
              <a:rPr lang="en-GB" sz="1500" dirty="0">
                <a:latin typeface="Book Antiqua" panose="02040602050305030304" pitchFamily="18" charset="0"/>
                <a:cs typeface="Book Antiqua"/>
              </a:rPr>
              <a:t>Double click on the </a:t>
            </a:r>
            <a:r>
              <a:rPr lang="en-GB" sz="1500" b="1" dirty="0">
                <a:solidFill>
                  <a:srgbClr val="FF0000"/>
                </a:solidFill>
                <a:latin typeface="Book Antiqua" panose="02040602050305030304" pitchFamily="18" charset="0"/>
                <a:cs typeface="Book Antiqua"/>
              </a:rPr>
              <a:t>FIRST.SAS </a:t>
            </a:r>
            <a:r>
              <a:rPr lang="en-GB" sz="1500" dirty="0">
                <a:latin typeface="Book Antiqua" panose="02040602050305030304" pitchFamily="18" charset="0"/>
                <a:cs typeface="Book Antiqua"/>
              </a:rPr>
              <a:t>Program file.</a:t>
            </a:r>
          </a:p>
          <a:p>
            <a:pPr lvl="1" algn="just"/>
            <a:endParaRPr lang="en-GB" sz="1500" dirty="0">
              <a:latin typeface="Book Antiqua" panose="02040602050305030304" pitchFamily="18" charset="0"/>
              <a:cs typeface="Book Antiqua"/>
            </a:endParaRPr>
          </a:p>
          <a:p>
            <a:pPr marL="742950" lvl="1" indent="-285750" algn="just">
              <a:buFont typeface="Arial" panose="020B0604020202020204" pitchFamily="34" charset="0"/>
              <a:buChar char="•"/>
            </a:pPr>
            <a:endParaRPr lang="en-GB" sz="1500" i="1" dirty="0">
              <a:latin typeface="Book Antiqua" panose="02040602050305030304" pitchFamily="18" charset="0"/>
              <a:cs typeface="Book Antiqua"/>
            </a:endParaRPr>
          </a:p>
        </p:txBody>
      </p:sp>
      <p:pic>
        <p:nvPicPr>
          <p:cNvPr id="2" name="Picture 1"/>
          <p:cNvPicPr>
            <a:picLocks noChangeAspect="1"/>
          </p:cNvPicPr>
          <p:nvPr/>
        </p:nvPicPr>
        <p:blipFill>
          <a:blip r:embed="rId4"/>
          <a:stretch>
            <a:fillRect/>
          </a:stretch>
        </p:blipFill>
        <p:spPr>
          <a:xfrm>
            <a:off x="3560065" y="1294908"/>
            <a:ext cx="6172721" cy="4895827"/>
          </a:xfrm>
          <a:prstGeom prst="rect">
            <a:avLst/>
          </a:prstGeom>
        </p:spPr>
      </p:pic>
      <p:sp>
        <p:nvSpPr>
          <p:cNvPr id="3" name="Rectangle 2"/>
          <p:cNvSpPr/>
          <p:nvPr/>
        </p:nvSpPr>
        <p:spPr>
          <a:xfrm>
            <a:off x="3560065" y="1294908"/>
            <a:ext cx="6172721" cy="504410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pic>
        <p:nvPicPr>
          <p:cNvPr id="9" name="Picture 8"/>
          <p:cNvPicPr>
            <a:picLocks noChangeAspect="1"/>
          </p:cNvPicPr>
          <p:nvPr/>
        </p:nvPicPr>
        <p:blipFill>
          <a:blip r:embed="rId5"/>
          <a:stretch>
            <a:fillRect/>
          </a:stretch>
        </p:blipFill>
        <p:spPr>
          <a:xfrm>
            <a:off x="438922" y="4016204"/>
            <a:ext cx="2800350" cy="2038350"/>
          </a:xfrm>
          <a:prstGeom prst="rect">
            <a:avLst/>
          </a:prstGeom>
        </p:spPr>
      </p:pic>
      <p:sp>
        <p:nvSpPr>
          <p:cNvPr id="13" name="Rectangle 12"/>
          <p:cNvSpPr/>
          <p:nvPr/>
        </p:nvSpPr>
        <p:spPr>
          <a:xfrm>
            <a:off x="438922" y="4016204"/>
            <a:ext cx="2800350" cy="20383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17" name="Straight Arrow Connector 16"/>
          <p:cNvCxnSpPr>
            <a:stCxn id="13" idx="3"/>
          </p:cNvCxnSpPr>
          <p:nvPr/>
        </p:nvCxnSpPr>
        <p:spPr>
          <a:xfrm flipV="1">
            <a:off x="3239272" y="4120680"/>
            <a:ext cx="2197701" cy="9146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449829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 name="ZoneTexte 7"/>
          <p:cNvSpPr txBox="1"/>
          <p:nvPr/>
        </p:nvSpPr>
        <p:spPr>
          <a:xfrm>
            <a:off x="401412" y="1589967"/>
            <a:ext cx="8232476" cy="3785652"/>
          </a:xfrm>
          <a:prstGeom prst="rect">
            <a:avLst/>
          </a:prstGeom>
          <a:noFill/>
        </p:spPr>
        <p:txBody>
          <a:bodyPr wrap="square" rtlCol="0">
            <a:spAutoFit/>
          </a:bodyPr>
          <a:lstStyle/>
          <a:p>
            <a:pPr lvl="1" algn="just">
              <a:lnSpc>
                <a:spcPct val="200000"/>
              </a:lnSpc>
            </a:pPr>
            <a:r>
              <a:rPr lang="en-GB" sz="1500" b="1" u="sng" dirty="0">
                <a:latin typeface="Book Antiqua"/>
                <a:cs typeface="Book Antiqua"/>
              </a:rPr>
              <a:t>Enhanced SAS Editor Window: </a:t>
            </a:r>
            <a:r>
              <a:rPr lang="en-GB" sz="1500" dirty="0">
                <a:latin typeface="Book Antiqua"/>
                <a:cs typeface="Book Antiqua"/>
              </a:rPr>
              <a:t>When writing any SAS Program, the code will display text in various colours. For instance;</a:t>
            </a:r>
          </a:p>
          <a:p>
            <a:pPr lvl="1" algn="just">
              <a:lnSpc>
                <a:spcPct val="200000"/>
              </a:lnSpc>
            </a:pPr>
            <a:r>
              <a:rPr lang="en-GB" sz="1500" b="1" dirty="0">
                <a:solidFill>
                  <a:srgbClr val="92D050"/>
                </a:solidFill>
                <a:latin typeface="Book Antiqua"/>
                <a:cs typeface="Book Antiqua"/>
              </a:rPr>
              <a:t>Green: </a:t>
            </a:r>
            <a:r>
              <a:rPr lang="en-GB" sz="1500" dirty="0">
                <a:latin typeface="Book Antiqua"/>
                <a:cs typeface="Book Antiqua"/>
              </a:rPr>
              <a:t>Is used for comments</a:t>
            </a:r>
          </a:p>
          <a:p>
            <a:pPr lvl="1" algn="just">
              <a:lnSpc>
                <a:spcPct val="200000"/>
              </a:lnSpc>
            </a:pPr>
            <a:r>
              <a:rPr lang="en-GB" sz="1500" b="1" dirty="0">
                <a:solidFill>
                  <a:srgbClr val="FF0000"/>
                </a:solidFill>
                <a:latin typeface="Book Antiqua"/>
                <a:cs typeface="Book Antiqua"/>
              </a:rPr>
              <a:t>Red: </a:t>
            </a:r>
            <a:r>
              <a:rPr lang="en-GB" sz="1500" dirty="0">
                <a:latin typeface="Book Antiqua"/>
                <a:cs typeface="Book Antiqua"/>
              </a:rPr>
              <a:t>Indicates Error in Code</a:t>
            </a:r>
          </a:p>
          <a:p>
            <a:pPr lvl="1" algn="just">
              <a:lnSpc>
                <a:spcPct val="200000"/>
              </a:lnSpc>
            </a:pPr>
            <a:r>
              <a:rPr lang="en-GB" sz="1500" b="1" dirty="0">
                <a:solidFill>
                  <a:srgbClr val="002060"/>
                </a:solidFill>
                <a:latin typeface="Book Antiqua"/>
                <a:cs typeface="Book Antiqua"/>
              </a:rPr>
              <a:t>Dark Blue</a:t>
            </a:r>
            <a:r>
              <a:rPr lang="en-GB" sz="1500" dirty="0">
                <a:solidFill>
                  <a:srgbClr val="002060"/>
                </a:solidFill>
                <a:latin typeface="Book Antiqua"/>
                <a:cs typeface="Book Antiqua"/>
              </a:rPr>
              <a:t>: </a:t>
            </a:r>
            <a:r>
              <a:rPr lang="en-GB" sz="1500" dirty="0">
                <a:latin typeface="Book Antiqua"/>
                <a:cs typeface="Book Antiqua"/>
              </a:rPr>
              <a:t>Is used for the Keyword in major SAS Commands</a:t>
            </a:r>
          </a:p>
          <a:p>
            <a:pPr lvl="1" algn="just">
              <a:lnSpc>
                <a:spcPct val="200000"/>
              </a:lnSpc>
            </a:pPr>
            <a:r>
              <a:rPr lang="en-GB" sz="1500" b="1" dirty="0">
                <a:solidFill>
                  <a:srgbClr val="FFFF00"/>
                </a:solidFill>
                <a:latin typeface="Book Antiqua"/>
                <a:cs typeface="Book Antiqua"/>
              </a:rPr>
              <a:t>Yellow: </a:t>
            </a:r>
            <a:r>
              <a:rPr lang="en-GB" sz="1500" dirty="0">
                <a:latin typeface="Book Antiqua"/>
                <a:cs typeface="Book Antiqua"/>
              </a:rPr>
              <a:t>Is used for data (In SAS Studio (University Edition) it will not be highlighted in Yellow.</a:t>
            </a:r>
          </a:p>
          <a:p>
            <a:pPr lvl="1" algn="just">
              <a:lnSpc>
                <a:spcPct val="200000"/>
              </a:lnSpc>
            </a:pPr>
            <a:r>
              <a:rPr lang="en-GB" sz="1500" u="sng" dirty="0">
                <a:latin typeface="Book Antiqua"/>
                <a:cs typeface="Book Antiqua"/>
              </a:rPr>
              <a:t>Boundary Line: </a:t>
            </a:r>
            <a:r>
              <a:rPr lang="en-GB" sz="1500" dirty="0">
                <a:latin typeface="Book Antiqua"/>
                <a:cs typeface="Book Antiqua"/>
              </a:rPr>
              <a:t>This separates each step</a:t>
            </a:r>
          </a:p>
        </p:txBody>
      </p:sp>
      <p:sp>
        <p:nvSpPr>
          <p:cNvPr id="10" name="Rectangle 9"/>
          <p:cNvSpPr/>
          <p:nvPr/>
        </p:nvSpPr>
        <p:spPr>
          <a:xfrm>
            <a:off x="702182" y="1555069"/>
            <a:ext cx="7931705" cy="38205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1" name="ZoneTexte 10"/>
          <p:cNvSpPr txBox="1"/>
          <p:nvPr/>
        </p:nvSpPr>
        <p:spPr>
          <a:xfrm>
            <a:off x="1613222" y="523443"/>
            <a:ext cx="6012848"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SAS Enhanced Editor Window Colour</a:t>
            </a:r>
            <a:r>
              <a:rPr kumimoji="0" lang="en-GB" sz="2000" b="1" i="0" u="none" strike="noStrike" kern="1200" cap="small" spc="0" normalizeH="0" noProof="0" dirty="0">
                <a:ln>
                  <a:noFill/>
                </a:ln>
                <a:solidFill>
                  <a:srgbClr val="342E2B"/>
                </a:solidFill>
                <a:effectLst/>
                <a:uLnTx/>
                <a:uFillTx/>
                <a:latin typeface="Book Antiqua"/>
                <a:ea typeface="+mn-ea"/>
                <a:cs typeface="Book Antiqua"/>
              </a:rPr>
              <a:t> Coding</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Tree>
    <p:extLst>
      <p:ext uri="{BB962C8B-B14F-4D97-AF65-F5344CB8AC3E}">
        <p14:creationId xmlns:p14="http://schemas.microsoft.com/office/powerpoint/2010/main" val="236484136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Your First SAS Analysis</a:t>
            </a:r>
          </a:p>
        </p:txBody>
      </p:sp>
      <p:sp>
        <p:nvSpPr>
          <p:cNvPr id="20" name="ZoneTexte 7"/>
          <p:cNvSpPr txBox="1"/>
          <p:nvPr/>
        </p:nvSpPr>
        <p:spPr>
          <a:xfrm>
            <a:off x="4302709" y="6045131"/>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a:ln>
                  <a:noFill/>
                </a:ln>
                <a:solidFill>
                  <a:srgbClr val="FF0000"/>
                </a:solidFill>
                <a:effectLst/>
                <a:uLnTx/>
                <a:uFillTx/>
                <a:latin typeface="Book Antiqua"/>
                <a:ea typeface="+mn-ea"/>
                <a:cs typeface="Book Antiqua"/>
              </a:rPr>
              <a:t>FIRST.SAS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
        <p:nvSpPr>
          <p:cNvPr id="21" name="ZoneTexte 7"/>
          <p:cNvSpPr txBox="1"/>
          <p:nvPr/>
        </p:nvSpPr>
        <p:spPr>
          <a:xfrm>
            <a:off x="630770" y="935506"/>
            <a:ext cx="7977753" cy="2862322"/>
          </a:xfrm>
          <a:prstGeom prst="rect">
            <a:avLst/>
          </a:prstGeom>
          <a:noFill/>
        </p:spPr>
        <p:txBody>
          <a:bodyPr wrap="square" rtlCol="0">
            <a:spAutoFit/>
          </a:bodyPr>
          <a:lstStyle/>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Run the SAS job. On the Menu Bar -&gt;, select Run or clicking on the Symbol.</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Book Antiqua" panose="02040602050305030304" pitchFamily="18" charset="0"/>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Book Antiqua" panose="02040602050305030304" pitchFamily="18" charset="0"/>
              <a:cs typeface="Book Antiqua"/>
            </a:endParaRPr>
          </a:p>
          <a:p>
            <a:pPr marR="0" lvl="1" algn="just"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Book Antiqua" panose="02040602050305030304" pitchFamily="18" charset="0"/>
              <a:cs typeface="Book Antiqua"/>
            </a:endParaRPr>
          </a:p>
          <a:p>
            <a:pPr marR="0" lvl="1" algn="just" defTabSz="457200" rtl="0" eaLnBrk="1" fontAlgn="auto" latinLnBrk="0" hangingPunct="1">
              <a:lnSpc>
                <a:spcPct val="100000"/>
              </a:lnSpc>
              <a:spcBef>
                <a:spcPts val="0"/>
              </a:spcBef>
              <a:spcAft>
                <a:spcPts val="0"/>
              </a:spcAft>
              <a:buClrTx/>
              <a:buSzTx/>
              <a:tabLst/>
              <a:defRPr/>
            </a:pPr>
            <a:endPar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solidFill>
                  <a:prstClr val="black"/>
                </a:solidFill>
                <a:latin typeface="Book Antiqua" panose="02040602050305030304" pitchFamily="18" charset="0"/>
                <a:cs typeface="Book Antiqua"/>
              </a:rPr>
              <a:t>View the Results tab. If the job runs without any errors, the output window will displayed indicating the analysis output created by the program.</a:t>
            </a:r>
            <a:endPar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p:txBody>
      </p:sp>
      <p:pic>
        <p:nvPicPr>
          <p:cNvPr id="3" name="Picture 2"/>
          <p:cNvPicPr>
            <a:picLocks noChangeAspect="1"/>
          </p:cNvPicPr>
          <p:nvPr/>
        </p:nvPicPr>
        <p:blipFill>
          <a:blip r:embed="rId4"/>
          <a:stretch>
            <a:fillRect/>
          </a:stretch>
        </p:blipFill>
        <p:spPr>
          <a:xfrm>
            <a:off x="2024824" y="1563137"/>
            <a:ext cx="6124575" cy="885825"/>
          </a:xfrm>
          <a:prstGeom prst="rect">
            <a:avLst/>
          </a:prstGeom>
        </p:spPr>
      </p:pic>
      <p:sp>
        <p:nvSpPr>
          <p:cNvPr id="6" name="Oval 5"/>
          <p:cNvSpPr/>
          <p:nvPr/>
        </p:nvSpPr>
        <p:spPr>
          <a:xfrm>
            <a:off x="2133600" y="2133600"/>
            <a:ext cx="438912" cy="31536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8" name="Straight Arrow Connector 7"/>
          <p:cNvCxnSpPr>
            <a:endCxn id="6" idx="2"/>
          </p:cNvCxnSpPr>
          <p:nvPr/>
        </p:nvCxnSpPr>
        <p:spPr>
          <a:xfrm>
            <a:off x="1613222" y="1865376"/>
            <a:ext cx="520378" cy="425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Picture 8"/>
          <p:cNvPicPr>
            <a:picLocks noChangeAspect="1"/>
          </p:cNvPicPr>
          <p:nvPr/>
        </p:nvPicPr>
        <p:blipFill>
          <a:blip r:embed="rId5"/>
          <a:stretch>
            <a:fillRect/>
          </a:stretch>
        </p:blipFill>
        <p:spPr>
          <a:xfrm>
            <a:off x="2133600" y="3673406"/>
            <a:ext cx="6315075" cy="2371725"/>
          </a:xfrm>
          <a:prstGeom prst="rect">
            <a:avLst/>
          </a:prstGeom>
        </p:spPr>
      </p:pic>
      <p:sp>
        <p:nvSpPr>
          <p:cNvPr id="10" name="Rectangle 9"/>
          <p:cNvSpPr/>
          <p:nvPr/>
        </p:nvSpPr>
        <p:spPr>
          <a:xfrm>
            <a:off x="2133600" y="1563137"/>
            <a:ext cx="6015799" cy="885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2" name="Rectangle 11"/>
          <p:cNvSpPr/>
          <p:nvPr/>
        </p:nvSpPr>
        <p:spPr>
          <a:xfrm>
            <a:off x="2133600" y="3673406"/>
            <a:ext cx="6315075" cy="23717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185647067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Your First SAS Analysis</a:t>
            </a:r>
          </a:p>
        </p:txBody>
      </p:sp>
      <p:sp>
        <p:nvSpPr>
          <p:cNvPr id="21" name="ZoneTexte 7"/>
          <p:cNvSpPr txBox="1"/>
          <p:nvPr/>
        </p:nvSpPr>
        <p:spPr>
          <a:xfrm>
            <a:off x="630769" y="1324675"/>
            <a:ext cx="7977753" cy="923330"/>
          </a:xfrm>
          <a:prstGeom prst="rect">
            <a:avLst/>
          </a:prstGeom>
          <a:noFill/>
        </p:spPr>
        <p:txBody>
          <a:bodyPr wrap="square" rtlCol="0">
            <a:spAutoFit/>
          </a:bodyPr>
          <a:lstStyle/>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In</a:t>
            </a:r>
            <a:r>
              <a:rPr kumimoji="0" lang="en-GB" sz="18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the results window, one is also able to view all the results that was run by the SAS Program. This can be found by using the drop down (Table of contents)</a:t>
            </a:r>
          </a:p>
        </p:txBody>
      </p:sp>
      <p:pic>
        <p:nvPicPr>
          <p:cNvPr id="2" name="Picture 1"/>
          <p:cNvPicPr>
            <a:picLocks noChangeAspect="1"/>
          </p:cNvPicPr>
          <p:nvPr/>
        </p:nvPicPr>
        <p:blipFill>
          <a:blip r:embed="rId4"/>
          <a:stretch>
            <a:fillRect/>
          </a:stretch>
        </p:blipFill>
        <p:spPr>
          <a:xfrm>
            <a:off x="1919478" y="2679589"/>
            <a:ext cx="6286500" cy="3038475"/>
          </a:xfrm>
          <a:prstGeom prst="rect">
            <a:avLst/>
          </a:prstGeom>
        </p:spPr>
      </p:pic>
      <p:sp>
        <p:nvSpPr>
          <p:cNvPr id="4" name="Oval 3"/>
          <p:cNvSpPr/>
          <p:nvPr/>
        </p:nvSpPr>
        <p:spPr>
          <a:xfrm>
            <a:off x="2023872" y="3572256"/>
            <a:ext cx="1645920" cy="25603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8" name="Straight Arrow Connector 7"/>
          <p:cNvCxnSpPr>
            <a:endCxn id="4" idx="2"/>
          </p:cNvCxnSpPr>
          <p:nvPr/>
        </p:nvCxnSpPr>
        <p:spPr>
          <a:xfrm>
            <a:off x="1133856" y="3157728"/>
            <a:ext cx="890016" cy="5425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109216" y="4035552"/>
            <a:ext cx="1975104" cy="26822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11" name="Straight Arrow Connector 10"/>
          <p:cNvCxnSpPr/>
          <p:nvPr/>
        </p:nvCxnSpPr>
        <p:spPr>
          <a:xfrm flipV="1">
            <a:off x="4084320" y="3828288"/>
            <a:ext cx="1072896" cy="3705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194173" y="3288113"/>
            <a:ext cx="2669667" cy="1015663"/>
          </a:xfrm>
          <a:prstGeom prst="rect">
            <a:avLst/>
          </a:prstGeom>
          <a:noFill/>
        </p:spPr>
        <p:txBody>
          <a:bodyPr wrap="square" rtlCol="0">
            <a:spAutoFit/>
          </a:bodyPr>
          <a:lstStyle/>
          <a:p>
            <a:r>
              <a:rPr lang="en-ZA" sz="1500" dirty="0">
                <a:latin typeface="Book Antiqua" panose="02040602050305030304" pitchFamily="18" charset="0"/>
              </a:rPr>
              <a:t>This will show you what your results you have produced using the </a:t>
            </a:r>
            <a:r>
              <a:rPr lang="en-ZA" sz="1500" dirty="0">
                <a:solidFill>
                  <a:schemeClr val="tx2"/>
                </a:solidFill>
                <a:latin typeface="Book Antiqua" panose="02040602050305030304" pitchFamily="18" charset="0"/>
              </a:rPr>
              <a:t>PROC MEAN</a:t>
            </a:r>
            <a:r>
              <a:rPr lang="en-ZA" sz="1500" dirty="0">
                <a:latin typeface="Book Antiqua" panose="02040602050305030304" pitchFamily="18" charset="0"/>
              </a:rPr>
              <a:t> procedure.</a:t>
            </a:r>
          </a:p>
        </p:txBody>
      </p:sp>
      <p:sp>
        <p:nvSpPr>
          <p:cNvPr id="13" name="Rectangle 12"/>
          <p:cNvSpPr/>
          <p:nvPr/>
        </p:nvSpPr>
        <p:spPr>
          <a:xfrm>
            <a:off x="5194173" y="3288113"/>
            <a:ext cx="2431897" cy="101566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4" name="Rectangle 13"/>
          <p:cNvSpPr/>
          <p:nvPr/>
        </p:nvSpPr>
        <p:spPr>
          <a:xfrm>
            <a:off x="1919478" y="2679589"/>
            <a:ext cx="6286500" cy="30384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236235413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1613222" y="222072"/>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Your First SAS Analysis</a:t>
            </a:r>
          </a:p>
        </p:txBody>
      </p:sp>
      <p:sp>
        <p:nvSpPr>
          <p:cNvPr id="21" name="ZoneTexte 7"/>
          <p:cNvSpPr txBox="1"/>
          <p:nvPr/>
        </p:nvSpPr>
        <p:spPr>
          <a:xfrm>
            <a:off x="313832" y="711407"/>
            <a:ext cx="7977753" cy="1015663"/>
          </a:xfrm>
          <a:prstGeom prst="rect">
            <a:avLst/>
          </a:prstGeom>
          <a:noFill/>
        </p:spPr>
        <p:txBody>
          <a:bodyPr wrap="square" rtlCol="0">
            <a:spAutoFit/>
          </a:bodyPr>
          <a:lstStyle/>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5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Follow the instructions on Slide 7: the import the dataset.</a:t>
            </a: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5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500" b="0" i="0"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rPr>
              <a:t>We</a:t>
            </a:r>
            <a:r>
              <a:rPr kumimoji="0" lang="en-GB" sz="1500" b="0" i="0"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 will make a small change in the program and see how that change alters the output. We will be using the Option </a:t>
            </a:r>
            <a:r>
              <a:rPr kumimoji="0" lang="en-GB" sz="1500" b="0" i="1" u="none" strike="noStrike" kern="1200" cap="none" spc="0" normalizeH="0" noProof="0" dirty="0">
                <a:ln>
                  <a:noFill/>
                </a:ln>
                <a:solidFill>
                  <a:prstClr val="black"/>
                </a:solidFill>
                <a:effectLst/>
                <a:uLnTx/>
                <a:uFillTx/>
                <a:latin typeface="Book Antiqua" panose="02040602050305030304" pitchFamily="18" charset="0"/>
                <a:ea typeface="+mn-ea"/>
                <a:cs typeface="Book Antiqua"/>
              </a:rPr>
              <a:t>“TITLE”.</a:t>
            </a:r>
            <a:endParaRPr kumimoji="0" lang="en-GB" sz="1500" b="0" i="1" u="none" strike="noStrike" kern="1200" cap="none" spc="0" normalizeH="0" baseline="0" noProof="0" dirty="0">
              <a:ln>
                <a:noFill/>
              </a:ln>
              <a:solidFill>
                <a:prstClr val="black"/>
              </a:solidFill>
              <a:effectLst/>
              <a:uLnTx/>
              <a:uFillTx/>
              <a:latin typeface="Book Antiqua" panose="02040602050305030304" pitchFamily="18" charset="0"/>
              <a:ea typeface="+mn-ea"/>
              <a:cs typeface="Book Antiqua"/>
            </a:endParaRPr>
          </a:p>
        </p:txBody>
      </p:sp>
      <p:sp>
        <p:nvSpPr>
          <p:cNvPr id="9" name="ZoneTexte 7"/>
          <p:cNvSpPr txBox="1"/>
          <p:nvPr/>
        </p:nvSpPr>
        <p:spPr>
          <a:xfrm>
            <a:off x="4302709" y="6045131"/>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Book Antiqua"/>
                <a:ea typeface="+mn-ea"/>
                <a:cs typeface="Book Antiqua"/>
              </a:rPr>
              <a:t>Example: In the editor window, open the file </a:t>
            </a:r>
            <a:r>
              <a:rPr lang="en-GB" sz="1200" b="1" noProof="0" dirty="0">
                <a:solidFill>
                  <a:srgbClr val="FF0000"/>
                </a:solidFill>
                <a:latin typeface="Book Antiqua"/>
                <a:cs typeface="Book Antiqua"/>
              </a:rPr>
              <a:t>SECOND</a:t>
            </a:r>
            <a:r>
              <a:rPr kumimoji="0" lang="en-GB" sz="1200" b="1" i="0" u="none" strike="noStrike" kern="1200" cap="none" spc="0" normalizeH="0" baseline="0" noProof="0" dirty="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7" name="Picture 6"/>
          <p:cNvPicPr>
            <a:picLocks noChangeAspect="1"/>
          </p:cNvPicPr>
          <p:nvPr/>
        </p:nvPicPr>
        <p:blipFill>
          <a:blip r:embed="rId4"/>
          <a:stretch>
            <a:fillRect/>
          </a:stretch>
        </p:blipFill>
        <p:spPr>
          <a:xfrm>
            <a:off x="5072062" y="2330381"/>
            <a:ext cx="4638675" cy="2476500"/>
          </a:xfrm>
          <a:prstGeom prst="rect">
            <a:avLst/>
          </a:prstGeom>
        </p:spPr>
      </p:pic>
      <p:sp>
        <p:nvSpPr>
          <p:cNvPr id="12" name="Rectangle 11"/>
          <p:cNvSpPr/>
          <p:nvPr/>
        </p:nvSpPr>
        <p:spPr>
          <a:xfrm>
            <a:off x="5072062" y="2330381"/>
            <a:ext cx="4638675" cy="24765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14" name="Straight Arrow Connector 13"/>
          <p:cNvCxnSpPr>
            <a:stCxn id="29" idx="0"/>
            <a:endCxn id="7" idx="2"/>
          </p:cNvCxnSpPr>
          <p:nvPr/>
        </p:nvCxnSpPr>
        <p:spPr>
          <a:xfrm flipV="1">
            <a:off x="7391400" y="4806881"/>
            <a:ext cx="0" cy="6270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6648" y="5433946"/>
            <a:ext cx="2889504" cy="553998"/>
          </a:xfrm>
          <a:prstGeom prst="rect">
            <a:avLst/>
          </a:prstGeom>
          <a:noFill/>
          <a:ln>
            <a:solidFill>
              <a:schemeClr val="tx1"/>
            </a:solidFill>
          </a:ln>
        </p:spPr>
        <p:txBody>
          <a:bodyPr wrap="square" rtlCol="0">
            <a:spAutoFit/>
          </a:bodyPr>
          <a:lstStyle/>
          <a:p>
            <a:r>
              <a:rPr lang="en-ZA" sz="1500" dirty="0">
                <a:latin typeface="Book Antiqua" panose="02040602050305030304" pitchFamily="18" charset="0"/>
              </a:rPr>
              <a:t>The Output above will be produced.</a:t>
            </a:r>
          </a:p>
        </p:txBody>
      </p:sp>
      <p:pic>
        <p:nvPicPr>
          <p:cNvPr id="2" name="Picture 1"/>
          <p:cNvPicPr>
            <a:picLocks noChangeAspect="1"/>
          </p:cNvPicPr>
          <p:nvPr/>
        </p:nvPicPr>
        <p:blipFill>
          <a:blip r:embed="rId5"/>
          <a:stretch>
            <a:fillRect/>
          </a:stretch>
        </p:blipFill>
        <p:spPr>
          <a:xfrm>
            <a:off x="109999" y="2052868"/>
            <a:ext cx="4843001" cy="4198249"/>
          </a:xfrm>
          <a:prstGeom prst="rect">
            <a:avLst/>
          </a:prstGeom>
        </p:spPr>
      </p:pic>
      <p:sp>
        <p:nvSpPr>
          <p:cNvPr id="4" name="Rectangle 3"/>
          <p:cNvSpPr/>
          <p:nvPr/>
        </p:nvSpPr>
        <p:spPr>
          <a:xfrm>
            <a:off x="109999" y="2052868"/>
            <a:ext cx="4843001" cy="419824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6" name="Oval 5"/>
          <p:cNvSpPr/>
          <p:nvPr/>
        </p:nvSpPr>
        <p:spPr>
          <a:xfrm>
            <a:off x="1613222" y="2842054"/>
            <a:ext cx="289719" cy="160638"/>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8" name="Oval 7"/>
          <p:cNvSpPr/>
          <p:nvPr/>
        </p:nvSpPr>
        <p:spPr>
          <a:xfrm>
            <a:off x="1717589" y="4151992"/>
            <a:ext cx="2310714" cy="29644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170853977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2004836"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How does SAS</a:t>
            </a:r>
            <a:r>
              <a:rPr kumimoji="0" lang="en-GB" sz="2000" b="1" i="0" u="none" strike="noStrike" kern="1200" cap="small" spc="0" normalizeH="0" noProof="0" dirty="0">
                <a:ln>
                  <a:noFill/>
                </a:ln>
                <a:solidFill>
                  <a:srgbClr val="342E2B"/>
                </a:solidFill>
                <a:effectLst/>
                <a:uLnTx/>
                <a:uFillTx/>
                <a:latin typeface="Book Antiqua"/>
                <a:ea typeface="+mn-ea"/>
                <a:cs typeface="Book Antiqua"/>
              </a:rPr>
              <a:t> work?</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
        <p:nvSpPr>
          <p:cNvPr id="2" name="Rectangle 1"/>
          <p:cNvSpPr/>
          <p:nvPr/>
        </p:nvSpPr>
        <p:spPr>
          <a:xfrm>
            <a:off x="2789720" y="981133"/>
            <a:ext cx="4156907" cy="553998"/>
          </a:xfrm>
          <a:prstGeom prst="rect">
            <a:avLst/>
          </a:prstGeom>
        </p:spPr>
        <p:txBody>
          <a:bodyPr wrap="none">
            <a:spAutoFit/>
          </a:bodyPr>
          <a:lstStyle/>
          <a:p>
            <a:pPr lvl="1" algn="just">
              <a:lnSpc>
                <a:spcPct val="200000"/>
              </a:lnSpc>
            </a:pPr>
            <a:r>
              <a:rPr lang="en-GB" sz="1500" b="1" dirty="0">
                <a:latin typeface="Book Antiqua"/>
                <a:cs typeface="Book Antiqua"/>
              </a:rPr>
              <a:t>Three basic steps about how SAS works</a:t>
            </a:r>
            <a:endParaRPr lang="en-GB" sz="1500" dirty="0">
              <a:latin typeface="Book Antiqua"/>
              <a:cs typeface="Book Antiqua"/>
            </a:endParaRPr>
          </a:p>
        </p:txBody>
      </p:sp>
      <p:sp>
        <p:nvSpPr>
          <p:cNvPr id="3" name="Rectangle 2"/>
          <p:cNvSpPr/>
          <p:nvPr/>
        </p:nvSpPr>
        <p:spPr>
          <a:xfrm>
            <a:off x="3164318" y="1540987"/>
            <a:ext cx="3683081" cy="517166"/>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noFill/>
            </a:endParaRPr>
          </a:p>
        </p:txBody>
      </p:sp>
      <p:cxnSp>
        <p:nvCxnSpPr>
          <p:cNvPr id="6" name="Straight Arrow Connector 5"/>
          <p:cNvCxnSpPr>
            <a:stCxn id="3" idx="2"/>
            <a:endCxn id="13" idx="0"/>
          </p:cNvCxnSpPr>
          <p:nvPr/>
        </p:nvCxnSpPr>
        <p:spPr>
          <a:xfrm>
            <a:off x="5005859" y="2058153"/>
            <a:ext cx="2854" cy="11957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170025" y="3253907"/>
            <a:ext cx="3677375" cy="628074"/>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4" name="Rectangle 13"/>
          <p:cNvSpPr/>
          <p:nvPr/>
        </p:nvSpPr>
        <p:spPr>
          <a:xfrm>
            <a:off x="3153412" y="5096971"/>
            <a:ext cx="3693987" cy="627878"/>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cxnSp>
        <p:nvCxnSpPr>
          <p:cNvPr id="15" name="Straight Arrow Connector 14"/>
          <p:cNvCxnSpPr/>
          <p:nvPr/>
        </p:nvCxnSpPr>
        <p:spPr>
          <a:xfrm>
            <a:off x="5008713" y="3901217"/>
            <a:ext cx="5707" cy="11957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406632" y="1664993"/>
            <a:ext cx="3683081" cy="600164"/>
          </a:xfrm>
          <a:prstGeom prst="rect">
            <a:avLst/>
          </a:prstGeom>
          <a:noFill/>
        </p:spPr>
        <p:txBody>
          <a:bodyPr wrap="square" rtlCol="0">
            <a:spAutoFit/>
          </a:bodyPr>
          <a:lstStyle/>
          <a:p>
            <a:r>
              <a:rPr lang="en-GB" sz="1500" b="1" dirty="0">
                <a:latin typeface="Book Antiqua"/>
                <a:cs typeface="Book Antiqua"/>
              </a:rPr>
              <a:t>Data step: </a:t>
            </a:r>
            <a:r>
              <a:rPr lang="en-GB" sz="1500" dirty="0">
                <a:latin typeface="Book Antiqua"/>
                <a:cs typeface="Book Antiqua"/>
              </a:rPr>
              <a:t>Enter the data into SAS</a:t>
            </a:r>
          </a:p>
          <a:p>
            <a:endParaRPr lang="en-ZA" dirty="0"/>
          </a:p>
        </p:txBody>
      </p:sp>
      <p:sp>
        <p:nvSpPr>
          <p:cNvPr id="16" name="TextBox 15"/>
          <p:cNvSpPr txBox="1"/>
          <p:nvPr/>
        </p:nvSpPr>
        <p:spPr>
          <a:xfrm>
            <a:off x="3406632" y="3361903"/>
            <a:ext cx="3820597" cy="830997"/>
          </a:xfrm>
          <a:prstGeom prst="rect">
            <a:avLst/>
          </a:prstGeom>
          <a:noFill/>
        </p:spPr>
        <p:txBody>
          <a:bodyPr wrap="square" rtlCol="0">
            <a:spAutoFit/>
          </a:bodyPr>
          <a:lstStyle/>
          <a:p>
            <a:r>
              <a:rPr lang="en-US" sz="1500" b="1" dirty="0">
                <a:latin typeface="Book Antiqua"/>
                <a:cs typeface="Book Antiqua"/>
              </a:rPr>
              <a:t>PROC/ Procedures: </a:t>
            </a:r>
            <a:r>
              <a:rPr lang="en-US" sz="1500" dirty="0">
                <a:latin typeface="Book Antiqua"/>
                <a:cs typeface="Book Antiqua"/>
              </a:rPr>
              <a:t>Tells SAS what analysis to perform</a:t>
            </a:r>
          </a:p>
          <a:p>
            <a:endParaRPr lang="en-ZA" dirty="0"/>
          </a:p>
        </p:txBody>
      </p:sp>
      <p:sp>
        <p:nvSpPr>
          <p:cNvPr id="9" name="TextBox 8"/>
          <p:cNvSpPr txBox="1"/>
          <p:nvPr/>
        </p:nvSpPr>
        <p:spPr>
          <a:xfrm>
            <a:off x="3153412" y="5161988"/>
            <a:ext cx="3919688" cy="830997"/>
          </a:xfrm>
          <a:prstGeom prst="rect">
            <a:avLst/>
          </a:prstGeom>
          <a:noFill/>
        </p:spPr>
        <p:txBody>
          <a:bodyPr wrap="square" rtlCol="0">
            <a:spAutoFit/>
          </a:bodyPr>
          <a:lstStyle/>
          <a:p>
            <a:r>
              <a:rPr lang="en-GB" sz="1500" b="1" dirty="0">
                <a:latin typeface="Book Antiqua"/>
                <a:cs typeface="Book Antiqua"/>
              </a:rPr>
              <a:t>Output Step: </a:t>
            </a:r>
            <a:r>
              <a:rPr lang="en-GB" sz="1500" dirty="0">
                <a:latin typeface="Book Antiqua"/>
                <a:cs typeface="Book Antiqua"/>
              </a:rPr>
              <a:t>Observing the output and informs SAS where to output that data to.</a:t>
            </a:r>
          </a:p>
          <a:p>
            <a:endParaRPr lang="en-ZA" dirty="0"/>
          </a:p>
        </p:txBody>
      </p:sp>
    </p:spTree>
    <p:extLst>
      <p:ext uri="{BB962C8B-B14F-4D97-AF65-F5344CB8AC3E}">
        <p14:creationId xmlns:p14="http://schemas.microsoft.com/office/powerpoint/2010/main" val="271405285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2004836"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Tips and Tricks for running</a:t>
            </a:r>
            <a:r>
              <a:rPr kumimoji="0" lang="en-GB" sz="2000" b="1" i="0" u="none" strike="noStrike" kern="1200" cap="small" spc="0" normalizeH="0" noProof="0" dirty="0">
                <a:ln>
                  <a:noFill/>
                </a:ln>
                <a:solidFill>
                  <a:srgbClr val="342E2B"/>
                </a:solidFill>
                <a:effectLst/>
                <a:uLnTx/>
                <a:uFillTx/>
                <a:latin typeface="Book Antiqua"/>
                <a:ea typeface="+mn-ea"/>
                <a:cs typeface="Book Antiqua"/>
              </a:rPr>
              <a:t> SAS Program</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
        <p:nvSpPr>
          <p:cNvPr id="2" name="Rectangle 1"/>
          <p:cNvSpPr/>
          <p:nvPr/>
        </p:nvSpPr>
        <p:spPr>
          <a:xfrm>
            <a:off x="753334" y="1495947"/>
            <a:ext cx="8289449" cy="3323987"/>
          </a:xfrm>
          <a:prstGeom prst="rect">
            <a:avLst/>
          </a:prstGeom>
        </p:spPr>
        <p:txBody>
          <a:bodyPr wrap="none">
            <a:spAutoFit/>
          </a:bodyPr>
          <a:lstStyle/>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kumimoji="0" lang="en-GB" sz="1500" b="0" i="0" u="none" strike="noStrike" kern="1200" cap="none" spc="0" normalizeH="0" baseline="0" noProof="0" dirty="0">
                <a:ln>
                  <a:noFill/>
                </a:ln>
                <a:solidFill>
                  <a:prstClr val="black"/>
                </a:solidFill>
                <a:effectLst/>
                <a:uLnTx/>
                <a:uFillTx/>
                <a:latin typeface="Book Antiqua"/>
                <a:ea typeface="+mn-ea"/>
                <a:cs typeface="Book Antiqua"/>
              </a:rPr>
              <a:t>One</a:t>
            </a:r>
            <a:r>
              <a:rPr kumimoji="0" lang="en-GB" sz="1500" b="0" i="0" u="none" strike="noStrike" kern="1200" cap="none" spc="0" normalizeH="0" noProof="0" dirty="0">
                <a:ln>
                  <a:noFill/>
                </a:ln>
                <a:solidFill>
                  <a:prstClr val="black"/>
                </a:solidFill>
                <a:effectLst/>
                <a:uLnTx/>
                <a:uFillTx/>
                <a:latin typeface="Book Antiqua"/>
                <a:ea typeface="+mn-ea"/>
                <a:cs typeface="Book Antiqua"/>
              </a:rPr>
              <a:t> statement can continue over several lines</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kumimoji="0" lang="en-GB" sz="1500" b="0" i="0" u="none" strike="noStrike" kern="1200" cap="none" spc="0" normalizeH="0" noProof="0" dirty="0">
              <a:ln>
                <a:noFill/>
              </a:ln>
              <a:solidFill>
                <a:prstClr val="black"/>
              </a:solidFill>
              <a:effectLst/>
              <a:uLnTx/>
              <a:uFillTx/>
              <a:latin typeface="Book Antiqua"/>
              <a:ea typeface="+mn-e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kumimoji="0" lang="en-GB" sz="1500" b="0" i="0" u="none" strike="noStrike" kern="1200" cap="none" spc="0" normalizeH="0" noProof="0" dirty="0">
                <a:ln>
                  <a:noFill/>
                </a:ln>
                <a:solidFill>
                  <a:prstClr val="black"/>
                </a:solidFill>
                <a:effectLst/>
                <a:uLnTx/>
                <a:uFillTx/>
                <a:latin typeface="Book Antiqua"/>
                <a:ea typeface="+mn-ea"/>
                <a:cs typeface="Book Antiqua"/>
              </a:rPr>
              <a:t>Several statements may be on the same line</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kumimoji="0" lang="en-GB" sz="1500" b="0" i="0" u="none" strike="noStrike" kern="1200" cap="none" spc="0" normalizeH="0" noProof="0" dirty="0">
              <a:ln>
                <a:noFill/>
              </a:ln>
              <a:solidFill>
                <a:prstClr val="black"/>
              </a:solidFill>
              <a:effectLst/>
              <a:uLnTx/>
              <a:uFillTx/>
              <a:latin typeface="Book Antiqua"/>
              <a:ea typeface="+mn-e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lang="en-GB" sz="1500" noProof="0" dirty="0">
                <a:solidFill>
                  <a:prstClr val="black"/>
                </a:solidFill>
                <a:latin typeface="Book Antiqua"/>
                <a:cs typeface="Book Antiqua"/>
              </a:rPr>
              <a:t>You may have blank spaces between code, but at least one.</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lang="en-GB" sz="1500" noProof="0" dirty="0">
              <a:solidFill>
                <a:prstClr val="black"/>
              </a:solidFill>
              <a:latin typeface="Book Antiqu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kumimoji="0" lang="en-GB" sz="1500" b="0" i="0" u="none" strike="noStrike" kern="1200" cap="none" spc="0" normalizeH="0" dirty="0">
                <a:ln>
                  <a:noFill/>
                </a:ln>
                <a:solidFill>
                  <a:prstClr val="black"/>
                </a:solidFill>
                <a:effectLst/>
                <a:uLnTx/>
                <a:uFillTx/>
                <a:latin typeface="Book Antiqua"/>
                <a:ea typeface="+mn-ea"/>
                <a:cs typeface="Book Antiqua"/>
              </a:rPr>
              <a:t>SAS is not case-sensitive</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kumimoji="0" lang="en-GB" sz="1500" b="0" i="0" u="none" strike="noStrike" kern="1200" cap="none" spc="0" normalizeH="0" dirty="0">
              <a:ln>
                <a:noFill/>
              </a:ln>
              <a:solidFill>
                <a:prstClr val="black"/>
              </a:solidFill>
              <a:effectLst/>
              <a:uLnTx/>
              <a:uFillTx/>
              <a:latin typeface="Book Antiqua"/>
              <a:ea typeface="+mn-e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lang="en-GB" sz="1500" noProof="0" dirty="0">
                <a:solidFill>
                  <a:prstClr val="black"/>
                </a:solidFill>
                <a:latin typeface="Book Antiqua"/>
                <a:cs typeface="Book Antiqua"/>
              </a:rPr>
              <a:t>The most common error in SAS Programing is a misplaced (Or missing) semi-colon [;].</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lang="en-GB" sz="1500" noProof="0" dirty="0">
              <a:solidFill>
                <a:prstClr val="black"/>
              </a:solidFill>
              <a:latin typeface="Book Antiqu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kumimoji="0" lang="en-GB" sz="1500" b="0" i="0" u="none" strike="noStrike" kern="1200" cap="none" spc="0" normalizeH="0" dirty="0">
                <a:ln>
                  <a:noFill/>
                </a:ln>
                <a:solidFill>
                  <a:prstClr val="black"/>
                </a:solidFill>
                <a:effectLst/>
                <a:uLnTx/>
                <a:uFillTx/>
                <a:latin typeface="Book Antiqua"/>
                <a:ea typeface="+mn-ea"/>
                <a:cs typeface="Book Antiqua"/>
              </a:rPr>
              <a:t>The second most common error in SAS Programming is a missing Run Statement.</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kumimoji="0" lang="en-GB" sz="1500" b="0" i="0" u="none" strike="noStrike" kern="1200" cap="none" spc="0" normalizeH="0" dirty="0">
              <a:ln>
                <a:noFill/>
              </a:ln>
              <a:solidFill>
                <a:prstClr val="black"/>
              </a:solidFill>
              <a:effectLst/>
              <a:uLnTx/>
              <a:uFillTx/>
              <a:latin typeface="Book Antiqua"/>
              <a:ea typeface="+mn-ea"/>
              <a:cs typeface="Book Antiqua"/>
            </a:endParaRP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r>
              <a:rPr lang="en-GB" sz="1500" noProof="0" dirty="0">
                <a:solidFill>
                  <a:prstClr val="black"/>
                </a:solidFill>
                <a:latin typeface="Book Antiqua"/>
                <a:cs typeface="Book Antiqua"/>
              </a:rPr>
              <a:t>A third common error is the presence of unmatched quotation marks.</a:t>
            </a:r>
          </a:p>
          <a:p>
            <a:pPr marL="742950" marR="0" lvl="1" indent="-285750" algn="just" defTabSz="457200" rtl="0" eaLnBrk="1" fontAlgn="auto" latinLnBrk="0" hangingPunct="1">
              <a:spcBef>
                <a:spcPts val="0"/>
              </a:spcBef>
              <a:spcAft>
                <a:spcPts val="0"/>
              </a:spcAft>
              <a:buClrTx/>
              <a:buSzTx/>
              <a:buFont typeface="Arial" panose="020B0604020202020204" pitchFamily="34" charset="0"/>
              <a:buChar char="•"/>
              <a:tabLst/>
              <a:defRPr/>
            </a:pPr>
            <a:endParaRPr lang="en-GB" sz="1500" noProof="0" dirty="0">
              <a:solidFill>
                <a:prstClr val="black"/>
              </a:solidFill>
              <a:latin typeface="Book Antiqua"/>
              <a:cs typeface="Book Antiqua"/>
            </a:endParaRPr>
          </a:p>
        </p:txBody>
      </p:sp>
    </p:spTree>
    <p:extLst>
      <p:ext uri="{BB962C8B-B14F-4D97-AF65-F5344CB8AC3E}">
        <p14:creationId xmlns:p14="http://schemas.microsoft.com/office/powerpoint/2010/main" val="1110521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10"/>
          <p:cNvSpPr txBox="1"/>
          <p:nvPr/>
        </p:nvSpPr>
        <p:spPr>
          <a:xfrm>
            <a:off x="2004836" y="523443"/>
            <a:ext cx="601284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small" spc="0" normalizeH="0" baseline="0" noProof="0" dirty="0">
                <a:ln>
                  <a:noFill/>
                </a:ln>
                <a:solidFill>
                  <a:srgbClr val="342E2B"/>
                </a:solidFill>
                <a:effectLst/>
                <a:uLnTx/>
                <a:uFillTx/>
                <a:latin typeface="Book Antiqua"/>
                <a:ea typeface="+mn-ea"/>
                <a:cs typeface="Book Antiqua"/>
              </a:rPr>
              <a:t>Getting Help From</a:t>
            </a:r>
            <a:r>
              <a:rPr kumimoji="0" lang="en-GB" sz="2000" b="1" i="0" u="none" strike="noStrike" kern="1200" cap="small" spc="0" normalizeH="0" noProof="0" dirty="0">
                <a:ln>
                  <a:noFill/>
                </a:ln>
                <a:solidFill>
                  <a:srgbClr val="342E2B"/>
                </a:solidFill>
                <a:effectLst/>
                <a:uLnTx/>
                <a:uFillTx/>
                <a:latin typeface="Book Antiqua"/>
                <a:ea typeface="+mn-ea"/>
                <a:cs typeface="Book Antiqua"/>
              </a:rPr>
              <a:t> SAS</a:t>
            </a:r>
            <a:endParaRPr kumimoji="0" lang="en-GB" sz="2000" b="1" i="0" u="none" strike="noStrike" kern="1200" cap="small" spc="0" normalizeH="0" baseline="0" noProof="0" dirty="0">
              <a:ln>
                <a:noFill/>
              </a:ln>
              <a:solidFill>
                <a:srgbClr val="342E2B"/>
              </a:solidFill>
              <a:effectLst/>
              <a:uLnTx/>
              <a:uFillTx/>
              <a:latin typeface="Book Antiqua"/>
              <a:ea typeface="+mn-ea"/>
              <a:cs typeface="Book Antiqua"/>
            </a:endParaRPr>
          </a:p>
        </p:txBody>
      </p:sp>
      <p:sp>
        <p:nvSpPr>
          <p:cNvPr id="2" name="Rectangle 1"/>
          <p:cNvSpPr/>
          <p:nvPr/>
        </p:nvSpPr>
        <p:spPr>
          <a:xfrm>
            <a:off x="303178" y="984595"/>
            <a:ext cx="7714505" cy="1923604"/>
          </a:xfrm>
          <a:prstGeom prst="rect">
            <a:avLst/>
          </a:prstGeom>
        </p:spPr>
        <p:txBody>
          <a:bodyPr wrap="square">
            <a:spAutoFit/>
          </a:bodyPr>
          <a:lstStyle/>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700" dirty="0">
                <a:solidFill>
                  <a:prstClr val="black"/>
                </a:solidFill>
                <a:latin typeface="Book Antiqua"/>
                <a:cs typeface="Book Antiqua"/>
              </a:rPr>
              <a:t>SAS help is available from the SAS help pull-down menu.</a:t>
            </a:r>
          </a:p>
          <a:p>
            <a:pPr marR="0" lvl="1" algn="just" defTabSz="457200" rtl="0" eaLnBrk="1" fontAlgn="auto" latinLnBrk="0" hangingPunct="1">
              <a:lnSpc>
                <a:spcPct val="100000"/>
              </a:lnSpc>
              <a:spcBef>
                <a:spcPts val="0"/>
              </a:spcBef>
              <a:spcAft>
                <a:spcPts val="0"/>
              </a:spcAft>
              <a:buClrTx/>
              <a:buSzTx/>
              <a:tabLst/>
              <a:defRPr/>
            </a:pPr>
            <a:endParaRPr lang="en-GB" sz="1700" dirty="0">
              <a:solidFill>
                <a:prstClr val="black"/>
              </a:solidFill>
              <a:latin typeface="Book Antiqua"/>
              <a:cs typeface="Book Antiqua"/>
            </a:endParaRPr>
          </a:p>
          <a:p>
            <a:pPr marL="742950" marR="0" lvl="1"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700" b="0" i="0" u="none" strike="noStrike" kern="1200" cap="none" spc="0" normalizeH="0" baseline="0" noProof="0" dirty="0">
                <a:ln>
                  <a:noFill/>
                </a:ln>
                <a:solidFill>
                  <a:prstClr val="black"/>
                </a:solidFill>
                <a:effectLst/>
                <a:uLnTx/>
                <a:uFillTx/>
                <a:latin typeface="Book Antiqua"/>
                <a:cs typeface="Book Antiqua"/>
              </a:rPr>
              <a:t>By</a:t>
            </a:r>
            <a:r>
              <a:rPr kumimoji="0" lang="en-GB" sz="1700" b="0" i="0" u="none" strike="noStrike" kern="1200" cap="none" spc="0" normalizeH="0" noProof="0" dirty="0">
                <a:ln>
                  <a:noFill/>
                </a:ln>
                <a:solidFill>
                  <a:prstClr val="black"/>
                </a:solidFill>
                <a:effectLst/>
                <a:uLnTx/>
                <a:uFillTx/>
                <a:latin typeface="Book Antiqua"/>
                <a:cs typeface="Book Antiqua"/>
              </a:rPr>
              <a:t> </a:t>
            </a:r>
            <a:r>
              <a:rPr lang="en-GB" sz="1700" dirty="0">
                <a:solidFill>
                  <a:prstClr val="black"/>
                </a:solidFill>
                <a:latin typeface="Book Antiqua"/>
                <a:cs typeface="Book Antiqua"/>
              </a:rPr>
              <a:t>clicking on the </a:t>
            </a:r>
            <a:r>
              <a:rPr kumimoji="0" lang="en-GB" sz="1700" b="0" i="0" u="none" strike="noStrike" kern="1200" cap="none" spc="0" normalizeH="0" noProof="0" dirty="0">
                <a:ln>
                  <a:noFill/>
                </a:ln>
                <a:solidFill>
                  <a:prstClr val="black"/>
                </a:solidFill>
                <a:effectLst/>
                <a:uLnTx/>
                <a:uFillTx/>
                <a:latin typeface="Book Antiqua"/>
                <a:cs typeface="Book Antiqua"/>
              </a:rPr>
              <a:t>-&gt;        -&gt; then selecting the topic SAS Studio Help. It will open up a new browser window. Lastly, scroll down to topic named Programming Documentation and select SAS Procedures by name, if you need help understanding the function of different procedures in SAS</a:t>
            </a:r>
            <a:endParaRPr kumimoji="0" lang="en-GB" sz="1700" b="0" i="0" u="none" strike="noStrike" kern="1200" cap="none" spc="0" normalizeH="0" baseline="0" noProof="0" dirty="0">
              <a:ln>
                <a:noFill/>
              </a:ln>
              <a:solidFill>
                <a:prstClr val="black"/>
              </a:solidFill>
              <a:effectLst/>
              <a:uLnTx/>
              <a:uFillTx/>
              <a:latin typeface="Book Antiqua"/>
              <a:cs typeface="Book Antiqua"/>
            </a:endParaRPr>
          </a:p>
        </p:txBody>
      </p:sp>
      <p:pic>
        <p:nvPicPr>
          <p:cNvPr id="3" name="Picture 2"/>
          <p:cNvPicPr>
            <a:picLocks noChangeAspect="1"/>
          </p:cNvPicPr>
          <p:nvPr/>
        </p:nvPicPr>
        <p:blipFill>
          <a:blip r:embed="rId4"/>
          <a:stretch>
            <a:fillRect/>
          </a:stretch>
        </p:blipFill>
        <p:spPr>
          <a:xfrm>
            <a:off x="2822373" y="3730752"/>
            <a:ext cx="4377774" cy="2252662"/>
          </a:xfrm>
          <a:prstGeom prst="rect">
            <a:avLst/>
          </a:prstGeom>
        </p:spPr>
      </p:pic>
      <p:sp>
        <p:nvSpPr>
          <p:cNvPr id="4" name="Rectangle 3"/>
          <p:cNvSpPr/>
          <p:nvPr/>
        </p:nvSpPr>
        <p:spPr>
          <a:xfrm>
            <a:off x="2822373" y="3718560"/>
            <a:ext cx="4377774" cy="225266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8" name="Oval 7"/>
          <p:cNvSpPr/>
          <p:nvPr/>
        </p:nvSpPr>
        <p:spPr>
          <a:xfrm>
            <a:off x="2721052" y="4844891"/>
            <a:ext cx="1123286" cy="214789"/>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pic>
        <p:nvPicPr>
          <p:cNvPr id="9" name="Picture 8"/>
          <p:cNvPicPr>
            <a:picLocks noChangeAspect="1"/>
          </p:cNvPicPr>
          <p:nvPr/>
        </p:nvPicPr>
        <p:blipFill>
          <a:blip r:embed="rId5"/>
          <a:stretch>
            <a:fillRect/>
          </a:stretch>
        </p:blipFill>
        <p:spPr>
          <a:xfrm>
            <a:off x="529746" y="2993269"/>
            <a:ext cx="9115425" cy="438150"/>
          </a:xfrm>
          <a:prstGeom prst="rect">
            <a:avLst/>
          </a:prstGeom>
        </p:spPr>
      </p:pic>
      <p:pic>
        <p:nvPicPr>
          <p:cNvPr id="10" name="Picture 9"/>
          <p:cNvPicPr>
            <a:picLocks noChangeAspect="1"/>
          </p:cNvPicPr>
          <p:nvPr/>
        </p:nvPicPr>
        <p:blipFill>
          <a:blip r:embed="rId6"/>
          <a:stretch>
            <a:fillRect/>
          </a:stretch>
        </p:blipFill>
        <p:spPr>
          <a:xfrm>
            <a:off x="3146106" y="1545295"/>
            <a:ext cx="352425" cy="285750"/>
          </a:xfrm>
          <a:prstGeom prst="rect">
            <a:avLst/>
          </a:prstGeom>
        </p:spPr>
      </p:pic>
      <p:sp>
        <p:nvSpPr>
          <p:cNvPr id="11" name="Rectangle 10"/>
          <p:cNvSpPr/>
          <p:nvPr/>
        </p:nvSpPr>
        <p:spPr>
          <a:xfrm>
            <a:off x="529746" y="2975897"/>
            <a:ext cx="9115425" cy="45552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2" name="Oval 11"/>
          <p:cNvSpPr/>
          <p:nvPr/>
        </p:nvSpPr>
        <p:spPr>
          <a:xfrm>
            <a:off x="8327136" y="2908199"/>
            <a:ext cx="402336" cy="52322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3" name="Rectangle 12"/>
          <p:cNvSpPr/>
          <p:nvPr/>
        </p:nvSpPr>
        <p:spPr>
          <a:xfrm>
            <a:off x="3146106" y="1545295"/>
            <a:ext cx="352425" cy="2857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8041182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186703" y="2719454"/>
            <a:ext cx="7532594" cy="107721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ZA" sz="3200" dirty="0">
                <a:solidFill>
                  <a:prstClr val="white"/>
                </a:solidFill>
                <a:latin typeface="Calibri"/>
              </a:rPr>
              <a:t>Study</a:t>
            </a:r>
          </a:p>
          <a:p>
            <a:pPr marL="0" marR="0" lvl="0" indent="0" algn="ctr" defTabSz="457200" rtl="0" eaLnBrk="1" fontAlgn="auto" latinLnBrk="0" hangingPunct="1">
              <a:lnSpc>
                <a:spcPct val="100000"/>
              </a:lnSpc>
              <a:spcBef>
                <a:spcPts val="0"/>
              </a:spcBef>
              <a:spcAft>
                <a:spcPts val="0"/>
              </a:spcAft>
              <a:buClrTx/>
              <a:buSzTx/>
              <a:buFontTx/>
              <a:buNone/>
              <a:tabLst/>
              <a:defRPr/>
            </a:pPr>
            <a:r>
              <a:rPr lang="en-ZA" sz="3200" dirty="0">
                <a:solidFill>
                  <a:prstClr val="white"/>
                </a:solidFill>
                <a:latin typeface="Calibri"/>
              </a:rPr>
              <a:t>Chapter 1 </a:t>
            </a:r>
            <a:endParaRPr kumimoji="0" lang="en-ZA" sz="32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p:cNvSpPr txBox="1"/>
          <p:nvPr/>
        </p:nvSpPr>
        <p:spPr>
          <a:xfrm>
            <a:off x="6702088" y="5220717"/>
            <a:ext cx="3024161" cy="101566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Matthew Valentine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Office: Tech Room Lab K2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rPr>
              <a:t>Mvalentine@uwc.ac.za</a:t>
            </a:r>
            <a:endParaRPr kumimoji="0" lang="en-ZA" sz="18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endParaRPr>
          </a:p>
        </p:txBody>
      </p:sp>
    </p:spTree>
    <p:extLst>
      <p:ext uri="{BB962C8B-B14F-4D97-AF65-F5344CB8AC3E}">
        <p14:creationId xmlns:p14="http://schemas.microsoft.com/office/powerpoint/2010/main" val="643853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15002</TotalTime>
  <Words>1128</Words>
  <Application>Microsoft Office PowerPoint</Application>
  <PresentationFormat>A4 Paper (210x297 mm)</PresentationFormat>
  <Paragraphs>123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Baskerville Old Face</vt:lpstr>
      <vt:lpstr>Book Antiqua</vt:lpstr>
      <vt:lpstr>Calibri</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Windows User</cp:lastModifiedBy>
  <cp:revision>723</cp:revision>
  <dcterms:created xsi:type="dcterms:W3CDTF">2015-03-11T08:56:03Z</dcterms:created>
  <dcterms:modified xsi:type="dcterms:W3CDTF">2020-11-25T18:21:44Z</dcterms:modified>
</cp:coreProperties>
</file>