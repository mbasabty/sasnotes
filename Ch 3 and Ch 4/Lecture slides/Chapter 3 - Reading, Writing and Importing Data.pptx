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256" r:id="rId2"/>
    <p:sldId id="364" r:id="rId3"/>
    <p:sldId id="375" r:id="rId4"/>
    <p:sldId id="376" r:id="rId5"/>
    <p:sldId id="377" r:id="rId6"/>
    <p:sldId id="381" r:id="rId7"/>
    <p:sldId id="378" r:id="rId8"/>
    <p:sldId id="380" r:id="rId9"/>
    <p:sldId id="382" r:id="rId10"/>
  </p:sldIdLst>
  <p:sldSz cx="9906000" cy="6858000" type="A4"/>
  <p:notesSz cx="10409238" cy="729615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64DD034-75F4-5147-85C5-57B72AD43751}">
          <p14:sldIdLst>
            <p14:sldId id="256"/>
            <p14:sldId id="364"/>
            <p14:sldId id="375"/>
            <p14:sldId id="376"/>
            <p14:sldId id="377"/>
            <p14:sldId id="381"/>
            <p14:sldId id="378"/>
            <p14:sldId id="380"/>
            <p14:sldId id="382"/>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hn M" initials="J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37" autoAdjust="0"/>
    <p:restoredTop sz="92374" autoAdjust="0"/>
  </p:normalViewPr>
  <p:slideViewPr>
    <p:cSldViewPr snapToGrid="0" snapToObjects="1">
      <p:cViewPr varScale="1">
        <p:scale>
          <a:sx n="79" d="100"/>
          <a:sy n="79" d="100"/>
        </p:scale>
        <p:origin x="90" y="69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ZA"/>
          </a:p>
        </p:txBody>
      </p:sp>
      <p:sp>
        <p:nvSpPr>
          <p:cNvPr id="3" name="Date Placeholder 2"/>
          <p:cNvSpPr>
            <a:spLocks noGrp="1"/>
          </p:cNvSpPr>
          <p:nvPr>
            <p:ph type="dt" sz="quarter" idx="1"/>
          </p:nvPr>
        </p:nvSpPr>
        <p:spPr>
          <a:xfrm>
            <a:off x="5896159" y="0"/>
            <a:ext cx="4510670" cy="364808"/>
          </a:xfrm>
          <a:prstGeom prst="rect">
            <a:avLst/>
          </a:prstGeom>
        </p:spPr>
        <p:txBody>
          <a:bodyPr vert="horz" lIns="101169" tIns="50585" rIns="101169" bIns="50585" rtlCol="0"/>
          <a:lstStyle>
            <a:lvl1pPr algn="r">
              <a:defRPr sz="1300"/>
            </a:lvl1pPr>
          </a:lstStyle>
          <a:p>
            <a:fld id="{C605BAAB-8757-4FBD-9BED-960688D401C4}" type="datetimeFigureOut">
              <a:rPr lang="en-US" smtClean="0"/>
              <a:pPr/>
              <a:t>4/28/2020</a:t>
            </a:fld>
            <a:endParaRPr lang="en-ZA"/>
          </a:p>
        </p:txBody>
      </p:sp>
      <p:sp>
        <p:nvSpPr>
          <p:cNvPr id="4" name="Footer Placeholder 3"/>
          <p:cNvSpPr>
            <a:spLocks noGrp="1"/>
          </p:cNvSpPr>
          <p:nvPr>
            <p:ph type="ftr" sz="quarter" idx="2"/>
          </p:nvPr>
        </p:nvSpPr>
        <p:spPr>
          <a:xfrm>
            <a:off x="0" y="6930076"/>
            <a:ext cx="4510670" cy="364808"/>
          </a:xfrm>
          <a:prstGeom prst="rect">
            <a:avLst/>
          </a:prstGeom>
        </p:spPr>
        <p:txBody>
          <a:bodyPr vert="horz" lIns="101169" tIns="50585" rIns="101169" bIns="50585" rtlCol="0" anchor="b"/>
          <a:lstStyle>
            <a:lvl1pPr algn="l">
              <a:defRPr sz="1300"/>
            </a:lvl1pPr>
          </a:lstStyle>
          <a:p>
            <a:endParaRPr lang="en-ZA"/>
          </a:p>
        </p:txBody>
      </p:sp>
      <p:sp>
        <p:nvSpPr>
          <p:cNvPr id="5" name="Slide Number Placeholder 4"/>
          <p:cNvSpPr>
            <a:spLocks noGrp="1"/>
          </p:cNvSpPr>
          <p:nvPr>
            <p:ph type="sldNum" sz="quarter" idx="3"/>
          </p:nvPr>
        </p:nvSpPr>
        <p:spPr>
          <a:xfrm>
            <a:off x="5896159" y="6930076"/>
            <a:ext cx="4510670" cy="364808"/>
          </a:xfrm>
          <a:prstGeom prst="rect">
            <a:avLst/>
          </a:prstGeom>
        </p:spPr>
        <p:txBody>
          <a:bodyPr vert="horz" lIns="101169" tIns="50585" rIns="101169" bIns="50585" rtlCol="0" anchor="b"/>
          <a:lstStyle>
            <a:lvl1pPr algn="r">
              <a:defRPr sz="1300"/>
            </a:lvl1pPr>
          </a:lstStyle>
          <a:p>
            <a:fld id="{4A9A6402-836E-4507-B641-B01FDFCE6F04}" type="slidenum">
              <a:rPr lang="en-ZA" smtClean="0"/>
              <a:pPr/>
              <a:t>‹#›</a:t>
            </a:fld>
            <a:endParaRPr lang="en-ZA"/>
          </a:p>
        </p:txBody>
      </p:sp>
    </p:spTree>
    <p:extLst>
      <p:ext uri="{BB962C8B-B14F-4D97-AF65-F5344CB8AC3E}">
        <p14:creationId xmlns:p14="http://schemas.microsoft.com/office/powerpoint/2010/main" val="3606002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510670" cy="364808"/>
          </a:xfrm>
          <a:prstGeom prst="rect">
            <a:avLst/>
          </a:prstGeom>
        </p:spPr>
        <p:txBody>
          <a:bodyPr vert="horz" lIns="101169" tIns="50585" rIns="101169" bIns="50585" rtlCol="0"/>
          <a:lstStyle>
            <a:lvl1pPr algn="l">
              <a:defRPr sz="1300"/>
            </a:lvl1pPr>
          </a:lstStyle>
          <a:p>
            <a:endParaRPr lang="en-US"/>
          </a:p>
        </p:txBody>
      </p:sp>
      <p:sp>
        <p:nvSpPr>
          <p:cNvPr id="3" name="Date Placeholder 2"/>
          <p:cNvSpPr>
            <a:spLocks noGrp="1"/>
          </p:cNvSpPr>
          <p:nvPr>
            <p:ph type="dt" idx="1"/>
          </p:nvPr>
        </p:nvSpPr>
        <p:spPr>
          <a:xfrm>
            <a:off x="5896159" y="0"/>
            <a:ext cx="4510670" cy="364808"/>
          </a:xfrm>
          <a:prstGeom prst="rect">
            <a:avLst/>
          </a:prstGeom>
        </p:spPr>
        <p:txBody>
          <a:bodyPr vert="horz" lIns="101169" tIns="50585" rIns="101169" bIns="50585" rtlCol="0"/>
          <a:lstStyle>
            <a:lvl1pPr algn="r">
              <a:defRPr sz="1300"/>
            </a:lvl1pPr>
          </a:lstStyle>
          <a:p>
            <a:fld id="{1C2F6879-603E-754B-9B04-8AAE8D479E4C}" type="datetimeFigureOut">
              <a:rPr lang="en-US" smtClean="0"/>
              <a:pPr/>
              <a:t>4/28/2020</a:t>
            </a:fld>
            <a:endParaRPr lang="en-US"/>
          </a:p>
        </p:txBody>
      </p:sp>
      <p:sp>
        <p:nvSpPr>
          <p:cNvPr id="4" name="Slide Image Placeholder 3"/>
          <p:cNvSpPr>
            <a:spLocks noGrp="1" noRot="1" noChangeAspect="1"/>
          </p:cNvSpPr>
          <p:nvPr>
            <p:ph type="sldImg" idx="2"/>
          </p:nvPr>
        </p:nvSpPr>
        <p:spPr>
          <a:xfrm>
            <a:off x="3228975" y="547688"/>
            <a:ext cx="3951288" cy="2735262"/>
          </a:xfrm>
          <a:prstGeom prst="rect">
            <a:avLst/>
          </a:prstGeom>
          <a:noFill/>
          <a:ln w="12700">
            <a:solidFill>
              <a:prstClr val="black"/>
            </a:solidFill>
          </a:ln>
        </p:spPr>
        <p:txBody>
          <a:bodyPr vert="horz" lIns="101169" tIns="50585" rIns="101169" bIns="50585" rtlCol="0" anchor="ctr"/>
          <a:lstStyle/>
          <a:p>
            <a:endParaRPr lang="en-US"/>
          </a:p>
        </p:txBody>
      </p:sp>
      <p:sp>
        <p:nvSpPr>
          <p:cNvPr id="5" name="Notes Placeholder 4"/>
          <p:cNvSpPr>
            <a:spLocks noGrp="1"/>
          </p:cNvSpPr>
          <p:nvPr>
            <p:ph type="body" sz="quarter" idx="3"/>
          </p:nvPr>
        </p:nvSpPr>
        <p:spPr>
          <a:xfrm>
            <a:off x="1040924" y="3465671"/>
            <a:ext cx="8327390" cy="3283268"/>
          </a:xfrm>
          <a:prstGeom prst="rect">
            <a:avLst/>
          </a:prstGeom>
        </p:spPr>
        <p:txBody>
          <a:bodyPr vert="horz" lIns="101169" tIns="50585" rIns="101169" bIns="5058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930076"/>
            <a:ext cx="4510670" cy="364808"/>
          </a:xfrm>
          <a:prstGeom prst="rect">
            <a:avLst/>
          </a:prstGeom>
        </p:spPr>
        <p:txBody>
          <a:bodyPr vert="horz" lIns="101169" tIns="50585" rIns="101169" bIns="50585" rtlCol="0" anchor="b"/>
          <a:lstStyle>
            <a:lvl1pPr algn="l">
              <a:defRPr sz="1300"/>
            </a:lvl1pPr>
          </a:lstStyle>
          <a:p>
            <a:endParaRPr lang="en-US"/>
          </a:p>
        </p:txBody>
      </p:sp>
      <p:sp>
        <p:nvSpPr>
          <p:cNvPr id="7" name="Slide Number Placeholder 6"/>
          <p:cNvSpPr>
            <a:spLocks noGrp="1"/>
          </p:cNvSpPr>
          <p:nvPr>
            <p:ph type="sldNum" sz="quarter" idx="5"/>
          </p:nvPr>
        </p:nvSpPr>
        <p:spPr>
          <a:xfrm>
            <a:off x="5896159" y="6930076"/>
            <a:ext cx="4510670" cy="364808"/>
          </a:xfrm>
          <a:prstGeom prst="rect">
            <a:avLst/>
          </a:prstGeom>
        </p:spPr>
        <p:txBody>
          <a:bodyPr vert="horz" lIns="101169" tIns="50585" rIns="101169" bIns="50585" rtlCol="0" anchor="b"/>
          <a:lstStyle>
            <a:lvl1pPr algn="r">
              <a:defRPr sz="1300"/>
            </a:lvl1pPr>
          </a:lstStyle>
          <a:p>
            <a:fld id="{D14C1D86-6F9C-9646-B809-264C58FC1970}" type="slidenum">
              <a:rPr lang="en-US" smtClean="0"/>
              <a:pPr/>
              <a:t>‹#›</a:t>
            </a:fld>
            <a:endParaRPr lang="en-US"/>
          </a:p>
        </p:txBody>
      </p:sp>
    </p:spTree>
    <p:extLst>
      <p:ext uri="{BB962C8B-B14F-4D97-AF65-F5344CB8AC3E}">
        <p14:creationId xmlns:p14="http://schemas.microsoft.com/office/powerpoint/2010/main" val="320650887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14C1D86-6F9C-9646-B809-264C58FC1970}" type="slidenum">
              <a:rPr lang="en-US" smtClean="0"/>
              <a:pPr/>
              <a:t>1</a:t>
            </a:fld>
            <a:endParaRPr lang="en-US"/>
          </a:p>
        </p:txBody>
      </p:sp>
    </p:spTree>
    <p:extLst>
      <p:ext uri="{BB962C8B-B14F-4D97-AF65-F5344CB8AC3E}">
        <p14:creationId xmlns:p14="http://schemas.microsoft.com/office/powerpoint/2010/main" val="26241953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2</a:t>
            </a:fld>
            <a:endParaRPr lang="en-US"/>
          </a:p>
        </p:txBody>
      </p:sp>
    </p:spTree>
    <p:extLst>
      <p:ext uri="{BB962C8B-B14F-4D97-AF65-F5344CB8AC3E}">
        <p14:creationId xmlns:p14="http://schemas.microsoft.com/office/powerpoint/2010/main" val="3533207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3</a:t>
            </a:fld>
            <a:endParaRPr lang="en-US"/>
          </a:p>
        </p:txBody>
      </p:sp>
    </p:spTree>
    <p:extLst>
      <p:ext uri="{BB962C8B-B14F-4D97-AF65-F5344CB8AC3E}">
        <p14:creationId xmlns:p14="http://schemas.microsoft.com/office/powerpoint/2010/main" val="1064344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4</a:t>
            </a:fld>
            <a:endParaRPr lang="en-US"/>
          </a:p>
        </p:txBody>
      </p:sp>
    </p:spTree>
    <p:extLst>
      <p:ext uri="{BB962C8B-B14F-4D97-AF65-F5344CB8AC3E}">
        <p14:creationId xmlns:p14="http://schemas.microsoft.com/office/powerpoint/2010/main" val="700423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5</a:t>
            </a:fld>
            <a:endParaRPr lang="en-US"/>
          </a:p>
        </p:txBody>
      </p:sp>
    </p:spTree>
    <p:extLst>
      <p:ext uri="{BB962C8B-B14F-4D97-AF65-F5344CB8AC3E}">
        <p14:creationId xmlns:p14="http://schemas.microsoft.com/office/powerpoint/2010/main" val="1608821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5912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7</a:t>
            </a:fld>
            <a:endParaRPr lang="en-US"/>
          </a:p>
        </p:txBody>
      </p:sp>
    </p:spTree>
    <p:extLst>
      <p:ext uri="{BB962C8B-B14F-4D97-AF65-F5344CB8AC3E}">
        <p14:creationId xmlns:p14="http://schemas.microsoft.com/office/powerpoint/2010/main" val="4212562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fld id="{D14C1D86-6F9C-9646-B809-264C58FC1970}" type="slidenum">
              <a:rPr lang="en-US" smtClean="0"/>
              <a:pPr/>
              <a:t>8</a:t>
            </a:fld>
            <a:endParaRPr lang="en-US"/>
          </a:p>
        </p:txBody>
      </p:sp>
    </p:spTree>
    <p:extLst>
      <p:ext uri="{BB962C8B-B14F-4D97-AF65-F5344CB8AC3E}">
        <p14:creationId xmlns:p14="http://schemas.microsoft.com/office/powerpoint/2010/main" val="1059791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14C1D86-6F9C-9646-B809-264C58FC1970}"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68756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40388722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354433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6906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4D5889-9C47-1542-89BF-71BA5CAEC00A}" type="datetimeFigureOut">
              <a:rPr lang="en-US" smtClean="0"/>
              <a:pPr/>
              <a:t>4/28/2020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70258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C4D5889-9C47-1542-89BF-71BA5CAEC00A}" type="datetimeFigureOut">
              <a:rPr lang="en-US" smtClean="0"/>
              <a:pPr/>
              <a:t>4/28/2020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4858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4D5889-9C47-1542-89BF-71BA5CAEC00A}" type="datetimeFigureOut">
              <a:rPr lang="en-US" smtClean="0"/>
              <a:pPr/>
              <a:t>4/28/2020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2915583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4D5889-9C47-1542-89BF-71BA5CAEC00A}" type="datetimeFigureOut">
              <a:rPr lang="en-US" smtClean="0"/>
              <a:pPr/>
              <a:t>4/28/2020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28283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555946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4D5889-9C47-1542-89BF-71BA5CAEC00A}" type="datetimeFigureOut">
              <a:rPr lang="en-US" smtClean="0"/>
              <a:pPr/>
              <a:t>4/28/2020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1146288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979724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95300" y="274639"/>
            <a:ext cx="652145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4D5889-9C47-1542-89BF-71BA5CAEC00A}" type="datetimeFigureOut">
              <a:rPr lang="en-US" smtClean="0"/>
              <a:pPr/>
              <a:t>4/28/2020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DF8427-4C18-6C43-BFAB-BAEC5845A11E}" type="slidenum">
              <a:rPr lang="en-US" smtClean="0"/>
              <a:pPr/>
              <a:t>‹#›</a:t>
            </a:fld>
            <a:endParaRPr lang="en-US"/>
          </a:p>
        </p:txBody>
      </p:sp>
    </p:spTree>
    <p:extLst>
      <p:ext uri="{BB962C8B-B14F-4D97-AF65-F5344CB8AC3E}">
        <p14:creationId xmlns:p14="http://schemas.microsoft.com/office/powerpoint/2010/main" val="33575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4D5889-9C47-1542-89BF-71BA5CAEC00A}" type="datetimeFigureOut">
              <a:rPr lang="en-US" smtClean="0"/>
              <a:pPr/>
              <a:t>4/28/2020</a:t>
            </a:fld>
            <a:endParaRPr lang="en-US"/>
          </a:p>
        </p:txBody>
      </p:sp>
      <p:sp>
        <p:nvSpPr>
          <p:cNvPr id="5" name="Footer Placehold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DF8427-4C18-6C43-BFAB-BAEC5845A11E}" type="slidenum">
              <a:rPr lang="en-US" smtClean="0"/>
              <a:pPr/>
              <a:t>‹#›</a:t>
            </a:fld>
            <a:endParaRPr lang="en-US"/>
          </a:p>
        </p:txBody>
      </p:sp>
    </p:spTree>
    <p:extLst>
      <p:ext uri="{BB962C8B-B14F-4D97-AF65-F5344CB8AC3E}">
        <p14:creationId xmlns:p14="http://schemas.microsoft.com/office/powerpoint/2010/main" val="280042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jp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r>
              <a:rPr lang="en-ZA" sz="2400" b="1" dirty="0" smtClean="0">
                <a:solidFill>
                  <a:srgbClr val="A7853E"/>
                </a:solidFill>
                <a:latin typeface="Baskerville Old Face" charset="0"/>
                <a:cs typeface="+mj-cs"/>
              </a:rPr>
              <a:t/>
            </a:r>
            <a:br>
              <a:rPr lang="en-ZA" sz="2400" b="1" dirty="0" smtClean="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2087393" y="2104868"/>
            <a:ext cx="6098241" cy="1569660"/>
          </a:xfrm>
          <a:prstGeom prst="rect">
            <a:avLst/>
          </a:prstGeom>
        </p:spPr>
        <p:txBody>
          <a:bodyPr wrap="square">
            <a:spAutoFit/>
          </a:bodyPr>
          <a:lstStyle/>
          <a:p>
            <a:pPr algn="ctr"/>
            <a:r>
              <a:rPr lang="en-ZA" sz="3200" b="1" spc="50" dirty="0" smtClean="0">
                <a:ln w="0"/>
                <a:solidFill>
                  <a:schemeClr val="bg2"/>
                </a:solidFill>
                <a:effectLst>
                  <a:innerShdw blurRad="63500" dist="50800" dir="13500000">
                    <a:srgbClr val="000000">
                      <a:alpha val="50000"/>
                    </a:srgbClr>
                  </a:innerShdw>
                </a:effectLst>
              </a:rPr>
              <a:t>Lecture_3</a:t>
            </a:r>
          </a:p>
          <a:p>
            <a:pPr algn="ctr"/>
            <a:r>
              <a:rPr lang="en-ZA" sz="3200" b="1" spc="50" dirty="0" smtClean="0">
                <a:ln w="0"/>
                <a:solidFill>
                  <a:schemeClr val="bg2"/>
                </a:solidFill>
                <a:effectLst>
                  <a:innerShdw blurRad="63500" dist="50800" dir="13500000">
                    <a:srgbClr val="000000">
                      <a:alpha val="50000"/>
                    </a:srgbClr>
                  </a:innerShdw>
                </a:effectLst>
              </a:rPr>
              <a:t>Reading, Writing and Importing Data</a:t>
            </a:r>
            <a:endParaRPr lang="en-ZA" sz="3200" b="1" spc="50" dirty="0">
              <a:ln w="0"/>
              <a:solidFill>
                <a:schemeClr val="bg2"/>
              </a:solidFill>
              <a:effectLst>
                <a:innerShdw blurRad="63500" dist="50800" dir="13500000">
                  <a:srgbClr val="000000">
                    <a:alpha val="50000"/>
                  </a:srgbClr>
                </a:innerShdw>
              </a:effectLst>
            </a:endParaRPr>
          </a:p>
        </p:txBody>
      </p:sp>
      <p:sp>
        <p:nvSpPr>
          <p:cNvPr id="5" name="TextBox 4"/>
          <p:cNvSpPr txBox="1"/>
          <p:nvPr/>
        </p:nvSpPr>
        <p:spPr>
          <a:xfrm>
            <a:off x="6702088" y="5220717"/>
            <a:ext cx="3024161" cy="1015663"/>
          </a:xfrm>
          <a:prstGeom prst="rect">
            <a:avLst/>
          </a:prstGeom>
          <a:noFill/>
        </p:spPr>
        <p:txBody>
          <a:bodyPr wrap="none" rtlCol="0">
            <a:spAutoFit/>
          </a:bodyPr>
          <a:lstStyle/>
          <a:p>
            <a:r>
              <a:rPr lang="en-ZA" sz="2000" b="1" spc="50" dirty="0" smtClean="0">
                <a:ln w="0"/>
                <a:solidFill>
                  <a:schemeClr val="bg2"/>
                </a:solidFill>
                <a:effectLst>
                  <a:innerShdw blurRad="63500" dist="50800" dir="13500000">
                    <a:srgbClr val="000000">
                      <a:alpha val="50000"/>
                    </a:srgbClr>
                  </a:innerShdw>
                </a:effectLst>
              </a:rPr>
              <a:t>Matthew Valentine</a:t>
            </a:r>
          </a:p>
          <a:p>
            <a:r>
              <a:rPr lang="en-ZA" sz="2000" b="1" spc="50" dirty="0" smtClean="0">
                <a:ln w="0"/>
                <a:solidFill>
                  <a:schemeClr val="bg2"/>
                </a:solidFill>
                <a:effectLst>
                  <a:innerShdw blurRad="63500" dist="50800" dir="13500000">
                    <a:srgbClr val="000000">
                      <a:alpha val="50000"/>
                    </a:srgbClr>
                  </a:innerShdw>
                </a:effectLst>
              </a:rPr>
              <a:t>Office: Tech Room Lab K2</a:t>
            </a:r>
          </a:p>
          <a:p>
            <a:r>
              <a:rPr lang="en-ZA" sz="2000" b="1" spc="50" dirty="0" smtClean="0">
                <a:ln w="0"/>
                <a:solidFill>
                  <a:schemeClr val="bg2"/>
                </a:solidFill>
                <a:effectLst>
                  <a:innerShdw blurRad="63500" dist="50800" dir="13500000">
                    <a:srgbClr val="000000">
                      <a:alpha val="50000"/>
                    </a:srgbClr>
                  </a:innerShdw>
                </a:effectLst>
              </a:rPr>
              <a:t>mvalentine@uwc.ac.za</a:t>
            </a:r>
            <a:endParaRPr lang="en-ZA" b="1"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1303492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500" dirty="0" smtClean="0"/>
              <a:t>Working with SAS Libraries and Permanent Data Sets</a:t>
            </a:r>
            <a:endParaRPr lang="en-ZA" sz="25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877832" y="1463007"/>
            <a:ext cx="7874788" cy="175432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b="1" dirty="0" smtClean="0">
                <a:solidFill>
                  <a:srgbClr val="342E2B"/>
                </a:solidFill>
                <a:latin typeface="Avenir Next Cyr W04 Regular" panose="020B0503020202020204" pitchFamily="34" charset="0"/>
                <a:cs typeface="Book Antiqua"/>
              </a:rPr>
              <a:t>SAS Data sets are;</a:t>
            </a:r>
          </a:p>
          <a:p>
            <a:pPr marL="800100" lvl="1"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Are created by a data statement.</a:t>
            </a:r>
          </a:p>
          <a:p>
            <a:pPr marL="800100" lvl="1"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Are internal representation of the data created.</a:t>
            </a:r>
          </a:p>
          <a:p>
            <a:pPr marL="800100" lvl="1"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Contains more than just data values (Contains; variable names, labels, results, calculations and variable formats.</a:t>
            </a:r>
          </a:p>
          <a:p>
            <a:pPr marL="800100" lvl="1"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Are referred to by a name that indicates whether its permanent or temporary.</a:t>
            </a:r>
          </a:p>
        </p:txBody>
      </p:sp>
      <p:sp>
        <p:nvSpPr>
          <p:cNvPr id="7" name="TextBox 6"/>
          <p:cNvSpPr txBox="1"/>
          <p:nvPr/>
        </p:nvSpPr>
        <p:spPr>
          <a:xfrm>
            <a:off x="789742" y="3987283"/>
            <a:ext cx="7874788"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b="1" dirty="0" smtClean="0">
                <a:solidFill>
                  <a:srgbClr val="342E2B"/>
                </a:solidFill>
                <a:latin typeface="Avenir Next Cyr W04 Regular" panose="020B0503020202020204" pitchFamily="34" charset="0"/>
                <a:cs typeface="Book Antiqua"/>
              </a:rPr>
              <a:t>Difference between a temporary and permanent data set;</a:t>
            </a:r>
          </a:p>
          <a:p>
            <a:pPr marL="800100" lvl="1" indent="-342900">
              <a:lnSpc>
                <a:spcPct val="150000"/>
              </a:lnSpc>
              <a:buFont typeface="Arial" panose="020B0604020202020204" pitchFamily="34" charset="0"/>
              <a:buChar char="•"/>
            </a:pPr>
            <a:r>
              <a:rPr lang="en-GB" sz="1200" b="1" dirty="0" smtClean="0">
                <a:solidFill>
                  <a:srgbClr val="342E2B"/>
                </a:solidFill>
                <a:latin typeface="Avenir Next Cyr W04 Regular" panose="020B0503020202020204" pitchFamily="34" charset="0"/>
                <a:cs typeface="Book Antiqua"/>
              </a:rPr>
              <a:t>Temporary Data set </a:t>
            </a:r>
            <a:r>
              <a:rPr lang="en-GB" sz="1200" dirty="0" smtClean="0">
                <a:solidFill>
                  <a:srgbClr val="342E2B"/>
                </a:solidFill>
                <a:latin typeface="Avenir Next Cyr W04 Regular" panose="020B0503020202020204" pitchFamily="34" charset="0"/>
                <a:cs typeface="Book Antiqua"/>
              </a:rPr>
              <a:t>– is named with a single level name. It is created in a DATA statement and is available for analysis only during the active session of SAS.</a:t>
            </a:r>
            <a:endParaRPr lang="en-GB" sz="1200" dirty="0">
              <a:solidFill>
                <a:srgbClr val="342E2B"/>
              </a:solidFill>
              <a:latin typeface="Avenir Next Cyr W04 Regular" panose="020B0503020202020204" pitchFamily="34" charset="0"/>
              <a:cs typeface="Book Antiqua"/>
            </a:endParaRPr>
          </a:p>
          <a:p>
            <a:pPr marL="800100" lvl="1" indent="-342900">
              <a:lnSpc>
                <a:spcPct val="150000"/>
              </a:lnSpc>
              <a:buFont typeface="Arial" panose="020B0604020202020204" pitchFamily="34" charset="0"/>
              <a:buChar char="•"/>
            </a:pPr>
            <a:r>
              <a:rPr lang="en-GB" sz="1200" b="1" dirty="0" smtClean="0">
                <a:solidFill>
                  <a:srgbClr val="342E2B"/>
                </a:solidFill>
                <a:latin typeface="Avenir Next Cyr W04 Regular" panose="020B0503020202020204" pitchFamily="34" charset="0"/>
                <a:cs typeface="Book Antiqua"/>
              </a:rPr>
              <a:t>Permanent Data set </a:t>
            </a:r>
            <a:r>
              <a:rPr lang="en-GB" sz="1200" dirty="0" smtClean="0">
                <a:solidFill>
                  <a:srgbClr val="342E2B"/>
                </a:solidFill>
                <a:latin typeface="Avenir Next Cyr W04 Regular" panose="020B0503020202020204" pitchFamily="34" charset="0"/>
                <a:cs typeface="Book Antiqua"/>
              </a:rPr>
              <a:t>– is a file saved on your hard-disk / Hard drive and is designed with a two-part name, such as </a:t>
            </a:r>
            <a:r>
              <a:rPr lang="en-GB" sz="1200" b="1" i="1" dirty="0" smtClean="0">
                <a:solidFill>
                  <a:srgbClr val="342E2B"/>
                </a:solidFill>
                <a:latin typeface="Avenir Next Cyr W04 Regular" panose="020B0503020202020204" pitchFamily="34" charset="0"/>
                <a:cs typeface="Book Antiqua"/>
              </a:rPr>
              <a:t>REASRCH.SOMEDATA  </a:t>
            </a:r>
            <a:r>
              <a:rPr lang="en-GB" sz="1200" i="1" dirty="0" smtClean="0">
                <a:solidFill>
                  <a:srgbClr val="342E2B"/>
                </a:solidFill>
                <a:latin typeface="Avenir Next Cyr W04 Regular" panose="020B0503020202020204" pitchFamily="34" charset="0"/>
                <a:cs typeface="Book Antiqua"/>
              </a:rPr>
              <a:t>or </a:t>
            </a:r>
            <a:r>
              <a:rPr lang="en-GB" sz="1200" b="1" i="1" dirty="0" smtClean="0">
                <a:solidFill>
                  <a:srgbClr val="342E2B"/>
                </a:solidFill>
                <a:latin typeface="Avenir Next Cyr W04 Regular" panose="020B0503020202020204" pitchFamily="34" charset="0"/>
                <a:cs typeface="Book Antiqua"/>
              </a:rPr>
              <a:t>MYSASLIB.MEASLES2009.</a:t>
            </a:r>
          </a:p>
        </p:txBody>
      </p:sp>
    </p:spTree>
    <p:extLst>
      <p:ext uri="{BB962C8B-B14F-4D97-AF65-F5344CB8AC3E}">
        <p14:creationId xmlns:p14="http://schemas.microsoft.com/office/powerpoint/2010/main" val="31362228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1207556" y="1140945"/>
            <a:ext cx="7874788" cy="6463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Instead of using a temporary SAS data set name such as </a:t>
            </a:r>
            <a:r>
              <a:rPr lang="en-GB" sz="1200" b="1" i="1" dirty="0" smtClean="0">
                <a:solidFill>
                  <a:srgbClr val="342E2B"/>
                </a:solidFill>
                <a:latin typeface="Avenir Next Cyr W04 Regular" panose="020B0503020202020204" pitchFamily="34" charset="0"/>
                <a:cs typeface="Book Antiqua"/>
              </a:rPr>
              <a:t>“PEOPLE” </a:t>
            </a:r>
            <a:r>
              <a:rPr lang="en-GB" sz="1200" dirty="0" smtClean="0">
                <a:solidFill>
                  <a:srgbClr val="342E2B"/>
                </a:solidFill>
                <a:latin typeface="Avenir Next Cyr W04 Regular" panose="020B0503020202020204" pitchFamily="34" charset="0"/>
                <a:cs typeface="Book Antiqua"/>
              </a:rPr>
              <a:t> in the SAS DATA statement, use a window file name for example, instead of using; </a:t>
            </a:r>
            <a:endParaRPr lang="en-GB" sz="1200" b="1" i="1" dirty="0">
              <a:solidFill>
                <a:srgbClr val="342E2B"/>
              </a:solidFill>
              <a:latin typeface="Avenir Next Cyr W04 Regular" panose="020B0503020202020204" pitchFamily="34" charset="0"/>
              <a:cs typeface="Book Antiqua"/>
            </a:endParaRPr>
          </a:p>
        </p:txBody>
      </p:sp>
      <p:sp>
        <p:nvSpPr>
          <p:cNvPr id="7" name="Title 1"/>
          <p:cNvSpPr txBox="1">
            <a:spLocks/>
          </p:cNvSpPr>
          <p:nvPr/>
        </p:nvSpPr>
        <p:spPr>
          <a:xfrm>
            <a:off x="420511" y="242190"/>
            <a:ext cx="8915400" cy="84533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500" dirty="0" smtClean="0"/>
              <a:t>Reading and creating a permanent SAS data set </a:t>
            </a:r>
          </a:p>
          <a:p>
            <a:r>
              <a:rPr lang="en-ZA" sz="2500" dirty="0" smtClean="0"/>
              <a:t>using windows file name technique</a:t>
            </a:r>
            <a:endParaRPr lang="en-ZA" sz="2500" dirty="0"/>
          </a:p>
        </p:txBody>
      </p:sp>
      <p:sp>
        <p:nvSpPr>
          <p:cNvPr id="8" name="Rectangle 7"/>
          <p:cNvSpPr/>
          <p:nvPr/>
        </p:nvSpPr>
        <p:spPr>
          <a:xfrm>
            <a:off x="5501805" y="1531905"/>
            <a:ext cx="2090595" cy="861774"/>
          </a:xfrm>
          <a:prstGeom prst="rect">
            <a:avLst/>
          </a:prstGeom>
        </p:spPr>
        <p:txBody>
          <a:bodyPr wrap="square">
            <a:spAutoFit/>
          </a:bodyPr>
          <a:lstStyle/>
          <a:p>
            <a:r>
              <a:rPr lang="en-ZA" sz="1000" b="1" dirty="0">
                <a:solidFill>
                  <a:srgbClr val="000080"/>
                </a:solidFill>
                <a:latin typeface="Courier New" panose="02070309020205020404" pitchFamily="49" charset="0"/>
              </a:rPr>
              <a:t>DATA</a:t>
            </a:r>
            <a:r>
              <a:rPr lang="en-ZA" sz="1000" dirty="0">
                <a:solidFill>
                  <a:srgbClr val="000000"/>
                </a:solidFill>
                <a:latin typeface="Courier New" panose="02070309020205020404" pitchFamily="49" charset="0"/>
              </a:rPr>
              <a:t> PEOPLE;</a:t>
            </a:r>
          </a:p>
          <a:p>
            <a:endParaRPr lang="en-ZA" sz="1000" dirty="0">
              <a:solidFill>
                <a:srgbClr val="000000"/>
              </a:solidFill>
              <a:latin typeface="Courier New" panose="02070309020205020404" pitchFamily="49" charset="0"/>
            </a:endParaRPr>
          </a:p>
          <a:p>
            <a:r>
              <a:rPr lang="en-ZA" sz="1000" dirty="0">
                <a:solidFill>
                  <a:srgbClr val="008000"/>
                </a:solidFill>
                <a:latin typeface="Courier New" panose="02070309020205020404" pitchFamily="49" charset="0"/>
              </a:rPr>
              <a:t>/*use*/</a:t>
            </a:r>
            <a:endParaRPr lang="en-ZA" sz="1000" dirty="0">
              <a:solidFill>
                <a:srgbClr val="000000"/>
              </a:solidFill>
              <a:latin typeface="Courier New" panose="02070309020205020404" pitchFamily="49" charset="0"/>
            </a:endParaRPr>
          </a:p>
          <a:p>
            <a:endParaRPr lang="en-ZA" sz="1000" dirty="0">
              <a:solidFill>
                <a:srgbClr val="000000"/>
              </a:solidFill>
              <a:latin typeface="Courier New" panose="02070309020205020404" pitchFamily="49" charset="0"/>
            </a:endParaRPr>
          </a:p>
          <a:p>
            <a:r>
              <a:rPr lang="en-ZA" sz="1000" b="1" dirty="0">
                <a:solidFill>
                  <a:srgbClr val="000080"/>
                </a:solidFill>
                <a:latin typeface="Courier New" panose="02070309020205020404" pitchFamily="49" charset="0"/>
              </a:rPr>
              <a:t>DATA</a:t>
            </a:r>
            <a:r>
              <a:rPr lang="en-ZA" sz="1000" dirty="0">
                <a:solidFill>
                  <a:srgbClr val="000000"/>
                </a:solidFill>
                <a:latin typeface="Courier New" panose="02070309020205020404" pitchFamily="49" charset="0"/>
              </a:rPr>
              <a:t> </a:t>
            </a:r>
            <a:r>
              <a:rPr lang="en-ZA" sz="1000" dirty="0">
                <a:solidFill>
                  <a:srgbClr val="800080"/>
                </a:solidFill>
                <a:latin typeface="Courier New" panose="02070309020205020404" pitchFamily="49" charset="0"/>
              </a:rPr>
              <a:t>"C:\SASDATA\PEOPLE"</a:t>
            </a:r>
            <a:r>
              <a:rPr lang="en-ZA" sz="1000" dirty="0">
                <a:solidFill>
                  <a:srgbClr val="000000"/>
                </a:solidFill>
                <a:latin typeface="Courier New" panose="02070309020205020404" pitchFamily="49" charset="0"/>
              </a:rPr>
              <a:t>;</a:t>
            </a:r>
            <a:endParaRPr lang="en-ZA" dirty="0"/>
          </a:p>
        </p:txBody>
      </p:sp>
      <p:sp>
        <p:nvSpPr>
          <p:cNvPr id="9" name="TextBox 8"/>
          <p:cNvSpPr txBox="1"/>
          <p:nvPr/>
        </p:nvSpPr>
        <p:spPr>
          <a:xfrm>
            <a:off x="6170547" y="2421154"/>
            <a:ext cx="3514608" cy="258532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This creates a data set called </a:t>
            </a:r>
            <a:r>
              <a:rPr lang="en-GB" sz="1200" b="1" i="1" dirty="0" smtClean="0">
                <a:solidFill>
                  <a:srgbClr val="342E2B"/>
                </a:solidFill>
                <a:latin typeface="Avenir Next Cyr W04 Regular" panose="020B0503020202020204" pitchFamily="34" charset="0"/>
                <a:cs typeface="Book Antiqua"/>
              </a:rPr>
              <a:t>“PEOPLE” </a:t>
            </a:r>
            <a:r>
              <a:rPr lang="en-GB" sz="1200" dirty="0" smtClean="0">
                <a:solidFill>
                  <a:srgbClr val="342E2B"/>
                </a:solidFill>
                <a:latin typeface="Avenir Next Cyr W04 Regular" panose="020B0503020202020204" pitchFamily="34" charset="0"/>
                <a:cs typeface="Book Antiqua"/>
              </a:rPr>
              <a:t> on your hard drive in “C:\SASDATA\PEOPLE”.</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The window file name of this permanent file would be </a:t>
            </a:r>
            <a:r>
              <a:rPr lang="en-GB" sz="1200" b="1" i="1" dirty="0" smtClean="0">
                <a:solidFill>
                  <a:srgbClr val="342E2B"/>
                </a:solidFill>
                <a:latin typeface="Avenir Next Cyr W04 Regular" panose="020B0503020202020204" pitchFamily="34" charset="0"/>
                <a:cs typeface="Book Antiqua"/>
              </a:rPr>
              <a:t>PEOPLE.SAS7DBAT.</a:t>
            </a:r>
          </a:p>
          <a:p>
            <a:pPr marL="342900" indent="-342900">
              <a:lnSpc>
                <a:spcPct val="150000"/>
              </a:lnSpc>
              <a:buFont typeface="Arial" panose="020B0604020202020204" pitchFamily="34" charset="0"/>
              <a:buChar char="•"/>
            </a:pPr>
            <a:r>
              <a:rPr lang="en-GB" sz="1200" dirty="0" smtClean="0">
                <a:solidFill>
                  <a:srgbClr val="342E2B"/>
                </a:solidFill>
                <a:latin typeface="Avenir Next Cyr W04 Regular" panose="020B0503020202020204" pitchFamily="34" charset="0"/>
                <a:cs typeface="Book Antiqua"/>
              </a:rPr>
              <a:t>A windows file name can be used to read a permanent SAS Data set. To access the data in SAS, you could include the full Windows Path in a DATA = statement in any SAS PROC Statement.</a:t>
            </a:r>
          </a:p>
        </p:txBody>
      </p:sp>
      <p:sp>
        <p:nvSpPr>
          <p:cNvPr id="10" name="ZoneTexte 7"/>
          <p:cNvSpPr txBox="1"/>
          <p:nvPr/>
        </p:nvSpPr>
        <p:spPr>
          <a:xfrm>
            <a:off x="4119881" y="6017214"/>
            <a:ext cx="6646721" cy="461665"/>
          </a:xfrm>
          <a:prstGeom prst="rect">
            <a:avLst/>
          </a:prstGeom>
          <a:noFill/>
        </p:spPr>
        <p:txBody>
          <a:bodyPr wrap="square" rtlCol="0">
            <a:spAutoFit/>
          </a:bodyPr>
          <a:lstStyle/>
          <a:p>
            <a:pPr marL="1371600" marR="0" lvl="3" indent="0" algn="l" defTabSz="457200" rtl="0" eaLnBrk="1" fontAlgn="auto" latinLnBrk="0" hangingPunct="1">
              <a:lnSpc>
                <a:spcPct val="200000"/>
              </a:lnSpc>
              <a:spcBef>
                <a:spcPts val="0"/>
              </a:spcBef>
              <a:spcAft>
                <a:spcPts val="0"/>
              </a:spcAft>
              <a:buClrTx/>
              <a:buSzTx/>
              <a:buFontTx/>
              <a:buNone/>
              <a:tabLst/>
              <a:defRPr/>
            </a:pPr>
            <a:r>
              <a:rPr kumimoji="0" lang="en-GB" sz="1200" b="0" i="0" u="none" strike="noStrike" kern="1200" cap="none" spc="0" normalizeH="0" baseline="0" noProof="0" dirty="0" smtClean="0">
                <a:ln>
                  <a:noFill/>
                </a:ln>
                <a:solidFill>
                  <a:prstClr val="black"/>
                </a:solidFill>
                <a:effectLst/>
                <a:uLnTx/>
                <a:uFillTx/>
                <a:latin typeface="Book Antiqua"/>
                <a:ea typeface="+mn-ea"/>
                <a:cs typeface="Book Antiqua"/>
              </a:rPr>
              <a:t>Example: In the editor window, open the file </a:t>
            </a:r>
            <a:r>
              <a:rPr lang="en-GB" sz="1200" b="1" noProof="0" dirty="0" smtClean="0">
                <a:solidFill>
                  <a:srgbClr val="FF0000"/>
                </a:solidFill>
                <a:latin typeface="Book Antiqua"/>
                <a:cs typeface="Book Antiqua"/>
              </a:rPr>
              <a:t>WRITE</a:t>
            </a:r>
            <a:r>
              <a:rPr kumimoji="0" lang="en-GB" sz="1200" b="1" i="0" u="none" strike="noStrike" kern="1200" cap="none" spc="0" normalizeH="0" baseline="0" noProof="0" dirty="0" smtClean="0">
                <a:ln>
                  <a:noFill/>
                </a:ln>
                <a:solidFill>
                  <a:srgbClr val="FF0000"/>
                </a:solidFill>
                <a:effectLst/>
                <a:uLnTx/>
                <a:uFillTx/>
                <a:latin typeface="Book Antiqua"/>
                <a:ea typeface="+mn-ea"/>
                <a:cs typeface="Book Antiqua"/>
              </a:rPr>
              <a:t>.SAS</a:t>
            </a:r>
            <a:endParaRPr kumimoji="0" lang="en-GB" sz="1200" b="1" i="1" u="none" strike="noStrike" kern="1200" cap="none" spc="0" normalizeH="0" baseline="0" noProof="0" dirty="0">
              <a:ln>
                <a:noFill/>
              </a:ln>
              <a:solidFill>
                <a:srgbClr val="FF0000"/>
              </a:solidFill>
              <a:effectLst/>
              <a:uLnTx/>
              <a:uFillTx/>
              <a:latin typeface="Book Antiqua"/>
              <a:ea typeface="+mn-ea"/>
              <a:cs typeface="Book Antiqua"/>
            </a:endParaRPr>
          </a:p>
        </p:txBody>
      </p:sp>
      <p:pic>
        <p:nvPicPr>
          <p:cNvPr id="2" name="Picture 1"/>
          <p:cNvPicPr>
            <a:picLocks noChangeAspect="1"/>
          </p:cNvPicPr>
          <p:nvPr/>
        </p:nvPicPr>
        <p:blipFill>
          <a:blip r:embed="rId4"/>
          <a:stretch>
            <a:fillRect/>
          </a:stretch>
        </p:blipFill>
        <p:spPr>
          <a:xfrm>
            <a:off x="98462" y="2754033"/>
            <a:ext cx="5910752" cy="3102329"/>
          </a:xfrm>
          <a:prstGeom prst="rect">
            <a:avLst/>
          </a:prstGeom>
        </p:spPr>
      </p:pic>
      <p:sp>
        <p:nvSpPr>
          <p:cNvPr id="3" name="Rectangle 2"/>
          <p:cNvSpPr/>
          <p:nvPr/>
        </p:nvSpPr>
        <p:spPr>
          <a:xfrm>
            <a:off x="5333302" y="1516602"/>
            <a:ext cx="2427603" cy="86177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1" name="Rectangle 10"/>
          <p:cNvSpPr/>
          <p:nvPr/>
        </p:nvSpPr>
        <p:spPr>
          <a:xfrm>
            <a:off x="98462" y="2742777"/>
            <a:ext cx="5910752" cy="310232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12" name="Picture 11"/>
          <p:cNvPicPr>
            <a:picLocks noChangeAspect="1"/>
          </p:cNvPicPr>
          <p:nvPr/>
        </p:nvPicPr>
        <p:blipFill>
          <a:blip r:embed="rId5"/>
          <a:stretch>
            <a:fillRect/>
          </a:stretch>
        </p:blipFill>
        <p:spPr>
          <a:xfrm>
            <a:off x="6766754" y="5022189"/>
            <a:ext cx="2314575" cy="1114425"/>
          </a:xfrm>
          <a:prstGeom prst="rect">
            <a:avLst/>
          </a:prstGeom>
        </p:spPr>
      </p:pic>
      <p:sp>
        <p:nvSpPr>
          <p:cNvPr id="13" name="Rectangle 12"/>
          <p:cNvSpPr/>
          <p:nvPr/>
        </p:nvSpPr>
        <p:spPr>
          <a:xfrm>
            <a:off x="6766754" y="5022189"/>
            <a:ext cx="2315590" cy="11144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2345152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927146" y="763574"/>
            <a:ext cx="7874788" cy="1569660"/>
          </a:xfrm>
          <a:prstGeom prst="rect">
            <a:avLst/>
          </a:prstGeom>
          <a:noFill/>
        </p:spPr>
        <p:txBody>
          <a:bodyPr wrap="square" rtlCol="0">
            <a:spAutoFit/>
          </a:bodyPr>
          <a:lstStyle/>
          <a:p>
            <a:pPr marL="342900" lvl="0" indent="-342900">
              <a:lnSpc>
                <a:spcPct val="200000"/>
              </a:lnSpc>
              <a:buFont typeface="Arial" panose="020B0604020202020204" pitchFamily="34" charset="0"/>
              <a:buChar char="•"/>
            </a:pPr>
            <a:r>
              <a:rPr lang="en-GB" sz="1200" dirty="0" smtClean="0">
                <a:latin typeface="Avenir Next Cyr W04 Regular" panose="020B0503020202020204" pitchFamily="34" charset="0"/>
                <a:cs typeface="Book Antiqua"/>
              </a:rPr>
              <a:t>In the explorer window click on the Drop Down “Library”, then click on the icon “New Library”      .</a:t>
            </a:r>
          </a:p>
          <a:p>
            <a:pPr marL="342900" lvl="0" indent="-342900">
              <a:lnSpc>
                <a:spcPct val="200000"/>
              </a:lnSpc>
              <a:buFont typeface="Arial" panose="020B0604020202020204" pitchFamily="34" charset="0"/>
              <a:buChar char="•"/>
            </a:pPr>
            <a:r>
              <a:rPr lang="en-GB" sz="1200" dirty="0" smtClean="0">
                <a:latin typeface="Avenir Next Cyr W04 Regular" panose="020B0503020202020204" pitchFamily="34" charset="0"/>
                <a:cs typeface="Book Antiqua"/>
              </a:rPr>
              <a:t>Rename the Library to SAS_LIB, then click on Browse               selected the folder that you have created called Library. This is where you will be placing all your datasets and SAS Programs and these will be automatically placed in your Library.</a:t>
            </a:r>
            <a:endParaRPr lang="en-GB" sz="1200" dirty="0">
              <a:latin typeface="Avenir Next Cyr W04 Regular" panose="020B0503020202020204" pitchFamily="34" charset="0"/>
              <a:cs typeface="Book Antiqua"/>
            </a:endParaRPr>
          </a:p>
        </p:txBody>
      </p:sp>
      <p:sp>
        <p:nvSpPr>
          <p:cNvPr id="7" name="Title 1"/>
          <p:cNvSpPr txBox="1">
            <a:spLocks/>
          </p:cNvSpPr>
          <p:nvPr/>
        </p:nvSpPr>
        <p:spPr>
          <a:xfrm>
            <a:off x="406840" y="91970"/>
            <a:ext cx="8915400" cy="84533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500" dirty="0" smtClean="0"/>
              <a:t>Creating a SAS library using the dialog box</a:t>
            </a:r>
            <a:endParaRPr lang="en-ZA" sz="2500" dirty="0"/>
          </a:p>
        </p:txBody>
      </p:sp>
      <p:pic>
        <p:nvPicPr>
          <p:cNvPr id="2" name="Picture 1"/>
          <p:cNvPicPr>
            <a:picLocks noChangeAspect="1"/>
          </p:cNvPicPr>
          <p:nvPr/>
        </p:nvPicPr>
        <p:blipFill>
          <a:blip r:embed="rId4"/>
          <a:stretch>
            <a:fillRect/>
          </a:stretch>
        </p:blipFill>
        <p:spPr>
          <a:xfrm>
            <a:off x="532001" y="3011424"/>
            <a:ext cx="1937618" cy="3368611"/>
          </a:xfrm>
          <a:prstGeom prst="rect">
            <a:avLst/>
          </a:prstGeom>
        </p:spPr>
      </p:pic>
      <p:pic>
        <p:nvPicPr>
          <p:cNvPr id="8" name="Picture 7"/>
          <p:cNvPicPr>
            <a:picLocks noChangeAspect="1"/>
          </p:cNvPicPr>
          <p:nvPr/>
        </p:nvPicPr>
        <p:blipFill>
          <a:blip r:embed="rId5"/>
          <a:stretch>
            <a:fillRect/>
          </a:stretch>
        </p:blipFill>
        <p:spPr>
          <a:xfrm>
            <a:off x="3121152" y="3011424"/>
            <a:ext cx="3776975" cy="3370088"/>
          </a:xfrm>
          <a:prstGeom prst="rect">
            <a:avLst/>
          </a:prstGeom>
        </p:spPr>
      </p:pic>
      <p:pic>
        <p:nvPicPr>
          <p:cNvPr id="11" name="Picture 10"/>
          <p:cNvPicPr>
            <a:picLocks noChangeAspect="1"/>
          </p:cNvPicPr>
          <p:nvPr/>
        </p:nvPicPr>
        <p:blipFill>
          <a:blip r:embed="rId6"/>
          <a:stretch>
            <a:fillRect/>
          </a:stretch>
        </p:blipFill>
        <p:spPr>
          <a:xfrm>
            <a:off x="7589988" y="3067757"/>
            <a:ext cx="1930653" cy="3249358"/>
          </a:xfrm>
          <a:prstGeom prst="rect">
            <a:avLst/>
          </a:prstGeom>
        </p:spPr>
      </p:pic>
      <p:pic>
        <p:nvPicPr>
          <p:cNvPr id="13" name="Picture 12"/>
          <p:cNvPicPr>
            <a:picLocks noChangeAspect="1"/>
          </p:cNvPicPr>
          <p:nvPr/>
        </p:nvPicPr>
        <p:blipFill>
          <a:blip r:embed="rId7"/>
          <a:stretch>
            <a:fillRect/>
          </a:stretch>
        </p:blipFill>
        <p:spPr>
          <a:xfrm>
            <a:off x="7835265" y="937302"/>
            <a:ext cx="209550" cy="209550"/>
          </a:xfrm>
          <a:prstGeom prst="rect">
            <a:avLst/>
          </a:prstGeom>
        </p:spPr>
      </p:pic>
      <p:pic>
        <p:nvPicPr>
          <p:cNvPr id="14" name="Picture 13"/>
          <p:cNvPicPr>
            <a:picLocks noChangeAspect="1"/>
          </p:cNvPicPr>
          <p:nvPr/>
        </p:nvPicPr>
        <p:blipFill>
          <a:blip r:embed="rId8"/>
          <a:stretch>
            <a:fillRect/>
          </a:stretch>
        </p:blipFill>
        <p:spPr>
          <a:xfrm>
            <a:off x="5009639" y="1231391"/>
            <a:ext cx="514350" cy="276225"/>
          </a:xfrm>
          <a:prstGeom prst="rect">
            <a:avLst/>
          </a:prstGeom>
        </p:spPr>
      </p:pic>
      <p:sp>
        <p:nvSpPr>
          <p:cNvPr id="15" name="Rectangle 14"/>
          <p:cNvSpPr/>
          <p:nvPr/>
        </p:nvSpPr>
        <p:spPr>
          <a:xfrm>
            <a:off x="7835265" y="937302"/>
            <a:ext cx="209550" cy="2095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6" name="Rectangle 15"/>
          <p:cNvSpPr/>
          <p:nvPr/>
        </p:nvSpPr>
        <p:spPr>
          <a:xfrm>
            <a:off x="5009639" y="1231391"/>
            <a:ext cx="514350" cy="2762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7" name="Rectangle 16"/>
          <p:cNvSpPr/>
          <p:nvPr/>
        </p:nvSpPr>
        <p:spPr>
          <a:xfrm>
            <a:off x="532001" y="3004838"/>
            <a:ext cx="1937618" cy="3375197"/>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8" name="Rectangle 17"/>
          <p:cNvSpPr/>
          <p:nvPr/>
        </p:nvSpPr>
        <p:spPr>
          <a:xfrm>
            <a:off x="3121152" y="3004838"/>
            <a:ext cx="3776975" cy="337667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9" name="Rectangle 18"/>
          <p:cNvSpPr/>
          <p:nvPr/>
        </p:nvSpPr>
        <p:spPr>
          <a:xfrm>
            <a:off x="7589988" y="3065203"/>
            <a:ext cx="1930654" cy="3255944"/>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21" name="Straight Arrow Connector 20"/>
          <p:cNvCxnSpPr>
            <a:stCxn id="17" idx="3"/>
            <a:endCxn id="18" idx="1"/>
          </p:cNvCxnSpPr>
          <p:nvPr/>
        </p:nvCxnSpPr>
        <p:spPr>
          <a:xfrm>
            <a:off x="2469619" y="4692437"/>
            <a:ext cx="651533" cy="7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8" idx="3"/>
            <a:endCxn id="19" idx="1"/>
          </p:cNvCxnSpPr>
          <p:nvPr/>
        </p:nvCxnSpPr>
        <p:spPr>
          <a:xfrm flipV="1">
            <a:off x="6898127" y="4693175"/>
            <a:ext cx="691861" cy="32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05207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751083" y="1180005"/>
            <a:ext cx="7874788" cy="2308324"/>
          </a:xfrm>
          <a:prstGeom prst="rect">
            <a:avLst/>
          </a:prstGeom>
          <a:noFill/>
        </p:spPr>
        <p:txBody>
          <a:bodyPr wrap="square" rtlCol="0">
            <a:spAutoFit/>
          </a:bodyPr>
          <a:lstStyle/>
          <a:p>
            <a:pPr marL="342900" lvl="0" indent="-342900">
              <a:lnSpc>
                <a:spcPct val="150000"/>
              </a:lnSpc>
              <a:buFont typeface="Arial"/>
              <a:buChar char="•"/>
            </a:pPr>
            <a:r>
              <a:rPr lang="en-ZA" sz="1200" dirty="0" smtClean="0">
                <a:latin typeface="Avenir Next Cyr W04 Regular" panose="020B0503020202020204" pitchFamily="34" charset="0"/>
                <a:cs typeface="Book Antiqua"/>
              </a:rPr>
              <a:t>SAS can also read in  or import data from a variety of other formats. This can be done using a step-by-step Wizard.</a:t>
            </a:r>
          </a:p>
          <a:p>
            <a:pPr marL="342900" lvl="0" indent="-342900">
              <a:lnSpc>
                <a:spcPct val="150000"/>
              </a:lnSpc>
              <a:buFont typeface="Arial"/>
              <a:buChar char="•"/>
            </a:pPr>
            <a:r>
              <a:rPr lang="en-ZA" sz="1200" b="1" dirty="0" smtClean="0">
                <a:latin typeface="Avenir Next Cyr W04 Regular" panose="020B0503020202020204" pitchFamily="34" charset="0"/>
                <a:cs typeface="Book Antiqua"/>
              </a:rPr>
              <a:t>Uploading Microsoft Excel Data (Criteria);</a:t>
            </a:r>
          </a:p>
          <a:p>
            <a:pPr marL="342900" lvl="0" indent="-342900">
              <a:lnSpc>
                <a:spcPct val="150000"/>
              </a:lnSpc>
              <a:buFont typeface="Arial"/>
              <a:buChar char="•"/>
            </a:pPr>
            <a:r>
              <a:rPr lang="en-ZA" sz="1200" dirty="0" smtClean="0">
                <a:latin typeface="Avenir Next Cyr W04 Regular" panose="020B0503020202020204" pitchFamily="34" charset="0"/>
                <a:cs typeface="Book Antiqua"/>
              </a:rPr>
              <a:t>The first row should contain the names of the SAS variables and should adhere to SAS Naming conventions.</a:t>
            </a:r>
          </a:p>
          <a:p>
            <a:pPr marL="342900" lvl="0" indent="-342900">
              <a:lnSpc>
                <a:spcPct val="150000"/>
              </a:lnSpc>
              <a:buFont typeface="Arial"/>
              <a:buChar char="•"/>
            </a:pPr>
            <a:r>
              <a:rPr lang="en-ZA" sz="1200" dirty="0" smtClean="0">
                <a:latin typeface="Avenir Next Cyr W04 Regular" panose="020B0503020202020204" pitchFamily="34" charset="0"/>
                <a:cs typeface="Book Antiqua"/>
              </a:rPr>
              <a:t>Each column in the spreadsheet should contain data corresponding to the variable name in row 1 and should be consistent with the desired variable type.</a:t>
            </a:r>
          </a:p>
          <a:p>
            <a:pPr marL="342900" lvl="0" indent="-342900">
              <a:lnSpc>
                <a:spcPct val="150000"/>
              </a:lnSpc>
              <a:buFont typeface="Arial"/>
              <a:buChar char="•"/>
            </a:pPr>
            <a:r>
              <a:rPr lang="en-ZA" sz="1200" dirty="0" smtClean="0">
                <a:latin typeface="Avenir Next Cyr W04 Regular" panose="020B0503020202020204" pitchFamily="34" charset="0"/>
                <a:cs typeface="Book Antiqua"/>
              </a:rPr>
              <a:t>Blanks in the spreadsheet will be read as a missing value and replaced with a dot </a:t>
            </a:r>
            <a:r>
              <a:rPr lang="en-ZA" sz="1200" b="1" dirty="0" smtClean="0">
                <a:latin typeface="Avenir Next Cyr W04 Regular" panose="020B0503020202020204" pitchFamily="34" charset="0"/>
                <a:cs typeface="Book Antiqua"/>
              </a:rPr>
              <a:t>(.)</a:t>
            </a:r>
          </a:p>
        </p:txBody>
      </p:sp>
      <p:sp>
        <p:nvSpPr>
          <p:cNvPr id="7" name="Title 1"/>
          <p:cNvSpPr txBox="1">
            <a:spLocks/>
          </p:cNvSpPr>
          <p:nvPr/>
        </p:nvSpPr>
        <p:spPr>
          <a:xfrm>
            <a:off x="429953" y="318307"/>
            <a:ext cx="8915400" cy="84533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500" dirty="0" smtClean="0"/>
              <a:t>Uploading Data from another Program</a:t>
            </a:r>
            <a:endParaRPr lang="en-ZA" sz="2500" dirty="0"/>
          </a:p>
        </p:txBody>
      </p:sp>
      <p:sp>
        <p:nvSpPr>
          <p:cNvPr id="9" name="TextBox 8"/>
          <p:cNvSpPr txBox="1"/>
          <p:nvPr/>
        </p:nvSpPr>
        <p:spPr>
          <a:xfrm>
            <a:off x="751083" y="3379832"/>
            <a:ext cx="2906517" cy="646331"/>
          </a:xfrm>
          <a:prstGeom prst="rect">
            <a:avLst/>
          </a:prstGeom>
          <a:noFill/>
        </p:spPr>
        <p:txBody>
          <a:bodyPr wrap="square" rtlCol="0">
            <a:spAutoFit/>
          </a:bodyPr>
          <a:lstStyle/>
          <a:p>
            <a:pPr marL="342900" lvl="0" indent="-342900">
              <a:lnSpc>
                <a:spcPct val="150000"/>
              </a:lnSpc>
              <a:buFont typeface="Arial"/>
              <a:buChar char="•"/>
            </a:pPr>
            <a:r>
              <a:rPr lang="en-ZA" sz="1200" b="1" dirty="0" smtClean="0">
                <a:latin typeface="Avenir Next Cyr W04 Regular" panose="020B0503020202020204" pitchFamily="34" charset="0"/>
                <a:cs typeface="Book Antiqua"/>
              </a:rPr>
              <a:t>Uploading data using the Wizard;</a:t>
            </a:r>
          </a:p>
          <a:p>
            <a:pPr marL="342900" lvl="0" indent="-342900">
              <a:lnSpc>
                <a:spcPct val="150000"/>
              </a:lnSpc>
              <a:buFont typeface="Arial"/>
              <a:buChar char="•"/>
            </a:pPr>
            <a:endParaRPr lang="en-ZA" sz="1200" dirty="0" smtClean="0">
              <a:latin typeface="Avenir Next Cyr W04 Regular" panose="020B0503020202020204" pitchFamily="34" charset="0"/>
              <a:cs typeface="Book Antiqua"/>
            </a:endParaRPr>
          </a:p>
        </p:txBody>
      </p:sp>
      <p:sp>
        <p:nvSpPr>
          <p:cNvPr id="11" name="TextBox 10"/>
          <p:cNvSpPr txBox="1"/>
          <p:nvPr/>
        </p:nvSpPr>
        <p:spPr>
          <a:xfrm>
            <a:off x="5142013" y="3378351"/>
            <a:ext cx="4763987" cy="369332"/>
          </a:xfrm>
          <a:prstGeom prst="rect">
            <a:avLst/>
          </a:prstGeom>
          <a:noFill/>
        </p:spPr>
        <p:txBody>
          <a:bodyPr wrap="square" rtlCol="0">
            <a:spAutoFit/>
          </a:bodyPr>
          <a:lstStyle/>
          <a:p>
            <a:pPr marL="342900" lvl="0" indent="-342900">
              <a:lnSpc>
                <a:spcPct val="150000"/>
              </a:lnSpc>
              <a:buFont typeface="Arial"/>
              <a:buChar char="•"/>
            </a:pPr>
            <a:r>
              <a:rPr lang="en-ZA" sz="1200" dirty="0" smtClean="0">
                <a:latin typeface="Avenir Next Cyr W04 Regular" panose="020B0503020202020204" pitchFamily="34" charset="0"/>
                <a:cs typeface="Book Antiqua"/>
              </a:rPr>
              <a:t>Type of file to upload in this case is an excel workbook (XLS)</a:t>
            </a:r>
          </a:p>
        </p:txBody>
      </p:sp>
      <p:pic>
        <p:nvPicPr>
          <p:cNvPr id="2" name="Picture 1"/>
          <p:cNvPicPr>
            <a:picLocks noChangeAspect="1"/>
          </p:cNvPicPr>
          <p:nvPr/>
        </p:nvPicPr>
        <p:blipFill>
          <a:blip r:embed="rId4"/>
          <a:stretch>
            <a:fillRect/>
          </a:stretch>
        </p:blipFill>
        <p:spPr>
          <a:xfrm>
            <a:off x="664988" y="3873113"/>
            <a:ext cx="3954474" cy="2478919"/>
          </a:xfrm>
          <a:prstGeom prst="rect">
            <a:avLst/>
          </a:prstGeom>
        </p:spPr>
      </p:pic>
      <p:pic>
        <p:nvPicPr>
          <p:cNvPr id="3" name="Picture 2"/>
          <p:cNvPicPr>
            <a:picLocks noChangeAspect="1"/>
          </p:cNvPicPr>
          <p:nvPr/>
        </p:nvPicPr>
        <p:blipFill>
          <a:blip r:embed="rId5"/>
          <a:stretch>
            <a:fillRect/>
          </a:stretch>
        </p:blipFill>
        <p:spPr>
          <a:xfrm>
            <a:off x="5129088" y="3873113"/>
            <a:ext cx="1457325" cy="2478919"/>
          </a:xfrm>
          <a:prstGeom prst="rect">
            <a:avLst/>
          </a:prstGeom>
        </p:spPr>
      </p:pic>
      <p:pic>
        <p:nvPicPr>
          <p:cNvPr id="8" name="Picture 7"/>
          <p:cNvPicPr>
            <a:picLocks noChangeAspect="1"/>
          </p:cNvPicPr>
          <p:nvPr/>
        </p:nvPicPr>
        <p:blipFill>
          <a:blip r:embed="rId6"/>
          <a:stretch>
            <a:fillRect/>
          </a:stretch>
        </p:blipFill>
        <p:spPr>
          <a:xfrm>
            <a:off x="7096039" y="3873113"/>
            <a:ext cx="2213077" cy="2464563"/>
          </a:xfrm>
          <a:prstGeom prst="rect">
            <a:avLst/>
          </a:prstGeom>
        </p:spPr>
      </p:pic>
      <p:sp>
        <p:nvSpPr>
          <p:cNvPr id="13" name="Rectangle 12"/>
          <p:cNvSpPr/>
          <p:nvPr/>
        </p:nvSpPr>
        <p:spPr>
          <a:xfrm>
            <a:off x="7096039" y="3873113"/>
            <a:ext cx="2213077" cy="2464563"/>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5" name="Rectangle 14"/>
          <p:cNvSpPr/>
          <p:nvPr/>
        </p:nvSpPr>
        <p:spPr>
          <a:xfrm>
            <a:off x="5129088" y="3873113"/>
            <a:ext cx="1499389" cy="247891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
        <p:nvSpPr>
          <p:cNvPr id="16" name="Rectangle 15"/>
          <p:cNvSpPr/>
          <p:nvPr/>
        </p:nvSpPr>
        <p:spPr>
          <a:xfrm>
            <a:off x="664988" y="3873113"/>
            <a:ext cx="3954474" cy="2478919"/>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cxnSp>
        <p:nvCxnSpPr>
          <p:cNvPr id="18" name="Straight Arrow Connector 17"/>
          <p:cNvCxnSpPr>
            <a:stCxn id="16" idx="3"/>
            <a:endCxn id="15" idx="1"/>
          </p:cNvCxnSpPr>
          <p:nvPr/>
        </p:nvCxnSpPr>
        <p:spPr>
          <a:xfrm>
            <a:off x="4619462" y="5112573"/>
            <a:ext cx="509626"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a:stCxn id="15" idx="3"/>
            <a:endCxn id="13" idx="1"/>
          </p:cNvCxnSpPr>
          <p:nvPr/>
        </p:nvCxnSpPr>
        <p:spPr>
          <a:xfrm flipV="1">
            <a:off x="6628477" y="5105395"/>
            <a:ext cx="467562" cy="71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95185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itle 1"/>
          <p:cNvSpPr txBox="1">
            <a:spLocks/>
          </p:cNvSpPr>
          <p:nvPr/>
        </p:nvSpPr>
        <p:spPr>
          <a:xfrm>
            <a:off x="429953" y="318307"/>
            <a:ext cx="8915400" cy="84533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500" dirty="0" smtClean="0"/>
              <a:t>Viewing the data in your library </a:t>
            </a:r>
            <a:r>
              <a:rPr lang="en-ZA" sz="2500" dirty="0"/>
              <a:t>(</a:t>
            </a:r>
            <a:r>
              <a:rPr lang="en-ZA" sz="2500" dirty="0" smtClean="0"/>
              <a:t>SASLIB)</a:t>
            </a:r>
            <a:endParaRPr lang="en-ZA" sz="2500" dirty="0"/>
          </a:p>
        </p:txBody>
      </p:sp>
      <p:pic>
        <p:nvPicPr>
          <p:cNvPr id="2" name="Picture 1"/>
          <p:cNvPicPr>
            <a:picLocks noChangeAspect="1"/>
          </p:cNvPicPr>
          <p:nvPr/>
        </p:nvPicPr>
        <p:blipFill>
          <a:blip r:embed="rId4"/>
          <a:stretch>
            <a:fillRect/>
          </a:stretch>
        </p:blipFill>
        <p:spPr>
          <a:xfrm>
            <a:off x="681037" y="1384935"/>
            <a:ext cx="8543925" cy="4819650"/>
          </a:xfrm>
          <a:prstGeom prst="rect">
            <a:avLst/>
          </a:prstGeom>
        </p:spPr>
      </p:pic>
    </p:spTree>
    <p:extLst>
      <p:ext uri="{BB962C8B-B14F-4D97-AF65-F5344CB8AC3E}">
        <p14:creationId xmlns:p14="http://schemas.microsoft.com/office/powerpoint/2010/main" val="35632082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8" name="Title 1"/>
          <p:cNvSpPr txBox="1">
            <a:spLocks/>
          </p:cNvSpPr>
          <p:nvPr/>
        </p:nvSpPr>
        <p:spPr>
          <a:xfrm>
            <a:off x="429953" y="318307"/>
            <a:ext cx="8915400" cy="84533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200" kern="1200">
                <a:solidFill>
                  <a:schemeClr val="tx1"/>
                </a:solidFill>
                <a:latin typeface="Baskerville Old Face"/>
                <a:ea typeface="+mj-ea"/>
                <a:cs typeface="Baskerville Old Face"/>
              </a:defRPr>
            </a:lvl1pPr>
          </a:lstStyle>
          <a:p>
            <a:r>
              <a:rPr lang="en-ZA" sz="2500" dirty="0" smtClean="0"/>
              <a:t>Importing Microsoft Excel Data Using SAS Code</a:t>
            </a:r>
            <a:endParaRPr lang="en-ZA" sz="2500" dirty="0"/>
          </a:p>
        </p:txBody>
      </p:sp>
      <p:sp>
        <p:nvSpPr>
          <p:cNvPr id="9" name="TextBox 8"/>
          <p:cNvSpPr txBox="1"/>
          <p:nvPr/>
        </p:nvSpPr>
        <p:spPr>
          <a:xfrm>
            <a:off x="778243" y="1163639"/>
            <a:ext cx="8742399" cy="923330"/>
          </a:xfrm>
          <a:prstGeom prst="rect">
            <a:avLst/>
          </a:prstGeom>
          <a:noFill/>
        </p:spPr>
        <p:txBody>
          <a:bodyPr wrap="square" rtlCol="0">
            <a:spAutoFit/>
          </a:bodyPr>
          <a:lstStyle/>
          <a:p>
            <a:pPr marL="342900" lvl="0" indent="-342900">
              <a:lnSpc>
                <a:spcPct val="150000"/>
              </a:lnSpc>
              <a:buFont typeface="Arial"/>
              <a:buChar char="•"/>
            </a:pPr>
            <a:r>
              <a:rPr lang="en-ZA" sz="1200" dirty="0" smtClean="0">
                <a:latin typeface="Avenir Next Cyr W04 Regular" panose="020B0503020202020204" pitchFamily="34" charset="0"/>
                <a:cs typeface="Book Antiqua"/>
              </a:rPr>
              <a:t>Instead of using the import wizard to import Excel Data, you can use SAS Code.</a:t>
            </a:r>
            <a:endParaRPr lang="en-ZA" sz="1200" dirty="0">
              <a:latin typeface="Avenir Next Cyr W04 Regular" panose="020B0503020202020204" pitchFamily="34" charset="0"/>
              <a:cs typeface="Book Antiqua"/>
            </a:endParaRPr>
          </a:p>
          <a:p>
            <a:pPr marL="342900" lvl="0" indent="-342900">
              <a:lnSpc>
                <a:spcPct val="150000"/>
              </a:lnSpc>
              <a:buFont typeface="Arial"/>
              <a:buChar char="•"/>
            </a:pPr>
            <a:r>
              <a:rPr lang="en-ZA" sz="1200" dirty="0" smtClean="0">
                <a:latin typeface="Avenir Next Cyr W04 Regular" panose="020B0503020202020204" pitchFamily="34" charset="0"/>
                <a:cs typeface="Book Antiqua"/>
              </a:rPr>
              <a:t>The following program, “</a:t>
            </a:r>
            <a:r>
              <a:rPr lang="en-ZA" sz="1200" dirty="0" err="1" smtClean="0">
                <a:latin typeface="Avenir Next Cyr W04 Regular" panose="020B0503020202020204" pitchFamily="34" charset="0"/>
                <a:cs typeface="Book Antiqua"/>
              </a:rPr>
              <a:t>Proc</a:t>
            </a:r>
            <a:r>
              <a:rPr lang="en-ZA" sz="1200" dirty="0" smtClean="0">
                <a:latin typeface="Avenir Next Cyr W04 Regular" panose="020B0503020202020204" pitchFamily="34" charset="0"/>
                <a:cs typeface="Book Antiqua"/>
              </a:rPr>
              <a:t> Import_2”, imports a Excel spreadsheet EXAMPLE.XLS and creates a SAS Data set named SAS_LIB.EXAMPLE.</a:t>
            </a:r>
          </a:p>
        </p:txBody>
      </p:sp>
      <p:sp>
        <p:nvSpPr>
          <p:cNvPr id="10" name="TextBox 9"/>
          <p:cNvSpPr txBox="1"/>
          <p:nvPr/>
        </p:nvSpPr>
        <p:spPr>
          <a:xfrm>
            <a:off x="5149442" y="2772660"/>
            <a:ext cx="4469164" cy="2215991"/>
          </a:xfrm>
          <a:prstGeom prst="rect">
            <a:avLst/>
          </a:prstGeom>
          <a:noFill/>
        </p:spPr>
        <p:txBody>
          <a:bodyPr wrap="square" rtlCol="0">
            <a:spAutoFit/>
          </a:bodyPr>
          <a:lstStyle/>
          <a:p>
            <a:pPr>
              <a:lnSpc>
                <a:spcPct val="150000"/>
              </a:lnSpc>
              <a:buFont typeface="Arial"/>
              <a:buChar char="•"/>
            </a:pPr>
            <a:r>
              <a:rPr lang="en-GB" sz="1200" b="1" dirty="0">
                <a:latin typeface="Avenir Next Cyr W04 Regular" panose="020B0503020202020204" pitchFamily="34" charset="0"/>
                <a:cs typeface="Book Antiqua"/>
              </a:rPr>
              <a:t> “out =“ </a:t>
            </a:r>
            <a:r>
              <a:rPr lang="en-GB" sz="1200" dirty="0">
                <a:latin typeface="Avenir Next Cyr W04 Regular" panose="020B0503020202020204" pitchFamily="34" charset="0"/>
                <a:cs typeface="Book Antiqua"/>
              </a:rPr>
              <a:t>– defines the output SAS data set</a:t>
            </a:r>
          </a:p>
          <a:p>
            <a:pPr>
              <a:lnSpc>
                <a:spcPct val="200000"/>
              </a:lnSpc>
              <a:buFont typeface="Arial"/>
              <a:buChar char="•"/>
            </a:pPr>
            <a:r>
              <a:rPr lang="en-GB" sz="1200" b="1" dirty="0">
                <a:latin typeface="Avenir Next Cyr W04 Regular" panose="020B0503020202020204" pitchFamily="34" charset="0"/>
                <a:cs typeface="Book Antiqua"/>
              </a:rPr>
              <a:t>  “</a:t>
            </a:r>
            <a:r>
              <a:rPr lang="en-GB" sz="1200" b="1" dirty="0" err="1">
                <a:latin typeface="Avenir Next Cyr W04 Regular" panose="020B0503020202020204" pitchFamily="34" charset="0"/>
                <a:cs typeface="Book Antiqua"/>
              </a:rPr>
              <a:t>datafile</a:t>
            </a:r>
            <a:r>
              <a:rPr lang="en-GB" sz="1200" b="1" dirty="0">
                <a:latin typeface="Avenir Next Cyr W04 Regular" panose="020B0503020202020204" pitchFamily="34" charset="0"/>
                <a:cs typeface="Book Antiqua"/>
              </a:rPr>
              <a:t> =“ </a:t>
            </a:r>
            <a:r>
              <a:rPr lang="en-GB" sz="1200" dirty="0">
                <a:latin typeface="Avenir Next Cyr W04 Regular" panose="020B0503020202020204" pitchFamily="34" charset="0"/>
                <a:cs typeface="Book Antiqua"/>
              </a:rPr>
              <a:t>– the input file (e.g. .</a:t>
            </a:r>
            <a:r>
              <a:rPr lang="en-GB" sz="1200" dirty="0" err="1">
                <a:latin typeface="Avenir Next Cyr W04 Regular" panose="020B0503020202020204" pitchFamily="34" charset="0"/>
                <a:cs typeface="Book Antiqua"/>
              </a:rPr>
              <a:t>xls</a:t>
            </a:r>
            <a:r>
              <a:rPr lang="en-GB" sz="1200" dirty="0">
                <a:latin typeface="Avenir Next Cyr W04 Regular" panose="020B0503020202020204" pitchFamily="34" charset="0"/>
                <a:cs typeface="Book Antiqua"/>
              </a:rPr>
              <a:t>)</a:t>
            </a:r>
          </a:p>
          <a:p>
            <a:pPr>
              <a:lnSpc>
                <a:spcPct val="200000"/>
              </a:lnSpc>
              <a:buFont typeface="Arial"/>
              <a:buChar char="•"/>
            </a:pPr>
            <a:r>
              <a:rPr lang="en-GB" sz="1200" b="1" dirty="0">
                <a:latin typeface="Avenir Next Cyr W04 Regular" panose="020B0503020202020204" pitchFamily="34" charset="0"/>
                <a:cs typeface="Book Antiqua"/>
              </a:rPr>
              <a:t>  “</a:t>
            </a:r>
            <a:r>
              <a:rPr lang="en-GB" sz="1200" b="1" dirty="0" err="1">
                <a:latin typeface="Avenir Next Cyr W04 Regular" panose="020B0503020202020204" pitchFamily="34" charset="0"/>
                <a:cs typeface="Book Antiqua"/>
              </a:rPr>
              <a:t>dbms</a:t>
            </a:r>
            <a:r>
              <a:rPr lang="en-GB" sz="1200" b="1" dirty="0">
                <a:latin typeface="Avenir Next Cyr W04 Regular" panose="020B0503020202020204" pitchFamily="34" charset="0"/>
                <a:cs typeface="Book Antiqua"/>
              </a:rPr>
              <a:t> =“ </a:t>
            </a:r>
            <a:r>
              <a:rPr lang="en-GB" sz="1200" dirty="0">
                <a:latin typeface="Avenir Next Cyr W04 Regular" panose="020B0503020202020204" pitchFamily="34" charset="0"/>
                <a:cs typeface="Book Antiqua"/>
              </a:rPr>
              <a:t>– indicates the type of file to be imported</a:t>
            </a:r>
          </a:p>
          <a:p>
            <a:pPr>
              <a:lnSpc>
                <a:spcPct val="200000"/>
              </a:lnSpc>
              <a:buFont typeface="Arial"/>
              <a:buChar char="•"/>
            </a:pPr>
            <a:r>
              <a:rPr lang="en-GB" sz="1200" b="1" dirty="0">
                <a:latin typeface="Avenir Next Cyr W04 Regular" panose="020B0503020202020204" pitchFamily="34" charset="0"/>
                <a:cs typeface="Book Antiqua"/>
              </a:rPr>
              <a:t>  “REPLACE” </a:t>
            </a:r>
            <a:r>
              <a:rPr lang="en-GB" sz="1200" dirty="0">
                <a:latin typeface="Avenir Next Cyr W04 Regular" panose="020B0503020202020204" pitchFamily="34" charset="0"/>
                <a:cs typeface="Book Antiqua"/>
              </a:rPr>
              <a:t>– overwrites previous files with the same name</a:t>
            </a:r>
          </a:p>
          <a:p>
            <a:pPr>
              <a:lnSpc>
                <a:spcPct val="200000"/>
              </a:lnSpc>
              <a:buFont typeface="Arial"/>
              <a:buChar char="•"/>
            </a:pPr>
            <a:r>
              <a:rPr lang="en-GB" sz="1200" b="1" dirty="0">
                <a:latin typeface="Avenir Next Cyr W04 Regular" panose="020B0503020202020204" pitchFamily="34" charset="0"/>
                <a:cs typeface="Book Antiqua"/>
              </a:rPr>
              <a:t>  “Sheet =“ </a:t>
            </a:r>
            <a:r>
              <a:rPr lang="en-GB" sz="1200" dirty="0">
                <a:latin typeface="Avenir Next Cyr W04 Regular" panose="020B0503020202020204" pitchFamily="34" charset="0"/>
                <a:cs typeface="Book Antiqua"/>
              </a:rPr>
              <a:t>– define which spreadsheet to use</a:t>
            </a:r>
          </a:p>
          <a:p>
            <a:pPr>
              <a:lnSpc>
                <a:spcPct val="200000"/>
              </a:lnSpc>
              <a:buFont typeface="Arial"/>
              <a:buChar char="•"/>
            </a:pPr>
            <a:r>
              <a:rPr lang="en-GB" sz="1200" dirty="0">
                <a:latin typeface="Avenir Next Cyr W04 Regular" panose="020B0503020202020204" pitchFamily="34" charset="0"/>
                <a:cs typeface="Book Antiqua"/>
              </a:rPr>
              <a:t>  </a:t>
            </a:r>
            <a:r>
              <a:rPr lang="en-GB" sz="1200" b="1" dirty="0">
                <a:latin typeface="Avenir Next Cyr W04 Regular" panose="020B0503020202020204" pitchFamily="34" charset="0"/>
                <a:cs typeface="Book Antiqua"/>
              </a:rPr>
              <a:t>“</a:t>
            </a:r>
            <a:r>
              <a:rPr lang="en-GB" sz="1200" b="1" dirty="0" err="1">
                <a:latin typeface="Avenir Next Cyr W04 Regular" panose="020B0503020202020204" pitchFamily="34" charset="0"/>
                <a:cs typeface="Book Antiqua"/>
              </a:rPr>
              <a:t>GetNames</a:t>
            </a:r>
            <a:r>
              <a:rPr lang="en-GB" sz="1200" b="1" dirty="0">
                <a:latin typeface="Avenir Next Cyr W04 Regular" panose="020B0503020202020204" pitchFamily="34" charset="0"/>
                <a:cs typeface="Book Antiqua"/>
              </a:rPr>
              <a:t> =“ </a:t>
            </a:r>
            <a:r>
              <a:rPr lang="en-GB" sz="1200" dirty="0">
                <a:latin typeface="Avenir Next Cyr W04 Regular" panose="020B0503020202020204" pitchFamily="34" charset="0"/>
                <a:cs typeface="Book Antiqua"/>
              </a:rPr>
              <a:t>– YES if the first row contains column names</a:t>
            </a:r>
            <a:endParaRPr lang="en-ZA" sz="1200" dirty="0">
              <a:latin typeface="Avenir Next Cyr W04 Regular" panose="020B0503020202020204" pitchFamily="34" charset="0"/>
              <a:cs typeface="Book Antiqua"/>
            </a:endParaRPr>
          </a:p>
        </p:txBody>
      </p:sp>
      <p:sp>
        <p:nvSpPr>
          <p:cNvPr id="5" name="Rectangle 4"/>
          <p:cNvSpPr/>
          <p:nvPr/>
        </p:nvSpPr>
        <p:spPr>
          <a:xfrm>
            <a:off x="5149442" y="2538674"/>
            <a:ext cx="4469164" cy="2691078"/>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pic>
        <p:nvPicPr>
          <p:cNvPr id="7" name="Picture 6"/>
          <p:cNvPicPr>
            <a:picLocks noChangeAspect="1"/>
          </p:cNvPicPr>
          <p:nvPr/>
        </p:nvPicPr>
        <p:blipFill>
          <a:blip r:embed="rId4"/>
          <a:stretch>
            <a:fillRect/>
          </a:stretch>
        </p:blipFill>
        <p:spPr>
          <a:xfrm>
            <a:off x="88577" y="2538673"/>
            <a:ext cx="5060865" cy="2691079"/>
          </a:xfrm>
          <a:prstGeom prst="rect">
            <a:avLst/>
          </a:prstGeom>
          <a:noFill/>
          <a:ln>
            <a:solidFill>
              <a:schemeClr val="tx1"/>
            </a:solidFill>
          </a:ln>
        </p:spPr>
      </p:pic>
    </p:spTree>
    <p:extLst>
      <p:ext uri="{BB962C8B-B14F-4D97-AF65-F5344CB8AC3E}">
        <p14:creationId xmlns:p14="http://schemas.microsoft.com/office/powerpoint/2010/main" val="3378661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9436" y="126218"/>
            <a:ext cx="8915400" cy="845332"/>
          </a:xfrm>
        </p:spPr>
        <p:txBody>
          <a:bodyPr>
            <a:normAutofit/>
          </a:bodyPr>
          <a:lstStyle/>
          <a:p>
            <a:r>
              <a:rPr lang="en-ZA" sz="2800" dirty="0" smtClean="0"/>
              <a:t>Checking the data set</a:t>
            </a:r>
            <a:endParaRPr lang="en-ZA" sz="2800" dirty="0"/>
          </a:p>
        </p:txBody>
      </p:sp>
      <p:sp>
        <p:nvSpPr>
          <p:cNvPr id="6" name="TextBox 5"/>
          <p:cNvSpPr txBox="1"/>
          <p:nvPr/>
        </p:nvSpPr>
        <p:spPr>
          <a:xfrm>
            <a:off x="9335911" y="3217333"/>
            <a:ext cx="184731" cy="369332"/>
          </a:xfrm>
          <a:prstGeom prst="rect">
            <a:avLst/>
          </a:prstGeom>
          <a:noFill/>
        </p:spPr>
        <p:txBody>
          <a:bodyPr wrap="none" rtlCol="0">
            <a:spAutoFit/>
          </a:bodyPr>
          <a:lstStyle/>
          <a:p>
            <a:endParaRPr lang="en-ZA" dirty="0"/>
          </a:p>
        </p:txBody>
      </p:sp>
      <p:sp>
        <p:nvSpPr>
          <p:cNvPr id="5" name="TextBox 4"/>
          <p:cNvSpPr txBox="1"/>
          <p:nvPr/>
        </p:nvSpPr>
        <p:spPr>
          <a:xfrm>
            <a:off x="789742" y="802176"/>
            <a:ext cx="7874788" cy="338747"/>
          </a:xfrm>
          <a:prstGeom prst="rect">
            <a:avLst/>
          </a:prstGeom>
          <a:noFill/>
        </p:spPr>
        <p:txBody>
          <a:bodyPr wrap="square" rtlCol="0">
            <a:spAutoFit/>
          </a:bodyPr>
          <a:lstStyle/>
          <a:p>
            <a:pPr>
              <a:lnSpc>
                <a:spcPct val="150000"/>
              </a:lnSpc>
              <a:buFont typeface="Arial"/>
              <a:buChar char="•"/>
            </a:pPr>
            <a:r>
              <a:rPr lang="en-GB" sz="1200" dirty="0">
                <a:latin typeface="Avenir Next Cyr W04 Regular" panose="020B0503020202020204" pitchFamily="34" charset="0"/>
                <a:cs typeface="Book Antiqua"/>
              </a:rPr>
              <a:t> Use this procedure to view information related to the data set ( e.g. variables names, variable widths etc.)</a:t>
            </a:r>
            <a:endParaRPr lang="en-GB" sz="1200" dirty="0">
              <a:solidFill>
                <a:schemeClr val="bg1">
                  <a:lumMod val="50000"/>
                </a:schemeClr>
              </a:solidFill>
              <a:latin typeface="Avenir Next Cyr W04 Regular" panose="020B0503020202020204" pitchFamily="34" charset="0"/>
              <a:cs typeface="Book Antiqua"/>
            </a:endParaRPr>
          </a:p>
        </p:txBody>
      </p:sp>
      <p:pic>
        <p:nvPicPr>
          <p:cNvPr id="3" name="Picture 2"/>
          <p:cNvPicPr>
            <a:picLocks noChangeAspect="1"/>
          </p:cNvPicPr>
          <p:nvPr/>
        </p:nvPicPr>
        <p:blipFill>
          <a:blip r:embed="rId4"/>
          <a:stretch>
            <a:fillRect/>
          </a:stretch>
        </p:blipFill>
        <p:spPr>
          <a:xfrm>
            <a:off x="2190940" y="3769995"/>
            <a:ext cx="5743575" cy="2000250"/>
          </a:xfrm>
          <a:prstGeom prst="rect">
            <a:avLst/>
          </a:prstGeom>
          <a:noFill/>
          <a:ln>
            <a:solidFill>
              <a:schemeClr val="tx1"/>
            </a:solidFill>
          </a:ln>
        </p:spPr>
      </p:pic>
      <p:pic>
        <p:nvPicPr>
          <p:cNvPr id="8" name="Picture 7"/>
          <p:cNvPicPr>
            <a:picLocks noChangeAspect="1"/>
          </p:cNvPicPr>
          <p:nvPr/>
        </p:nvPicPr>
        <p:blipFill>
          <a:blip r:embed="rId5"/>
          <a:stretch>
            <a:fillRect/>
          </a:stretch>
        </p:blipFill>
        <p:spPr>
          <a:xfrm>
            <a:off x="2190940" y="1816881"/>
            <a:ext cx="5743575" cy="1504950"/>
          </a:xfrm>
          <a:prstGeom prst="rect">
            <a:avLst/>
          </a:prstGeom>
        </p:spPr>
      </p:pic>
      <p:sp>
        <p:nvSpPr>
          <p:cNvPr id="9" name="Rectangle 8"/>
          <p:cNvSpPr/>
          <p:nvPr/>
        </p:nvSpPr>
        <p:spPr>
          <a:xfrm>
            <a:off x="2190940" y="1816881"/>
            <a:ext cx="5743575" cy="150495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3770659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xfrm>
            <a:off x="742950" y="501651"/>
            <a:ext cx="8420100" cy="1470025"/>
          </a:xfrm>
        </p:spPr>
        <p:txBody>
          <a:bodyPr>
            <a:normAutofit/>
          </a:bodyPr>
          <a:lstStyle/>
          <a:p>
            <a:r>
              <a:rPr lang="en-ZA" sz="2400" b="1" dirty="0" smtClean="0">
                <a:solidFill>
                  <a:srgbClr val="A7853E"/>
                </a:solidFill>
                <a:latin typeface="Baskerville Old Face" charset="0"/>
                <a:cs typeface="+mj-cs"/>
              </a:rPr>
              <a:t/>
            </a:r>
            <a:br>
              <a:rPr lang="en-ZA" sz="2400" b="1" dirty="0" smtClean="0">
                <a:solidFill>
                  <a:srgbClr val="A7853E"/>
                </a:solidFill>
                <a:latin typeface="Baskerville Old Face" charset="0"/>
                <a:cs typeface="+mj-cs"/>
              </a:rPr>
            </a:br>
            <a:endParaRPr lang="en-ZA" sz="2400" b="1" dirty="0">
              <a:solidFill>
                <a:srgbClr val="A7853E"/>
              </a:solidFill>
              <a:latin typeface="Baskerville Old Face" charset="0"/>
              <a:cs typeface="+mj-cs"/>
            </a:endParaRPr>
          </a:p>
        </p:txBody>
      </p:sp>
      <p:sp>
        <p:nvSpPr>
          <p:cNvPr id="2" name="Rectangle 1"/>
          <p:cNvSpPr/>
          <p:nvPr/>
        </p:nvSpPr>
        <p:spPr>
          <a:xfrm>
            <a:off x="1186703" y="2719454"/>
            <a:ext cx="7532594" cy="1077218"/>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dirty="0" smtClean="0">
                <a:ln>
                  <a:noFill/>
                </a:ln>
                <a:solidFill>
                  <a:prstClr val="white"/>
                </a:solidFill>
                <a:effectLst/>
                <a:uLnTx/>
                <a:uFillTx/>
                <a:latin typeface="Calibri"/>
                <a:ea typeface="+mn-ea"/>
                <a:cs typeface="+mn-cs"/>
              </a:rPr>
              <a:t>Study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smtClean="0">
                <a:ln>
                  <a:noFill/>
                </a:ln>
                <a:solidFill>
                  <a:prstClr val="white"/>
                </a:solidFill>
                <a:effectLst/>
                <a:uLnTx/>
                <a:uFillTx/>
                <a:latin typeface="Calibri"/>
                <a:ea typeface="+mn-ea"/>
                <a:cs typeface="+mn-cs"/>
              </a:rPr>
              <a:t>Chapter 3 </a:t>
            </a:r>
            <a:endParaRPr kumimoji="0" lang="en-ZA" sz="3200" b="0" i="0" u="none" strike="noStrike" kern="1200" cap="none" spc="0" normalizeH="0" baseline="0" noProof="0" dirty="0" smtClean="0">
              <a:ln>
                <a:noFill/>
              </a:ln>
              <a:solidFill>
                <a:prstClr val="white"/>
              </a:solidFill>
              <a:effectLst/>
              <a:uLnTx/>
              <a:uFillTx/>
              <a:latin typeface="Calibri"/>
              <a:ea typeface="+mn-ea"/>
              <a:cs typeface="+mn-cs"/>
            </a:endParaRPr>
          </a:p>
        </p:txBody>
      </p:sp>
      <p:sp>
        <p:nvSpPr>
          <p:cNvPr id="4" name="TextBox 3"/>
          <p:cNvSpPr txBox="1"/>
          <p:nvPr/>
        </p:nvSpPr>
        <p:spPr>
          <a:xfrm>
            <a:off x="6702088" y="5220717"/>
            <a:ext cx="3024161" cy="1015663"/>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Matthew Valentine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Office: Tech Room Lab K2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000" b="1" i="0" u="none" strike="noStrike" kern="1200" cap="none" spc="50" normalizeH="0" baseline="0" noProof="0" dirty="0" smtClean="0">
                <a:ln w="0"/>
                <a:solidFill>
                  <a:srgbClr val="EEECE1"/>
                </a:solidFill>
                <a:effectLst>
                  <a:innerShdw blurRad="63500" dist="50800" dir="13500000">
                    <a:srgbClr val="000000">
                      <a:alpha val="50000"/>
                    </a:srgbClr>
                  </a:innerShdw>
                </a:effectLst>
                <a:uLnTx/>
                <a:uFillTx/>
                <a:latin typeface="Calibri"/>
                <a:ea typeface="+mn-ea"/>
                <a:cs typeface="+mn-cs"/>
              </a:rPr>
              <a:t>Mvalentine@uwc.ac.za</a:t>
            </a:r>
            <a:endParaRPr kumimoji="0" lang="en-ZA" sz="1800" b="1" i="0" u="none" strike="noStrike" kern="1200" cap="none" spc="50" normalizeH="0" baseline="0" noProof="0" dirty="0">
              <a:ln w="0"/>
              <a:solidFill>
                <a:srgbClr val="EEECE1"/>
              </a:solidFill>
              <a:effectLst>
                <a:innerShdw blurRad="63500" dist="50800" dir="13500000">
                  <a:srgbClr val="000000">
                    <a:alpha val="50000"/>
                  </a:srgbClr>
                </a:innerShdw>
              </a:effectLst>
              <a:uLnTx/>
              <a:uFillTx/>
              <a:latin typeface="Calibri"/>
              <a:ea typeface="+mn-ea"/>
              <a:cs typeface="+mn-cs"/>
            </a:endParaRPr>
          </a:p>
        </p:txBody>
      </p:sp>
    </p:spTree>
    <p:extLst>
      <p:ext uri="{BB962C8B-B14F-4D97-AF65-F5344CB8AC3E}">
        <p14:creationId xmlns:p14="http://schemas.microsoft.com/office/powerpoint/2010/main" val="34655095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5788</TotalTime>
  <Words>656</Words>
  <Application>Microsoft Office PowerPoint</Application>
  <PresentationFormat>A4 Paper (210x297 mm)</PresentationFormat>
  <Paragraphs>65</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Avenir Next Cyr W04 Regular</vt:lpstr>
      <vt:lpstr>Baskerville Old Face</vt:lpstr>
      <vt:lpstr>Book Antiqua</vt:lpstr>
      <vt:lpstr>Calibri</vt:lpstr>
      <vt:lpstr>Courier New</vt:lpstr>
      <vt:lpstr>Office Theme</vt:lpstr>
      <vt:lpstr> </vt:lpstr>
      <vt:lpstr>Working with SAS Libraries and Permanent Data Sets</vt:lpstr>
      <vt:lpstr>PowerPoint Presentation</vt:lpstr>
      <vt:lpstr>PowerPoint Presentation</vt:lpstr>
      <vt:lpstr>PowerPoint Presentation</vt:lpstr>
      <vt:lpstr>PowerPoint Presentation</vt:lpstr>
      <vt:lpstr>PowerPoint Presentation</vt:lpstr>
      <vt:lpstr>Checking the data set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NDorfling</dc:creator>
  <cp:lastModifiedBy>Matthew Valentine</cp:lastModifiedBy>
  <cp:revision>567</cp:revision>
  <dcterms:created xsi:type="dcterms:W3CDTF">2015-03-11T08:56:03Z</dcterms:created>
  <dcterms:modified xsi:type="dcterms:W3CDTF">2020-04-28T14:10:28Z</dcterms:modified>
</cp:coreProperties>
</file>