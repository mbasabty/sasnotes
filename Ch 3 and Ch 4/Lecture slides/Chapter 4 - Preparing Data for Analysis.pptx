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handoutMasterIdLst>
    <p:handoutMasterId r:id="rId24"/>
  </p:handoutMasterIdLst>
  <p:sldIdLst>
    <p:sldId id="256" r:id="rId2"/>
    <p:sldId id="364" r:id="rId3"/>
    <p:sldId id="375" r:id="rId4"/>
    <p:sldId id="386" r:id="rId5"/>
    <p:sldId id="387" r:id="rId6"/>
    <p:sldId id="393" r:id="rId7"/>
    <p:sldId id="376" r:id="rId8"/>
    <p:sldId id="378" r:id="rId9"/>
    <p:sldId id="379" r:id="rId10"/>
    <p:sldId id="380" r:id="rId11"/>
    <p:sldId id="382" r:id="rId12"/>
    <p:sldId id="388" r:id="rId13"/>
    <p:sldId id="381" r:id="rId14"/>
    <p:sldId id="389" r:id="rId15"/>
    <p:sldId id="390" r:id="rId16"/>
    <p:sldId id="385" r:id="rId17"/>
    <p:sldId id="391" r:id="rId18"/>
    <p:sldId id="383" r:id="rId19"/>
    <p:sldId id="384" r:id="rId20"/>
    <p:sldId id="392" r:id="rId21"/>
    <p:sldId id="394" r:id="rId22"/>
  </p:sldIdLst>
  <p:sldSz cx="9906000" cy="6858000" type="A4"/>
  <p:notesSz cx="10409238" cy="72961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4DD034-75F4-5147-85C5-57B72AD43751}">
          <p14:sldIdLst>
            <p14:sldId id="256"/>
            <p14:sldId id="364"/>
            <p14:sldId id="375"/>
            <p14:sldId id="386"/>
            <p14:sldId id="387"/>
            <p14:sldId id="393"/>
            <p14:sldId id="376"/>
            <p14:sldId id="378"/>
            <p14:sldId id="379"/>
            <p14:sldId id="380"/>
            <p14:sldId id="382"/>
            <p14:sldId id="388"/>
            <p14:sldId id="381"/>
            <p14:sldId id="389"/>
            <p14:sldId id="390"/>
            <p14:sldId id="385"/>
            <p14:sldId id="391"/>
            <p14:sldId id="383"/>
            <p14:sldId id="384"/>
            <p14:sldId id="392"/>
            <p14:sldId id="394"/>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M" initials="J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37" autoAdjust="0"/>
    <p:restoredTop sz="92374" autoAdjust="0"/>
  </p:normalViewPr>
  <p:slideViewPr>
    <p:cSldViewPr snapToGrid="0" snapToObjects="1">
      <p:cViewPr varScale="1">
        <p:scale>
          <a:sx n="79" d="100"/>
          <a:sy n="79" d="100"/>
        </p:scale>
        <p:origin x="90" y="69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ZA"/>
          </a:p>
        </p:txBody>
      </p:sp>
      <p:sp>
        <p:nvSpPr>
          <p:cNvPr id="3" name="Date Placeholder 2"/>
          <p:cNvSpPr>
            <a:spLocks noGrp="1"/>
          </p:cNvSpPr>
          <p:nvPr>
            <p:ph type="dt" sz="quarter" idx="1"/>
          </p:nvPr>
        </p:nvSpPr>
        <p:spPr>
          <a:xfrm>
            <a:off x="5896159" y="0"/>
            <a:ext cx="4510670" cy="364808"/>
          </a:xfrm>
          <a:prstGeom prst="rect">
            <a:avLst/>
          </a:prstGeom>
        </p:spPr>
        <p:txBody>
          <a:bodyPr vert="horz" lIns="101169" tIns="50585" rIns="101169" bIns="50585" rtlCol="0"/>
          <a:lstStyle>
            <a:lvl1pPr algn="r">
              <a:defRPr sz="1300"/>
            </a:lvl1pPr>
          </a:lstStyle>
          <a:p>
            <a:fld id="{C605BAAB-8757-4FBD-9BED-960688D401C4}" type="datetimeFigureOut">
              <a:rPr lang="en-US" smtClean="0"/>
              <a:pPr/>
              <a:t>4/28/2020</a:t>
            </a:fld>
            <a:endParaRPr lang="en-ZA"/>
          </a:p>
        </p:txBody>
      </p:sp>
      <p:sp>
        <p:nvSpPr>
          <p:cNvPr id="4" name="Footer Placeholder 3"/>
          <p:cNvSpPr>
            <a:spLocks noGrp="1"/>
          </p:cNvSpPr>
          <p:nvPr>
            <p:ph type="ftr" sz="quarter" idx="2"/>
          </p:nvPr>
        </p:nvSpPr>
        <p:spPr>
          <a:xfrm>
            <a:off x="0" y="6930076"/>
            <a:ext cx="4510670" cy="364808"/>
          </a:xfrm>
          <a:prstGeom prst="rect">
            <a:avLst/>
          </a:prstGeom>
        </p:spPr>
        <p:txBody>
          <a:bodyPr vert="horz" lIns="101169" tIns="50585" rIns="101169" bIns="50585" rtlCol="0" anchor="b"/>
          <a:lstStyle>
            <a:lvl1pPr algn="l">
              <a:defRPr sz="1300"/>
            </a:lvl1pPr>
          </a:lstStyle>
          <a:p>
            <a:endParaRPr lang="en-ZA"/>
          </a:p>
        </p:txBody>
      </p:sp>
      <p:sp>
        <p:nvSpPr>
          <p:cNvPr id="5" name="Slide Number Placeholder 4"/>
          <p:cNvSpPr>
            <a:spLocks noGrp="1"/>
          </p:cNvSpPr>
          <p:nvPr>
            <p:ph type="sldNum" sz="quarter" idx="3"/>
          </p:nvPr>
        </p:nvSpPr>
        <p:spPr>
          <a:xfrm>
            <a:off x="5896159" y="6930076"/>
            <a:ext cx="4510670" cy="364808"/>
          </a:xfrm>
          <a:prstGeom prst="rect">
            <a:avLst/>
          </a:prstGeom>
        </p:spPr>
        <p:txBody>
          <a:bodyPr vert="horz" lIns="101169" tIns="50585" rIns="101169" bIns="50585" rtlCol="0" anchor="b"/>
          <a:lstStyle>
            <a:lvl1pPr algn="r">
              <a:defRPr sz="1300"/>
            </a:lvl1pPr>
          </a:lstStyle>
          <a:p>
            <a:fld id="{4A9A6402-836E-4507-B641-B01FDFCE6F04}" type="slidenum">
              <a:rPr lang="en-ZA" smtClean="0"/>
              <a:pPr/>
              <a:t>‹#›</a:t>
            </a:fld>
            <a:endParaRPr lang="en-ZA"/>
          </a:p>
        </p:txBody>
      </p:sp>
    </p:spTree>
    <p:extLst>
      <p:ext uri="{BB962C8B-B14F-4D97-AF65-F5344CB8AC3E}">
        <p14:creationId xmlns:p14="http://schemas.microsoft.com/office/powerpoint/2010/main" val="3606002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US"/>
          </a:p>
        </p:txBody>
      </p:sp>
      <p:sp>
        <p:nvSpPr>
          <p:cNvPr id="3" name="Date Placeholder 2"/>
          <p:cNvSpPr>
            <a:spLocks noGrp="1"/>
          </p:cNvSpPr>
          <p:nvPr>
            <p:ph type="dt" idx="1"/>
          </p:nvPr>
        </p:nvSpPr>
        <p:spPr>
          <a:xfrm>
            <a:off x="5896159" y="0"/>
            <a:ext cx="4510670" cy="364808"/>
          </a:xfrm>
          <a:prstGeom prst="rect">
            <a:avLst/>
          </a:prstGeom>
        </p:spPr>
        <p:txBody>
          <a:bodyPr vert="horz" lIns="101169" tIns="50585" rIns="101169" bIns="50585" rtlCol="0"/>
          <a:lstStyle>
            <a:lvl1pPr algn="r">
              <a:defRPr sz="1300"/>
            </a:lvl1pPr>
          </a:lstStyle>
          <a:p>
            <a:fld id="{1C2F6879-603E-754B-9B04-8AAE8D479E4C}" type="datetimeFigureOut">
              <a:rPr lang="en-US" smtClean="0"/>
              <a:pPr/>
              <a:t>4/28/2020</a:t>
            </a:fld>
            <a:endParaRPr lang="en-US"/>
          </a:p>
        </p:txBody>
      </p:sp>
      <p:sp>
        <p:nvSpPr>
          <p:cNvPr id="4" name="Slide Image Placeholder 3"/>
          <p:cNvSpPr>
            <a:spLocks noGrp="1" noRot="1" noChangeAspect="1"/>
          </p:cNvSpPr>
          <p:nvPr>
            <p:ph type="sldImg" idx="2"/>
          </p:nvPr>
        </p:nvSpPr>
        <p:spPr>
          <a:xfrm>
            <a:off x="3228975" y="547688"/>
            <a:ext cx="3951288" cy="2735262"/>
          </a:xfrm>
          <a:prstGeom prst="rect">
            <a:avLst/>
          </a:prstGeom>
          <a:noFill/>
          <a:ln w="12700">
            <a:solidFill>
              <a:prstClr val="black"/>
            </a:solidFill>
          </a:ln>
        </p:spPr>
        <p:txBody>
          <a:bodyPr vert="horz" lIns="101169" tIns="50585" rIns="101169" bIns="50585" rtlCol="0" anchor="ctr"/>
          <a:lstStyle/>
          <a:p>
            <a:endParaRPr lang="en-US"/>
          </a:p>
        </p:txBody>
      </p:sp>
      <p:sp>
        <p:nvSpPr>
          <p:cNvPr id="5" name="Notes Placeholder 4"/>
          <p:cNvSpPr>
            <a:spLocks noGrp="1"/>
          </p:cNvSpPr>
          <p:nvPr>
            <p:ph type="body" sz="quarter" idx="3"/>
          </p:nvPr>
        </p:nvSpPr>
        <p:spPr>
          <a:xfrm>
            <a:off x="1040924" y="3465671"/>
            <a:ext cx="8327390" cy="3283268"/>
          </a:xfrm>
          <a:prstGeom prst="rect">
            <a:avLst/>
          </a:prstGeom>
        </p:spPr>
        <p:txBody>
          <a:bodyPr vert="horz" lIns="101169" tIns="50585" rIns="101169" bIns="5058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930076"/>
            <a:ext cx="4510670" cy="364808"/>
          </a:xfrm>
          <a:prstGeom prst="rect">
            <a:avLst/>
          </a:prstGeom>
        </p:spPr>
        <p:txBody>
          <a:bodyPr vert="horz" lIns="101169" tIns="50585" rIns="101169" bIns="50585" rtlCol="0" anchor="b"/>
          <a:lstStyle>
            <a:lvl1pPr algn="l">
              <a:defRPr sz="1300"/>
            </a:lvl1pPr>
          </a:lstStyle>
          <a:p>
            <a:endParaRPr lang="en-US"/>
          </a:p>
        </p:txBody>
      </p:sp>
      <p:sp>
        <p:nvSpPr>
          <p:cNvPr id="7" name="Slide Number Placeholder 6"/>
          <p:cNvSpPr>
            <a:spLocks noGrp="1"/>
          </p:cNvSpPr>
          <p:nvPr>
            <p:ph type="sldNum" sz="quarter" idx="5"/>
          </p:nvPr>
        </p:nvSpPr>
        <p:spPr>
          <a:xfrm>
            <a:off x="5896159" y="6930076"/>
            <a:ext cx="4510670" cy="364808"/>
          </a:xfrm>
          <a:prstGeom prst="rect">
            <a:avLst/>
          </a:prstGeom>
        </p:spPr>
        <p:txBody>
          <a:bodyPr vert="horz" lIns="101169" tIns="50585" rIns="101169" bIns="50585" rtlCol="0" anchor="b"/>
          <a:lstStyle>
            <a:lvl1pPr algn="r">
              <a:defRPr sz="1300"/>
            </a:lvl1pPr>
          </a:lstStyle>
          <a:p>
            <a:fld id="{D14C1D86-6F9C-9646-B809-264C58FC1970}" type="slidenum">
              <a:rPr lang="en-US" smtClean="0"/>
              <a:pPr/>
              <a:t>‹#›</a:t>
            </a:fld>
            <a:endParaRPr lang="en-US"/>
          </a:p>
        </p:txBody>
      </p:sp>
    </p:spTree>
    <p:extLst>
      <p:ext uri="{BB962C8B-B14F-4D97-AF65-F5344CB8AC3E}">
        <p14:creationId xmlns:p14="http://schemas.microsoft.com/office/powerpoint/2010/main" val="320650887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14C1D86-6F9C-9646-B809-264C58FC1970}" type="slidenum">
              <a:rPr lang="en-US" smtClean="0"/>
              <a:pPr/>
              <a:t>1</a:t>
            </a:fld>
            <a:endParaRPr lang="en-US"/>
          </a:p>
        </p:txBody>
      </p:sp>
    </p:spTree>
    <p:extLst>
      <p:ext uri="{BB962C8B-B14F-4D97-AF65-F5344CB8AC3E}">
        <p14:creationId xmlns:p14="http://schemas.microsoft.com/office/powerpoint/2010/main" val="2624195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a:t>
            </a:fld>
            <a:endParaRPr lang="en-US"/>
          </a:p>
        </p:txBody>
      </p:sp>
    </p:spTree>
    <p:extLst>
      <p:ext uri="{BB962C8B-B14F-4D97-AF65-F5344CB8AC3E}">
        <p14:creationId xmlns:p14="http://schemas.microsoft.com/office/powerpoint/2010/main" val="3533207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3</a:t>
            </a:fld>
            <a:endParaRPr lang="en-US"/>
          </a:p>
        </p:txBody>
      </p:sp>
    </p:spTree>
    <p:extLst>
      <p:ext uri="{BB962C8B-B14F-4D97-AF65-F5344CB8AC3E}">
        <p14:creationId xmlns:p14="http://schemas.microsoft.com/office/powerpoint/2010/main" val="3091669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62172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80218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42257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7</a:t>
            </a:fld>
            <a:endParaRPr lang="en-US"/>
          </a:p>
        </p:txBody>
      </p:sp>
    </p:spTree>
    <p:extLst>
      <p:ext uri="{BB962C8B-B14F-4D97-AF65-F5344CB8AC3E}">
        <p14:creationId xmlns:p14="http://schemas.microsoft.com/office/powerpoint/2010/main" val="1965865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8</a:t>
            </a:fld>
            <a:endParaRPr lang="en-US"/>
          </a:p>
        </p:txBody>
      </p:sp>
    </p:spTree>
    <p:extLst>
      <p:ext uri="{BB962C8B-B14F-4D97-AF65-F5344CB8AC3E}">
        <p14:creationId xmlns:p14="http://schemas.microsoft.com/office/powerpoint/2010/main" val="134920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9</a:t>
            </a:fld>
            <a:endParaRPr lang="en-US"/>
          </a:p>
        </p:txBody>
      </p:sp>
    </p:spTree>
    <p:extLst>
      <p:ext uri="{BB962C8B-B14F-4D97-AF65-F5344CB8AC3E}">
        <p14:creationId xmlns:p14="http://schemas.microsoft.com/office/powerpoint/2010/main" val="1229489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10</a:t>
            </a:fld>
            <a:endParaRPr lang="en-US"/>
          </a:p>
        </p:txBody>
      </p:sp>
    </p:spTree>
    <p:extLst>
      <p:ext uri="{BB962C8B-B14F-4D97-AF65-F5344CB8AC3E}">
        <p14:creationId xmlns:p14="http://schemas.microsoft.com/office/powerpoint/2010/main" val="560292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11</a:t>
            </a:fld>
            <a:endParaRPr lang="en-US"/>
          </a:p>
        </p:txBody>
      </p:sp>
    </p:spTree>
    <p:extLst>
      <p:ext uri="{BB962C8B-B14F-4D97-AF65-F5344CB8AC3E}">
        <p14:creationId xmlns:p14="http://schemas.microsoft.com/office/powerpoint/2010/main" val="3491661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4305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13</a:t>
            </a:fld>
            <a:endParaRPr lang="en-US"/>
          </a:p>
        </p:txBody>
      </p:sp>
    </p:spTree>
    <p:extLst>
      <p:ext uri="{BB962C8B-B14F-4D97-AF65-F5344CB8AC3E}">
        <p14:creationId xmlns:p14="http://schemas.microsoft.com/office/powerpoint/2010/main" val="1813683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3590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52579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16</a:t>
            </a:fld>
            <a:endParaRPr lang="en-US"/>
          </a:p>
        </p:txBody>
      </p:sp>
    </p:spTree>
    <p:extLst>
      <p:ext uri="{BB962C8B-B14F-4D97-AF65-F5344CB8AC3E}">
        <p14:creationId xmlns:p14="http://schemas.microsoft.com/office/powerpoint/2010/main" val="1999233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205852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18</a:t>
            </a:fld>
            <a:endParaRPr lang="en-US"/>
          </a:p>
        </p:txBody>
      </p:sp>
    </p:spTree>
    <p:extLst>
      <p:ext uri="{BB962C8B-B14F-4D97-AF65-F5344CB8AC3E}">
        <p14:creationId xmlns:p14="http://schemas.microsoft.com/office/powerpoint/2010/main" val="92936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19</a:t>
            </a:fld>
            <a:endParaRPr lang="en-US"/>
          </a:p>
        </p:txBody>
      </p:sp>
    </p:spTree>
    <p:extLst>
      <p:ext uri="{BB962C8B-B14F-4D97-AF65-F5344CB8AC3E}">
        <p14:creationId xmlns:p14="http://schemas.microsoft.com/office/powerpoint/2010/main" val="2736299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4377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8763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403887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354433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C4D5889-9C47-1542-89BF-71BA5CAEC00A}" type="datetimeFigureOut">
              <a:rPr lang="en-US" smtClean="0"/>
              <a:pPr/>
              <a:t>4/28/2020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6906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C4D5889-9C47-1542-89BF-71BA5CAEC00A}" type="datetimeFigureOut">
              <a:rPr lang="en-US" smtClean="0"/>
              <a:pPr/>
              <a:t>4/28/2020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70258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C4D5889-9C47-1542-89BF-71BA5CAEC00A}" type="datetimeFigureOut">
              <a:rPr lang="en-US" smtClean="0"/>
              <a:pPr/>
              <a:t>4/28/2020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4858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C4D5889-9C47-1542-89BF-71BA5CAEC00A}" type="datetimeFigureOut">
              <a:rPr lang="en-US" smtClean="0"/>
              <a:pPr/>
              <a:t>4/28/2020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915583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4D5889-9C47-1542-89BF-71BA5CAEC00A}" type="datetimeFigureOut">
              <a:rPr lang="en-US" smtClean="0"/>
              <a:pPr/>
              <a:t>4/28/2020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28283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4/28/2020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555946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4/28/2020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146288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979724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222885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95300" y="274639"/>
            <a:ext cx="652145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33575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4D5889-9C47-1542-89BF-71BA5CAEC00A}" type="datetimeFigureOut">
              <a:rPr lang="en-US" smtClean="0"/>
              <a:pPr/>
              <a:t>4/28/2020</a:t>
            </a:fld>
            <a:endParaRPr lang="en-US"/>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DF8427-4C18-6C43-BFAB-BAEC5845A11E}" type="slidenum">
              <a:rPr lang="en-US" smtClean="0"/>
              <a:pPr/>
              <a:t>‹#›</a:t>
            </a:fld>
            <a:endParaRPr lang="en-US"/>
          </a:p>
        </p:txBody>
      </p:sp>
    </p:spTree>
    <p:extLst>
      <p:ext uri="{BB962C8B-B14F-4D97-AF65-F5344CB8AC3E}">
        <p14:creationId xmlns:p14="http://schemas.microsoft.com/office/powerpoint/2010/main" val="280042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742950" y="501651"/>
            <a:ext cx="8420100" cy="1470025"/>
          </a:xfrm>
        </p:spPr>
        <p:txBody>
          <a:bodyPr>
            <a:normAutofit/>
          </a:bodyPr>
          <a:lstStyle/>
          <a:p>
            <a:r>
              <a:rPr lang="en-ZA" sz="2400" b="1" dirty="0" smtClean="0">
                <a:solidFill>
                  <a:srgbClr val="A7853E"/>
                </a:solidFill>
                <a:latin typeface="Baskerville Old Face" charset="0"/>
                <a:cs typeface="+mj-cs"/>
              </a:rPr>
              <a:t/>
            </a:r>
            <a:br>
              <a:rPr lang="en-ZA" sz="2400" b="1" dirty="0" smtClean="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1903879" y="1971676"/>
            <a:ext cx="6098241" cy="1077218"/>
          </a:xfrm>
          <a:prstGeom prst="rect">
            <a:avLst/>
          </a:prstGeom>
        </p:spPr>
        <p:txBody>
          <a:bodyPr wrap="square">
            <a:spAutoFit/>
          </a:bodyPr>
          <a:lstStyle/>
          <a:p>
            <a:pPr algn="ctr"/>
            <a:r>
              <a:rPr lang="en-ZA" sz="3200" b="1" spc="50" dirty="0" smtClean="0">
                <a:ln w="0"/>
                <a:solidFill>
                  <a:schemeClr val="bg2"/>
                </a:solidFill>
                <a:effectLst>
                  <a:innerShdw blurRad="63500" dist="50800" dir="13500000">
                    <a:srgbClr val="000000">
                      <a:alpha val="50000"/>
                    </a:srgbClr>
                  </a:innerShdw>
                </a:effectLst>
              </a:rPr>
              <a:t>Lecture_4</a:t>
            </a:r>
          </a:p>
          <a:p>
            <a:pPr algn="ctr"/>
            <a:r>
              <a:rPr lang="en-ZA" sz="3200" b="1" spc="50" dirty="0" smtClean="0">
                <a:ln w="0"/>
                <a:solidFill>
                  <a:schemeClr val="bg2"/>
                </a:solidFill>
                <a:effectLst>
                  <a:innerShdw blurRad="63500" dist="50800" dir="13500000">
                    <a:srgbClr val="000000">
                      <a:alpha val="50000"/>
                    </a:srgbClr>
                  </a:innerShdw>
                </a:effectLst>
              </a:rPr>
              <a:t>Preparing Data for Analysis</a:t>
            </a:r>
            <a:endParaRPr lang="en-ZA" sz="3200" b="1" spc="50" dirty="0">
              <a:ln w="0"/>
              <a:solidFill>
                <a:schemeClr val="bg2"/>
              </a:solidFill>
              <a:effectLst>
                <a:innerShdw blurRad="63500" dist="50800" dir="13500000">
                  <a:srgbClr val="000000">
                    <a:alpha val="50000"/>
                  </a:srgbClr>
                </a:innerShdw>
              </a:effectLst>
            </a:endParaRPr>
          </a:p>
        </p:txBody>
      </p:sp>
      <p:sp>
        <p:nvSpPr>
          <p:cNvPr id="5" name="TextBox 4"/>
          <p:cNvSpPr txBox="1"/>
          <p:nvPr/>
        </p:nvSpPr>
        <p:spPr>
          <a:xfrm>
            <a:off x="6702088" y="5220717"/>
            <a:ext cx="3024161" cy="1015663"/>
          </a:xfrm>
          <a:prstGeom prst="rect">
            <a:avLst/>
          </a:prstGeom>
          <a:noFill/>
        </p:spPr>
        <p:txBody>
          <a:bodyPr wrap="none" rtlCol="0">
            <a:spAutoFit/>
          </a:bodyPr>
          <a:lstStyle/>
          <a:p>
            <a:r>
              <a:rPr lang="en-ZA" sz="2000" b="1" spc="50" dirty="0" smtClean="0">
                <a:ln w="0"/>
                <a:solidFill>
                  <a:schemeClr val="bg2"/>
                </a:solidFill>
                <a:effectLst>
                  <a:innerShdw blurRad="63500" dist="50800" dir="13500000">
                    <a:srgbClr val="000000">
                      <a:alpha val="50000"/>
                    </a:srgbClr>
                  </a:innerShdw>
                </a:effectLst>
              </a:rPr>
              <a:t>Matthew Valentine</a:t>
            </a:r>
          </a:p>
          <a:p>
            <a:r>
              <a:rPr lang="en-ZA" sz="2000" b="1" spc="50" dirty="0" smtClean="0">
                <a:ln w="0"/>
                <a:solidFill>
                  <a:schemeClr val="bg2"/>
                </a:solidFill>
                <a:effectLst>
                  <a:innerShdw blurRad="63500" dist="50800" dir="13500000">
                    <a:srgbClr val="000000">
                      <a:alpha val="50000"/>
                    </a:srgbClr>
                  </a:innerShdw>
                </a:effectLst>
              </a:rPr>
              <a:t>Office: Tech Room Lab K2</a:t>
            </a:r>
          </a:p>
          <a:p>
            <a:r>
              <a:rPr lang="en-ZA" sz="2000" b="1" spc="50" dirty="0" smtClean="0">
                <a:ln w="0"/>
                <a:solidFill>
                  <a:schemeClr val="bg2"/>
                </a:solidFill>
                <a:effectLst>
                  <a:innerShdw blurRad="63500" dist="50800" dir="13500000">
                    <a:srgbClr val="000000">
                      <a:alpha val="50000"/>
                    </a:srgbClr>
                  </a:innerShdw>
                </a:effectLst>
              </a:rPr>
              <a:t>mvalentine@uwc.ac.za</a:t>
            </a:r>
            <a:endParaRPr lang="en-ZA" b="1"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11303492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Labelling and Analysing Variables</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269436" y="747248"/>
            <a:ext cx="7874788" cy="230832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SAS Labels are used to provide descriptive names for variables Data sets often contain cryptic variable names such as ID, SBP, WT, etc…</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To produce something that’s readable, creating explanatory labels for the variables is good practice.</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In SAS this can be accomplished by using the LABEL statement.</a:t>
            </a:r>
          </a:p>
          <a:p>
            <a:pPr marL="342900" indent="-342900">
              <a:lnSpc>
                <a:spcPct val="150000"/>
              </a:lnSpc>
              <a:buFont typeface="Arial" panose="020B0604020202020204" pitchFamily="34" charset="0"/>
              <a:buChar char="•"/>
            </a:pPr>
            <a:endParaRPr lang="en-GB" sz="1200" dirty="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The LABEL Statement Syntax are as follows;</a:t>
            </a:r>
          </a:p>
          <a:p>
            <a:pPr marL="342900" indent="-342900">
              <a:lnSpc>
                <a:spcPct val="150000"/>
              </a:lnSpc>
              <a:buFont typeface="Arial" panose="020B0604020202020204" pitchFamily="34" charset="0"/>
              <a:buChar char="•"/>
            </a:pPr>
            <a:endParaRPr lang="en-GB" sz="1200" dirty="0" smtClean="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You can use Double or Single quotation marks in the LABEL statement.</a:t>
            </a:r>
          </a:p>
        </p:txBody>
      </p:sp>
      <p:sp>
        <p:nvSpPr>
          <p:cNvPr id="3" name="Rectangle 2"/>
          <p:cNvSpPr/>
          <p:nvPr/>
        </p:nvSpPr>
        <p:spPr>
          <a:xfrm>
            <a:off x="4119881" y="2178409"/>
            <a:ext cx="3116942" cy="400110"/>
          </a:xfrm>
          <a:prstGeom prst="rect">
            <a:avLst/>
          </a:prstGeom>
        </p:spPr>
        <p:txBody>
          <a:bodyPr wrap="square">
            <a:spAutoFit/>
          </a:bodyPr>
          <a:lstStyle/>
          <a:p>
            <a:r>
              <a:rPr lang="en-ZA" sz="1000" dirty="0">
                <a:solidFill>
                  <a:srgbClr val="0000FF"/>
                </a:solidFill>
                <a:latin typeface="Courier New" panose="02070309020205020404" pitchFamily="49" charset="0"/>
              </a:rPr>
              <a:t>LABEL</a:t>
            </a:r>
            <a:r>
              <a:rPr lang="en-ZA" sz="1000" dirty="0">
                <a:solidFill>
                  <a:srgbClr val="000000"/>
                </a:solidFill>
                <a:latin typeface="Courier New" panose="02070309020205020404" pitchFamily="49" charset="0"/>
              </a:rPr>
              <a:t>   VAR1 = </a:t>
            </a:r>
            <a:r>
              <a:rPr lang="en-ZA" sz="1000" dirty="0">
                <a:solidFill>
                  <a:srgbClr val="800080"/>
                </a:solidFill>
                <a:latin typeface="Courier New" panose="02070309020205020404" pitchFamily="49" charset="0"/>
              </a:rPr>
              <a:t>"A new label number 1"</a:t>
            </a:r>
            <a:endParaRPr lang="en-ZA" sz="1000" dirty="0">
              <a:solidFill>
                <a:srgbClr val="000000"/>
              </a:solidFill>
              <a:latin typeface="Courier New" panose="02070309020205020404" pitchFamily="49" charset="0"/>
            </a:endParaRPr>
          </a:p>
          <a:p>
            <a:r>
              <a:rPr lang="en-ZA" sz="1000" dirty="0">
                <a:solidFill>
                  <a:srgbClr val="000000"/>
                </a:solidFill>
                <a:latin typeface="Courier New" panose="02070309020205020404" pitchFamily="49" charset="0"/>
              </a:rPr>
              <a:t>	</a:t>
            </a:r>
            <a:r>
              <a:rPr lang="en-ZA" sz="1000" dirty="0" smtClean="0">
                <a:solidFill>
                  <a:srgbClr val="000000"/>
                </a:solidFill>
                <a:latin typeface="Courier New" panose="02070309020205020404" pitchFamily="49" charset="0"/>
              </a:rPr>
              <a:t>  VAR2 </a:t>
            </a:r>
            <a:r>
              <a:rPr lang="en-ZA" sz="1000" dirty="0">
                <a:solidFill>
                  <a:srgbClr val="000000"/>
                </a:solidFill>
                <a:latin typeface="Courier New" panose="02070309020205020404" pitchFamily="49" charset="0"/>
              </a:rPr>
              <a:t>= </a:t>
            </a:r>
            <a:r>
              <a:rPr lang="en-ZA" sz="1000" dirty="0">
                <a:solidFill>
                  <a:srgbClr val="800080"/>
                </a:solidFill>
                <a:latin typeface="Courier New" panose="02070309020205020404" pitchFamily="49" charset="0"/>
              </a:rPr>
              <a:t>"A new Label number 2"</a:t>
            </a:r>
            <a:endParaRPr lang="en-ZA" dirty="0"/>
          </a:p>
        </p:txBody>
      </p:sp>
      <p:sp>
        <p:nvSpPr>
          <p:cNvPr id="8" name="ZoneTexte 7"/>
          <p:cNvSpPr txBox="1"/>
          <p:nvPr/>
        </p:nvSpPr>
        <p:spPr>
          <a:xfrm>
            <a:off x="4119881" y="6017214"/>
            <a:ext cx="6646721" cy="411972"/>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lang="en-GB" sz="1200" b="1" noProof="0" dirty="0" smtClean="0">
                <a:solidFill>
                  <a:srgbClr val="FF0000"/>
                </a:solidFill>
                <a:latin typeface="Book Antiqua"/>
                <a:cs typeface="Book Antiqua"/>
              </a:rPr>
              <a:t>DLABEL</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sp>
        <p:nvSpPr>
          <p:cNvPr id="7" name="Rectangle 6"/>
          <p:cNvSpPr/>
          <p:nvPr/>
        </p:nvSpPr>
        <p:spPr>
          <a:xfrm>
            <a:off x="4119881" y="2178409"/>
            <a:ext cx="3116942" cy="40011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pic>
        <p:nvPicPr>
          <p:cNvPr id="10" name="Picture 9"/>
          <p:cNvPicPr>
            <a:picLocks noChangeAspect="1"/>
          </p:cNvPicPr>
          <p:nvPr/>
        </p:nvPicPr>
        <p:blipFill>
          <a:blip r:embed="rId4"/>
          <a:stretch>
            <a:fillRect/>
          </a:stretch>
        </p:blipFill>
        <p:spPr>
          <a:xfrm>
            <a:off x="4990010" y="4067896"/>
            <a:ext cx="4530631" cy="1141174"/>
          </a:xfrm>
          <a:prstGeom prst="rect">
            <a:avLst/>
          </a:prstGeom>
        </p:spPr>
      </p:pic>
      <p:sp>
        <p:nvSpPr>
          <p:cNvPr id="11" name="Rectangle 10"/>
          <p:cNvSpPr/>
          <p:nvPr/>
        </p:nvSpPr>
        <p:spPr>
          <a:xfrm>
            <a:off x="4990010" y="4067896"/>
            <a:ext cx="4530632" cy="114117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pic>
        <p:nvPicPr>
          <p:cNvPr id="12" name="Picture 11"/>
          <p:cNvPicPr>
            <a:picLocks noChangeAspect="1"/>
          </p:cNvPicPr>
          <p:nvPr/>
        </p:nvPicPr>
        <p:blipFill>
          <a:blip r:embed="rId5"/>
          <a:stretch>
            <a:fillRect/>
          </a:stretch>
        </p:blipFill>
        <p:spPr>
          <a:xfrm>
            <a:off x="172704" y="3086719"/>
            <a:ext cx="4554432" cy="3136481"/>
          </a:xfrm>
          <a:prstGeom prst="rect">
            <a:avLst/>
          </a:prstGeom>
          <a:noFill/>
          <a:ln>
            <a:solidFill>
              <a:schemeClr val="tx1"/>
            </a:solidFill>
          </a:ln>
        </p:spPr>
      </p:pic>
    </p:spTree>
    <p:extLst>
      <p:ext uri="{BB962C8B-B14F-4D97-AF65-F5344CB8AC3E}">
        <p14:creationId xmlns:p14="http://schemas.microsoft.com/office/powerpoint/2010/main" val="31362228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a:t>Labelling and Analysing Variables</a:t>
            </a:r>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7" name="TextBox 6"/>
          <p:cNvSpPr txBox="1"/>
          <p:nvPr/>
        </p:nvSpPr>
        <p:spPr>
          <a:xfrm>
            <a:off x="9335910" y="892144"/>
            <a:ext cx="184731" cy="369332"/>
          </a:xfrm>
          <a:prstGeom prst="rect">
            <a:avLst/>
          </a:prstGeom>
          <a:noFill/>
        </p:spPr>
        <p:txBody>
          <a:bodyPr wrap="none" rtlCol="0">
            <a:spAutoFit/>
          </a:bodyPr>
          <a:lstStyle/>
          <a:p>
            <a:endParaRPr lang="en-ZA" dirty="0"/>
          </a:p>
        </p:txBody>
      </p:sp>
      <p:pic>
        <p:nvPicPr>
          <p:cNvPr id="9" name="Picture 8"/>
          <p:cNvPicPr>
            <a:picLocks noChangeAspect="1"/>
          </p:cNvPicPr>
          <p:nvPr/>
        </p:nvPicPr>
        <p:blipFill>
          <a:blip r:embed="rId4"/>
          <a:stretch>
            <a:fillRect/>
          </a:stretch>
        </p:blipFill>
        <p:spPr>
          <a:xfrm>
            <a:off x="4917072" y="4456292"/>
            <a:ext cx="4530631" cy="1141174"/>
          </a:xfrm>
          <a:prstGeom prst="rect">
            <a:avLst/>
          </a:prstGeom>
        </p:spPr>
      </p:pic>
      <p:sp>
        <p:nvSpPr>
          <p:cNvPr id="10" name="Rectangle 9"/>
          <p:cNvSpPr/>
          <p:nvPr/>
        </p:nvSpPr>
        <p:spPr>
          <a:xfrm>
            <a:off x="4990010" y="4456292"/>
            <a:ext cx="4530632" cy="114117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pic>
        <p:nvPicPr>
          <p:cNvPr id="11" name="Picture 10"/>
          <p:cNvPicPr>
            <a:picLocks noChangeAspect="1"/>
          </p:cNvPicPr>
          <p:nvPr/>
        </p:nvPicPr>
        <p:blipFill>
          <a:blip r:embed="rId5"/>
          <a:stretch>
            <a:fillRect/>
          </a:stretch>
        </p:blipFill>
        <p:spPr>
          <a:xfrm>
            <a:off x="172703" y="3561534"/>
            <a:ext cx="4666232" cy="2930690"/>
          </a:xfrm>
          <a:prstGeom prst="rect">
            <a:avLst/>
          </a:prstGeom>
          <a:noFill/>
          <a:ln>
            <a:solidFill>
              <a:schemeClr val="tx1"/>
            </a:solidFill>
          </a:ln>
        </p:spPr>
      </p:pic>
      <p:pic>
        <p:nvPicPr>
          <p:cNvPr id="5" name="Picture 4"/>
          <p:cNvPicPr>
            <a:picLocks noChangeAspect="1"/>
          </p:cNvPicPr>
          <p:nvPr/>
        </p:nvPicPr>
        <p:blipFill>
          <a:blip r:embed="rId6"/>
          <a:stretch>
            <a:fillRect/>
          </a:stretch>
        </p:blipFill>
        <p:spPr>
          <a:xfrm>
            <a:off x="172703" y="892144"/>
            <a:ext cx="4666232" cy="2669390"/>
          </a:xfrm>
          <a:prstGeom prst="rect">
            <a:avLst/>
          </a:prstGeom>
          <a:noFill/>
          <a:ln>
            <a:solidFill>
              <a:schemeClr val="tx1"/>
            </a:solidFill>
          </a:ln>
        </p:spPr>
      </p:pic>
      <p:pic>
        <p:nvPicPr>
          <p:cNvPr id="12" name="Picture 11"/>
          <p:cNvPicPr>
            <a:picLocks noChangeAspect="1"/>
          </p:cNvPicPr>
          <p:nvPr/>
        </p:nvPicPr>
        <p:blipFill>
          <a:blip r:embed="rId7"/>
          <a:stretch>
            <a:fillRect/>
          </a:stretch>
        </p:blipFill>
        <p:spPr>
          <a:xfrm>
            <a:off x="4990009" y="1612476"/>
            <a:ext cx="4530633" cy="1228725"/>
          </a:xfrm>
          <a:prstGeom prst="rect">
            <a:avLst/>
          </a:prstGeom>
          <a:noFill/>
          <a:ln>
            <a:solidFill>
              <a:schemeClr val="tx1"/>
            </a:solidFill>
          </a:ln>
        </p:spPr>
      </p:pic>
      <p:cxnSp>
        <p:nvCxnSpPr>
          <p:cNvPr id="14" name="Straight Arrow Connector 13"/>
          <p:cNvCxnSpPr>
            <a:stCxn id="5" idx="3"/>
            <a:endCxn id="12" idx="1"/>
          </p:cNvCxnSpPr>
          <p:nvPr/>
        </p:nvCxnSpPr>
        <p:spPr>
          <a:xfrm>
            <a:off x="4838935" y="2226839"/>
            <a:ext cx="15107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11" idx="3"/>
            <a:endCxn id="10" idx="1"/>
          </p:cNvCxnSpPr>
          <p:nvPr/>
        </p:nvCxnSpPr>
        <p:spPr>
          <a:xfrm>
            <a:off x="4838935" y="5026879"/>
            <a:ext cx="15107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52618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Creating new Variables</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TextBox 6"/>
          <p:cNvSpPr txBox="1"/>
          <p:nvPr/>
        </p:nvSpPr>
        <p:spPr>
          <a:xfrm>
            <a:off x="950259" y="971550"/>
            <a:ext cx="7874788" cy="17543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It is common to calculate new variables in a dataset in preparation for analysis.</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Example; You may need to convert a temperature reading from Fahrenheit to Celsius.</a:t>
            </a:r>
          </a:p>
          <a:p>
            <a:pPr marL="342900" indent="-342900">
              <a:lnSpc>
                <a:spcPct val="150000"/>
              </a:lnSpc>
              <a:buFont typeface="Arial" panose="020B0604020202020204" pitchFamily="34" charset="0"/>
              <a:buChar char="•"/>
            </a:pPr>
            <a:endParaRPr lang="en-GB" sz="1200" dirty="0">
              <a:solidFill>
                <a:srgbClr val="342E2B"/>
              </a:solidFill>
              <a:latin typeface="Avenir Next Cyr W04 Regular" panose="020B0503020202020204" pitchFamily="34" charset="0"/>
              <a:cs typeface="Book Antiqua"/>
            </a:endParaRP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One method for creating new variables in your dataset is to calculate them within the DATA step.</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You can create new variables within a SAS DATA statement by assigning a value to a new variable name or by calculating a new variable using a mathematical or logical operator/expression.</a:t>
            </a:r>
          </a:p>
        </p:txBody>
      </p:sp>
      <p:sp>
        <p:nvSpPr>
          <p:cNvPr id="9" name="Title 1"/>
          <p:cNvSpPr txBox="1">
            <a:spLocks/>
          </p:cNvSpPr>
          <p:nvPr/>
        </p:nvSpPr>
        <p:spPr>
          <a:xfrm>
            <a:off x="269436" y="2741333"/>
            <a:ext cx="8915400" cy="84533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2400" dirty="0" smtClean="0"/>
              <a:t>Creating Numeric Variables in the DATA step</a:t>
            </a:r>
            <a:endParaRPr lang="en-ZA" sz="2400" dirty="0"/>
          </a:p>
        </p:txBody>
      </p:sp>
      <p:sp>
        <p:nvSpPr>
          <p:cNvPr id="10" name="TextBox 9"/>
          <p:cNvSpPr txBox="1"/>
          <p:nvPr/>
        </p:nvSpPr>
        <p:spPr>
          <a:xfrm>
            <a:off x="950259" y="3618496"/>
            <a:ext cx="7874788" cy="258532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200" b="1" dirty="0" smtClean="0">
                <a:solidFill>
                  <a:srgbClr val="342E2B"/>
                </a:solidFill>
                <a:latin typeface="Avenir Next Cyr W04 Regular" panose="020B0503020202020204" pitchFamily="34" charset="0"/>
                <a:cs typeface="Book Antiqua"/>
              </a:rPr>
              <a:t>These calculations use standard arithmetic operators as defined here:</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 Addition</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 Subtraction</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 Multiplication</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 Division</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 Exponentiation</a:t>
            </a:r>
          </a:p>
          <a:p>
            <a:pPr marL="342900" indent="-342900">
              <a:lnSpc>
                <a:spcPct val="150000"/>
              </a:lnSpc>
              <a:buFont typeface="Arial" panose="020B0604020202020204" pitchFamily="34" charset="0"/>
              <a:buChar char="•"/>
            </a:pPr>
            <a:r>
              <a:rPr lang="en-GB" sz="1200" b="1" dirty="0" smtClean="0">
                <a:solidFill>
                  <a:srgbClr val="342E2B"/>
                </a:solidFill>
                <a:latin typeface="Avenir Next Cyr W04 Regular" panose="020B0503020202020204" pitchFamily="34" charset="0"/>
                <a:cs typeface="Book Antiqua"/>
              </a:rPr>
              <a:t>Examples;</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Sum = X + Y</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DIFF = X - Y</a:t>
            </a:r>
          </a:p>
        </p:txBody>
      </p:sp>
    </p:spTree>
    <p:extLst>
      <p:ext uri="{BB962C8B-B14F-4D97-AF65-F5344CB8AC3E}">
        <p14:creationId xmlns:p14="http://schemas.microsoft.com/office/powerpoint/2010/main" val="5365704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Creating new Variables</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7"/>
          <p:cNvSpPr txBox="1"/>
          <p:nvPr/>
        </p:nvSpPr>
        <p:spPr>
          <a:xfrm>
            <a:off x="610625" y="720932"/>
            <a:ext cx="7874788" cy="17543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The following example will be looking at how to calculate a new value for each record in your dataset by using a simple arithmetic expression, by multiplying two variables (WIDTH and LENGTH) that are in the dataset to create a New Variable (AREA)</a:t>
            </a:r>
          </a:p>
          <a:p>
            <a:pPr marL="342900" indent="-342900">
              <a:lnSpc>
                <a:spcPct val="150000"/>
              </a:lnSpc>
              <a:buFont typeface="Arial" panose="020B0604020202020204" pitchFamily="34" charset="0"/>
              <a:buChar char="•"/>
            </a:pPr>
            <a:r>
              <a:rPr lang="en-GB" sz="1200" dirty="0">
                <a:solidFill>
                  <a:srgbClr val="342E2B"/>
                </a:solidFill>
                <a:latin typeface="Avenir Next Cyr W04 Regular" panose="020B0503020202020204" pitchFamily="34" charset="0"/>
                <a:cs typeface="Book Antiqua"/>
              </a:rPr>
              <a:t>When doing calculations in says remember that it calculates Parentheses, Exponents, Multiplication, Division, Addition and then Subtraction.</a:t>
            </a:r>
          </a:p>
          <a:p>
            <a:pPr marL="342900" indent="-342900">
              <a:lnSpc>
                <a:spcPct val="150000"/>
              </a:lnSpc>
              <a:buFont typeface="Arial" panose="020B0604020202020204" pitchFamily="34" charset="0"/>
              <a:buChar char="•"/>
            </a:pPr>
            <a:endParaRPr lang="en-GB" sz="1200" dirty="0" smtClean="0">
              <a:solidFill>
                <a:srgbClr val="342E2B"/>
              </a:solidFill>
              <a:latin typeface="Avenir Next Cyr W04 Regular" panose="020B0503020202020204" pitchFamily="34" charset="0"/>
              <a:cs typeface="Book Antiqua"/>
            </a:endParaRPr>
          </a:p>
        </p:txBody>
      </p:sp>
      <p:sp>
        <p:nvSpPr>
          <p:cNvPr id="11" name="ZoneTexte 7"/>
          <p:cNvSpPr txBox="1"/>
          <p:nvPr/>
        </p:nvSpPr>
        <p:spPr>
          <a:xfrm>
            <a:off x="4119881" y="6017214"/>
            <a:ext cx="6646721" cy="411972"/>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lang="en-GB" sz="1200" b="1" noProof="0" dirty="0" smtClean="0">
                <a:solidFill>
                  <a:srgbClr val="FF0000"/>
                </a:solidFill>
                <a:latin typeface="Book Antiqua"/>
                <a:cs typeface="Book Antiqua"/>
              </a:rPr>
              <a:t>DCALC</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7" name="Picture 6"/>
          <p:cNvPicPr>
            <a:picLocks noChangeAspect="1"/>
          </p:cNvPicPr>
          <p:nvPr/>
        </p:nvPicPr>
        <p:blipFill>
          <a:blip r:embed="rId4"/>
          <a:stretch>
            <a:fillRect/>
          </a:stretch>
        </p:blipFill>
        <p:spPr>
          <a:xfrm>
            <a:off x="610625" y="2224639"/>
            <a:ext cx="3685631" cy="4204547"/>
          </a:xfrm>
          <a:prstGeom prst="rect">
            <a:avLst/>
          </a:prstGeom>
          <a:noFill/>
          <a:ln>
            <a:solidFill>
              <a:schemeClr val="tx1"/>
            </a:solidFill>
          </a:ln>
        </p:spPr>
      </p:pic>
      <p:pic>
        <p:nvPicPr>
          <p:cNvPr id="9" name="Picture 8"/>
          <p:cNvPicPr>
            <a:picLocks noChangeAspect="1"/>
          </p:cNvPicPr>
          <p:nvPr/>
        </p:nvPicPr>
        <p:blipFill>
          <a:blip r:embed="rId5"/>
          <a:stretch>
            <a:fillRect/>
          </a:stretch>
        </p:blipFill>
        <p:spPr>
          <a:xfrm>
            <a:off x="6149712" y="2993008"/>
            <a:ext cx="2819400" cy="2647950"/>
          </a:xfrm>
          <a:prstGeom prst="rect">
            <a:avLst/>
          </a:prstGeom>
          <a:noFill/>
          <a:ln>
            <a:solidFill>
              <a:schemeClr val="tx1"/>
            </a:solidFill>
          </a:ln>
        </p:spPr>
      </p:pic>
      <p:cxnSp>
        <p:nvCxnSpPr>
          <p:cNvPr id="12" name="Straight Arrow Connector 11"/>
          <p:cNvCxnSpPr>
            <a:stCxn id="7" idx="3"/>
            <a:endCxn id="9" idx="1"/>
          </p:cNvCxnSpPr>
          <p:nvPr/>
        </p:nvCxnSpPr>
        <p:spPr>
          <a:xfrm flipV="1">
            <a:off x="4296256" y="4316983"/>
            <a:ext cx="1853456" cy="99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81378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ZoneTexte 7"/>
          <p:cNvSpPr txBox="1"/>
          <p:nvPr/>
        </p:nvSpPr>
        <p:spPr>
          <a:xfrm>
            <a:off x="4420326" y="6105637"/>
            <a:ext cx="6646721" cy="411972"/>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DCALC.SAS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7" name="Picture 6"/>
          <p:cNvPicPr>
            <a:picLocks noChangeAspect="1"/>
          </p:cNvPicPr>
          <p:nvPr/>
        </p:nvPicPr>
        <p:blipFill>
          <a:blip r:embed="rId4"/>
          <a:stretch>
            <a:fillRect/>
          </a:stretch>
        </p:blipFill>
        <p:spPr>
          <a:xfrm>
            <a:off x="839208" y="301335"/>
            <a:ext cx="2852071" cy="3042756"/>
          </a:xfrm>
          <a:prstGeom prst="rect">
            <a:avLst/>
          </a:prstGeom>
          <a:noFill/>
          <a:ln>
            <a:solidFill>
              <a:schemeClr val="tx1"/>
            </a:solidFill>
          </a:ln>
        </p:spPr>
      </p:pic>
      <p:pic>
        <p:nvPicPr>
          <p:cNvPr id="9" name="Picture 8"/>
          <p:cNvPicPr>
            <a:picLocks noChangeAspect="1"/>
          </p:cNvPicPr>
          <p:nvPr/>
        </p:nvPicPr>
        <p:blipFill>
          <a:blip r:embed="rId5"/>
          <a:stretch>
            <a:fillRect/>
          </a:stretch>
        </p:blipFill>
        <p:spPr>
          <a:xfrm>
            <a:off x="5403654" y="498738"/>
            <a:ext cx="2819400" cy="2647950"/>
          </a:xfrm>
          <a:prstGeom prst="rect">
            <a:avLst/>
          </a:prstGeom>
          <a:noFill/>
          <a:ln>
            <a:solidFill>
              <a:schemeClr val="tx1"/>
            </a:solidFill>
          </a:ln>
        </p:spPr>
      </p:pic>
      <p:pic>
        <p:nvPicPr>
          <p:cNvPr id="4" name="Picture 3"/>
          <p:cNvPicPr>
            <a:picLocks noChangeAspect="1"/>
          </p:cNvPicPr>
          <p:nvPr/>
        </p:nvPicPr>
        <p:blipFill>
          <a:blip r:embed="rId6"/>
          <a:stretch>
            <a:fillRect/>
          </a:stretch>
        </p:blipFill>
        <p:spPr>
          <a:xfrm>
            <a:off x="839207" y="3437398"/>
            <a:ext cx="2852071" cy="2874225"/>
          </a:xfrm>
          <a:prstGeom prst="rect">
            <a:avLst/>
          </a:prstGeom>
          <a:noFill/>
          <a:ln>
            <a:solidFill>
              <a:schemeClr val="tx1"/>
            </a:solidFill>
          </a:ln>
        </p:spPr>
      </p:pic>
      <p:pic>
        <p:nvPicPr>
          <p:cNvPr id="5" name="Picture 4"/>
          <p:cNvPicPr>
            <a:picLocks noChangeAspect="1"/>
          </p:cNvPicPr>
          <p:nvPr/>
        </p:nvPicPr>
        <p:blipFill>
          <a:blip r:embed="rId7"/>
          <a:stretch>
            <a:fillRect/>
          </a:stretch>
        </p:blipFill>
        <p:spPr>
          <a:xfrm>
            <a:off x="5403654" y="3586665"/>
            <a:ext cx="2819399" cy="2575690"/>
          </a:xfrm>
          <a:prstGeom prst="rect">
            <a:avLst/>
          </a:prstGeom>
          <a:noFill/>
          <a:ln>
            <a:solidFill>
              <a:schemeClr val="tx1"/>
            </a:solidFill>
          </a:ln>
        </p:spPr>
      </p:pic>
      <p:cxnSp>
        <p:nvCxnSpPr>
          <p:cNvPr id="13" name="Straight Arrow Connector 12"/>
          <p:cNvCxnSpPr>
            <a:stCxn id="7" idx="3"/>
            <a:endCxn id="9" idx="1"/>
          </p:cNvCxnSpPr>
          <p:nvPr/>
        </p:nvCxnSpPr>
        <p:spPr>
          <a:xfrm>
            <a:off x="3691279" y="1822713"/>
            <a:ext cx="17123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4" idx="3"/>
            <a:endCxn id="5" idx="1"/>
          </p:cNvCxnSpPr>
          <p:nvPr/>
        </p:nvCxnSpPr>
        <p:spPr>
          <a:xfrm flipV="1">
            <a:off x="3691278" y="4874510"/>
            <a:ext cx="1712376"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40024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SAS Functions</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887506" y="1195668"/>
            <a:ext cx="7874788" cy="3139321"/>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GB" sz="1200" dirty="0">
                <a:latin typeface="Avenir Next Cyr W04 Regular" panose="020B0503020202020204" pitchFamily="34" charset="0"/>
                <a:cs typeface="Book Antiqua"/>
              </a:rPr>
              <a:t>Functions that can be used when assigning variables</a:t>
            </a:r>
          </a:p>
          <a:p>
            <a:pPr marL="342900" lvl="0" indent="-342900">
              <a:lnSpc>
                <a:spcPct val="200000"/>
              </a:lnSpc>
              <a:buFont typeface="Arial" panose="020B0604020202020204" pitchFamily="34" charset="0"/>
              <a:buChar char="•"/>
            </a:pPr>
            <a:r>
              <a:rPr lang="en-ZA" sz="1200" dirty="0">
                <a:latin typeface="Avenir Next Cyr W04 Regular" panose="020B0503020202020204" pitchFamily="34" charset="0"/>
                <a:cs typeface="Book Antiqua"/>
              </a:rPr>
              <a:t>Form: </a:t>
            </a:r>
            <a:r>
              <a:rPr lang="en-ZA" sz="1200" i="1" dirty="0">
                <a:latin typeface="Avenir Next Cyr W04 Regular" panose="020B0503020202020204" pitchFamily="34" charset="0"/>
                <a:cs typeface="Book Antiqua"/>
              </a:rPr>
              <a:t>variable = function(argument1, argument2</a:t>
            </a:r>
            <a:r>
              <a:rPr lang="en-ZA" sz="1200" i="1" dirty="0" smtClean="0">
                <a:latin typeface="Avenir Next Cyr W04 Regular" panose="020B0503020202020204" pitchFamily="34" charset="0"/>
                <a:cs typeface="Book Antiqua"/>
              </a:rPr>
              <a:t>,…);</a:t>
            </a:r>
          </a:p>
          <a:p>
            <a:pPr lvl="0">
              <a:lnSpc>
                <a:spcPct val="200000"/>
              </a:lnSpc>
            </a:pPr>
            <a:endParaRPr lang="en-GB" sz="1200" i="1" dirty="0">
              <a:latin typeface="Avenir Next Cyr W04 Regular" panose="020B0503020202020204" pitchFamily="34" charset="0"/>
              <a:cs typeface="Book Antiqua"/>
            </a:endParaRPr>
          </a:p>
          <a:p>
            <a:pPr marL="342900" lvl="0" indent="-342900">
              <a:lnSpc>
                <a:spcPct val="200000"/>
              </a:lnSpc>
              <a:buFont typeface="Arial" panose="020B0604020202020204" pitchFamily="34" charset="0"/>
              <a:buChar char="•"/>
            </a:pPr>
            <a:r>
              <a:rPr lang="en-GB" sz="1200" b="1" dirty="0">
                <a:latin typeface="Avenir Next Cyr W04 Regular" panose="020B0503020202020204" pitchFamily="34" charset="0"/>
                <a:cs typeface="Book Antiqua"/>
              </a:rPr>
              <a:t>Some important functions:</a:t>
            </a:r>
          </a:p>
          <a:p>
            <a:pPr marL="800100" lvl="1" indent="-342900">
              <a:lnSpc>
                <a:spcPct val="150000"/>
              </a:lnSpc>
              <a:buFont typeface="Courier New" panose="02070309020205020404" pitchFamily="49" charset="0"/>
              <a:buChar char="o"/>
            </a:pPr>
            <a:r>
              <a:rPr lang="en-GB" sz="1200" dirty="0">
                <a:latin typeface="Avenir Next Cyr W04 Regular" panose="020B0503020202020204" pitchFamily="34" charset="0"/>
                <a:cs typeface="Book Antiqua"/>
              </a:rPr>
              <a:t>S = INT(x);</a:t>
            </a:r>
          </a:p>
          <a:p>
            <a:pPr marL="800100" lvl="1" indent="-342900">
              <a:lnSpc>
                <a:spcPct val="150000"/>
              </a:lnSpc>
              <a:buFont typeface="Courier New" panose="02070309020205020404" pitchFamily="49" charset="0"/>
              <a:buChar char="o"/>
            </a:pPr>
            <a:r>
              <a:rPr lang="en-GB" sz="1200" dirty="0">
                <a:latin typeface="Avenir Next Cyr W04 Regular" panose="020B0503020202020204" pitchFamily="34" charset="0"/>
                <a:cs typeface="Book Antiqua"/>
              </a:rPr>
              <a:t>S = MAX(x1, x2, x3, …);</a:t>
            </a:r>
          </a:p>
          <a:p>
            <a:pPr marL="800100" lvl="1" indent="-342900">
              <a:lnSpc>
                <a:spcPct val="150000"/>
              </a:lnSpc>
              <a:buFont typeface="Courier New" panose="02070309020205020404" pitchFamily="49" charset="0"/>
              <a:buChar char="o"/>
            </a:pPr>
            <a:r>
              <a:rPr lang="en-GB" sz="1200" dirty="0">
                <a:latin typeface="Avenir Next Cyr W04 Regular" panose="020B0503020202020204" pitchFamily="34" charset="0"/>
                <a:cs typeface="Book Antiqua"/>
              </a:rPr>
              <a:t>S = MIN(x1, x2, x3, …);</a:t>
            </a:r>
          </a:p>
          <a:p>
            <a:pPr marL="800100" lvl="1" indent="-342900">
              <a:lnSpc>
                <a:spcPct val="150000"/>
              </a:lnSpc>
              <a:buFont typeface="Courier New" panose="02070309020205020404" pitchFamily="49" charset="0"/>
              <a:buChar char="o"/>
            </a:pPr>
            <a:r>
              <a:rPr lang="en-GB" sz="1200" dirty="0">
                <a:latin typeface="Avenir Next Cyr W04 Regular" panose="020B0503020202020204" pitchFamily="34" charset="0"/>
                <a:cs typeface="Book Antiqua"/>
              </a:rPr>
              <a:t>S = SUM(x1, x2, x3, …);</a:t>
            </a:r>
          </a:p>
          <a:p>
            <a:pPr marL="800100" lvl="1" indent="-342900">
              <a:lnSpc>
                <a:spcPct val="150000"/>
              </a:lnSpc>
              <a:buFont typeface="Courier New" panose="02070309020205020404" pitchFamily="49" charset="0"/>
              <a:buChar char="o"/>
            </a:pPr>
            <a:r>
              <a:rPr lang="en-GB" sz="1200" dirty="0">
                <a:latin typeface="Avenir Next Cyr W04 Regular" panose="020B0503020202020204" pitchFamily="34" charset="0"/>
                <a:cs typeface="Book Antiqua"/>
              </a:rPr>
              <a:t>S = ROUND(</a:t>
            </a:r>
            <a:r>
              <a:rPr lang="en-GB" sz="1200" dirty="0" err="1">
                <a:latin typeface="Avenir Next Cyr W04 Regular" panose="020B0503020202020204" pitchFamily="34" charset="0"/>
                <a:cs typeface="Book Antiqua"/>
              </a:rPr>
              <a:t>x,</a:t>
            </a:r>
            <a:r>
              <a:rPr lang="en-GB" sz="1200" i="1" dirty="0" err="1">
                <a:latin typeface="Avenir Next Cyr W04 Regular" panose="020B0503020202020204" pitchFamily="34" charset="0"/>
                <a:cs typeface="Book Antiqua"/>
              </a:rPr>
              <a:t>round</a:t>
            </a:r>
            <a:r>
              <a:rPr lang="en-GB" sz="1200" dirty="0">
                <a:latin typeface="Avenir Next Cyr W04 Regular" panose="020B0503020202020204" pitchFamily="34" charset="0"/>
                <a:cs typeface="Book Antiqua"/>
              </a:rPr>
              <a:t>);</a:t>
            </a:r>
          </a:p>
          <a:p>
            <a:pPr marL="800100" lvl="1" indent="-342900">
              <a:lnSpc>
                <a:spcPct val="150000"/>
              </a:lnSpc>
              <a:buFont typeface="Courier New" panose="02070309020205020404" pitchFamily="49" charset="0"/>
              <a:buChar char="o"/>
            </a:pPr>
            <a:r>
              <a:rPr lang="en-GB" sz="1200" dirty="0">
                <a:latin typeface="Avenir Next Cyr W04 Regular" panose="020B0503020202020204" pitchFamily="34" charset="0"/>
                <a:cs typeface="Book Antiqua"/>
              </a:rPr>
              <a:t>S = INTCK(‘</a:t>
            </a:r>
            <a:r>
              <a:rPr lang="en-GB" sz="1200" i="1" dirty="0">
                <a:latin typeface="Avenir Next Cyr W04 Regular" panose="020B0503020202020204" pitchFamily="34" charset="0"/>
                <a:cs typeface="Book Antiqua"/>
              </a:rPr>
              <a:t>interval</a:t>
            </a:r>
            <a:r>
              <a:rPr lang="en-GB" sz="1200" dirty="0">
                <a:latin typeface="Avenir Next Cyr W04 Regular" panose="020B0503020202020204" pitchFamily="34" charset="0"/>
                <a:cs typeface="Book Antiqua"/>
              </a:rPr>
              <a:t>’,</a:t>
            </a:r>
            <a:r>
              <a:rPr lang="en-GB" sz="1200" dirty="0" err="1">
                <a:latin typeface="Avenir Next Cyr W04 Regular" panose="020B0503020202020204" pitchFamily="34" charset="0"/>
                <a:cs typeface="Book Antiqua"/>
              </a:rPr>
              <a:t>startdate</a:t>
            </a:r>
            <a:r>
              <a:rPr lang="en-GB" sz="1200" dirty="0">
                <a:latin typeface="Avenir Next Cyr W04 Regular" panose="020B0503020202020204" pitchFamily="34" charset="0"/>
                <a:cs typeface="Book Antiqua"/>
              </a:rPr>
              <a:t>, </a:t>
            </a:r>
            <a:r>
              <a:rPr lang="en-GB" sz="1200" dirty="0" err="1">
                <a:latin typeface="Avenir Next Cyr W04 Regular" panose="020B0503020202020204" pitchFamily="34" charset="0"/>
                <a:cs typeface="Book Antiqua"/>
              </a:rPr>
              <a:t>enddate</a:t>
            </a:r>
            <a:r>
              <a:rPr lang="en-GB" sz="1200" dirty="0">
                <a:latin typeface="Avenir Next Cyr W04 Regular" panose="020B0503020202020204" pitchFamily="34" charset="0"/>
                <a:cs typeface="Book Antiqua"/>
              </a:rPr>
              <a:t>);</a:t>
            </a:r>
          </a:p>
        </p:txBody>
      </p:sp>
      <p:sp>
        <p:nvSpPr>
          <p:cNvPr id="8" name="TextBox 7"/>
          <p:cNvSpPr txBox="1"/>
          <p:nvPr/>
        </p:nvSpPr>
        <p:spPr>
          <a:xfrm>
            <a:off x="887506" y="4323361"/>
            <a:ext cx="7874788" cy="892745"/>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GB" sz="1200" b="1" dirty="0">
                <a:latin typeface="Avenir Next Cyr W04 Regular" panose="020B0503020202020204" pitchFamily="34" charset="0"/>
                <a:cs typeface="Book Antiqua"/>
              </a:rPr>
              <a:t>Some important functions:</a:t>
            </a:r>
          </a:p>
          <a:p>
            <a:pPr marL="800100" lvl="1" indent="-342900">
              <a:lnSpc>
                <a:spcPct val="150000"/>
              </a:lnSpc>
              <a:buFont typeface="Courier New" panose="02070309020205020404" pitchFamily="49" charset="0"/>
              <a:buChar char="o"/>
            </a:pPr>
            <a:r>
              <a:rPr lang="en-GB" sz="1200" dirty="0">
                <a:latin typeface="Avenir Next Cyr W04 Regular" panose="020B0503020202020204" pitchFamily="34" charset="0"/>
                <a:cs typeface="Book Antiqua"/>
              </a:rPr>
              <a:t>S = INTCK(‘</a:t>
            </a:r>
            <a:r>
              <a:rPr lang="en-GB" sz="1200" i="1" dirty="0">
                <a:latin typeface="Avenir Next Cyr W04 Regular" panose="020B0503020202020204" pitchFamily="34" charset="0"/>
                <a:cs typeface="Book Antiqua"/>
              </a:rPr>
              <a:t>interval</a:t>
            </a:r>
            <a:r>
              <a:rPr lang="en-GB" sz="1200" dirty="0">
                <a:latin typeface="Avenir Next Cyr W04 Regular" panose="020B0503020202020204" pitchFamily="34" charset="0"/>
                <a:cs typeface="Book Antiqua"/>
              </a:rPr>
              <a:t>’,</a:t>
            </a:r>
            <a:r>
              <a:rPr lang="en-GB" sz="1200" dirty="0" err="1">
                <a:latin typeface="Avenir Next Cyr W04 Regular" panose="020B0503020202020204" pitchFamily="34" charset="0"/>
                <a:cs typeface="Book Antiqua"/>
              </a:rPr>
              <a:t>startdate</a:t>
            </a:r>
            <a:r>
              <a:rPr lang="en-GB" sz="1200" dirty="0">
                <a:latin typeface="Avenir Next Cyr W04 Regular" panose="020B0503020202020204" pitchFamily="34" charset="0"/>
                <a:cs typeface="Book Antiqua"/>
              </a:rPr>
              <a:t>, </a:t>
            </a:r>
            <a:r>
              <a:rPr lang="en-GB" sz="1200" dirty="0" err="1">
                <a:latin typeface="Avenir Next Cyr W04 Regular" panose="020B0503020202020204" pitchFamily="34" charset="0"/>
                <a:cs typeface="Book Antiqua"/>
              </a:rPr>
              <a:t>enddate</a:t>
            </a:r>
            <a:r>
              <a:rPr lang="en-GB" sz="1200" dirty="0">
                <a:latin typeface="Avenir Next Cyr W04 Regular" panose="020B0503020202020204" pitchFamily="34" charset="0"/>
                <a:cs typeface="Book Antiqua"/>
              </a:rPr>
              <a:t>);</a:t>
            </a:r>
          </a:p>
          <a:p>
            <a:pPr marL="800100" lvl="1" indent="-342900">
              <a:lnSpc>
                <a:spcPct val="150000"/>
              </a:lnSpc>
              <a:buFont typeface="Courier New" panose="02070309020205020404" pitchFamily="49" charset="0"/>
              <a:buChar char="o"/>
            </a:pPr>
            <a:r>
              <a:rPr lang="en-GB" sz="1200" dirty="0">
                <a:latin typeface="Avenir Next Cyr W04 Regular" panose="020B0503020202020204" pitchFamily="34" charset="0"/>
                <a:cs typeface="Book Antiqua"/>
              </a:rPr>
              <a:t>S = MDY(month, day, year);</a:t>
            </a:r>
          </a:p>
        </p:txBody>
      </p:sp>
    </p:spTree>
    <p:extLst>
      <p:ext uri="{BB962C8B-B14F-4D97-AF65-F5344CB8AC3E}">
        <p14:creationId xmlns:p14="http://schemas.microsoft.com/office/powerpoint/2010/main" val="10797895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Using IF-THEN-ELSE </a:t>
            </a:r>
            <a:r>
              <a:rPr lang="en-ZA" sz="2500" dirty="0"/>
              <a:t>C</a:t>
            </a:r>
            <a:r>
              <a:rPr lang="en-ZA" sz="2500" dirty="0" smtClean="0"/>
              <a:t>onditional Statement Assignments</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887506" y="699419"/>
            <a:ext cx="7874788" cy="147732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GB" sz="1200" dirty="0" smtClean="0">
                <a:latin typeface="Avenir Next Cyr W04 Regular" panose="020B0503020202020204" pitchFamily="34" charset="0"/>
                <a:cs typeface="Book Antiqua"/>
              </a:rPr>
              <a:t>The Syntax for the IF-THEN-ELSE statement</a:t>
            </a:r>
          </a:p>
          <a:p>
            <a:pPr marL="171450" indent="-171450">
              <a:lnSpc>
                <a:spcPct val="150000"/>
              </a:lnSpc>
              <a:buFont typeface="Arial" panose="020B0604020202020204" pitchFamily="34" charset="0"/>
              <a:buChar char="•"/>
            </a:pPr>
            <a:endParaRPr lang="en-GB" sz="1200" dirty="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endParaRPr lang="en-GB" sz="1200" dirty="0" smtClean="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r>
              <a:rPr lang="en-GB" sz="1200" dirty="0" smtClean="0">
                <a:latin typeface="Avenir Next Cyr W04 Regular" panose="020B0503020202020204" pitchFamily="34" charset="0"/>
                <a:cs typeface="Book Antiqua"/>
              </a:rPr>
              <a:t>If the systolic blood pressure (SBP) is greater than or equal to 140, the program assigns the value HIGH to the variable status. Otherwise, it assigns the value OK to that variable.</a:t>
            </a:r>
            <a:endParaRPr lang="en-GB" sz="1200" dirty="0">
              <a:latin typeface="Avenir Next Cyr W04 Regular" panose="020B0503020202020204" pitchFamily="34" charset="0"/>
              <a:cs typeface="Book Antiqua"/>
            </a:endParaRPr>
          </a:p>
        </p:txBody>
      </p:sp>
      <p:sp>
        <p:nvSpPr>
          <p:cNvPr id="3" name="Rectangle 2"/>
          <p:cNvSpPr/>
          <p:nvPr/>
        </p:nvSpPr>
        <p:spPr>
          <a:xfrm>
            <a:off x="1218067" y="1095604"/>
            <a:ext cx="2805293" cy="461665"/>
          </a:xfrm>
          <a:prstGeom prst="rect">
            <a:avLst/>
          </a:prstGeom>
          <a:noFill/>
          <a:ln>
            <a:solidFill>
              <a:schemeClr val="tx1"/>
            </a:solidFill>
          </a:ln>
        </p:spPr>
        <p:txBody>
          <a:bodyPr wrap="square">
            <a:spAutoFit/>
          </a:bodyPr>
          <a:lstStyle/>
          <a:p>
            <a:r>
              <a:rPr lang="en-ZA" sz="1200" dirty="0" smtClean="0">
                <a:solidFill>
                  <a:srgbClr val="00B0F0"/>
                </a:solidFill>
                <a:latin typeface="Courier New" panose="02070309020205020404" pitchFamily="49" charset="0"/>
              </a:rPr>
              <a:t>IF</a:t>
            </a:r>
            <a:r>
              <a:rPr lang="en-ZA" sz="1200" dirty="0" smtClean="0">
                <a:latin typeface="Courier New" panose="02070309020205020404" pitchFamily="49" charset="0"/>
              </a:rPr>
              <a:t> Expression </a:t>
            </a:r>
            <a:r>
              <a:rPr lang="en-ZA" sz="1200" dirty="0" smtClean="0">
                <a:solidFill>
                  <a:srgbClr val="00B0F0"/>
                </a:solidFill>
                <a:latin typeface="Courier New" panose="02070309020205020404" pitchFamily="49" charset="0"/>
              </a:rPr>
              <a:t>THE</a:t>
            </a:r>
            <a:r>
              <a:rPr lang="en-ZA" sz="1200" dirty="0" smtClean="0">
                <a:latin typeface="Courier New" panose="02070309020205020404" pitchFamily="49" charset="0"/>
              </a:rPr>
              <a:t> statement</a:t>
            </a:r>
            <a:r>
              <a:rPr lang="en-ZA" sz="1200" dirty="0">
                <a:latin typeface="Courier New" panose="02070309020205020404" pitchFamily="49" charset="0"/>
              </a:rPr>
              <a:t>;</a:t>
            </a:r>
          </a:p>
          <a:p>
            <a:r>
              <a:rPr lang="en-ZA" sz="1200" dirty="0">
                <a:solidFill>
                  <a:srgbClr val="00B0F0"/>
                </a:solidFill>
                <a:latin typeface="Courier New" panose="02070309020205020404" pitchFamily="49" charset="0"/>
              </a:rPr>
              <a:t>ELSE</a:t>
            </a:r>
            <a:r>
              <a:rPr lang="en-ZA" sz="1200" dirty="0">
                <a:latin typeface="Courier New" panose="02070309020205020404" pitchFamily="49" charset="0"/>
              </a:rPr>
              <a:t> statement</a:t>
            </a:r>
            <a:r>
              <a:rPr lang="en-ZA" sz="1200" dirty="0" smtClean="0">
                <a:latin typeface="Courier New" panose="02070309020205020404" pitchFamily="49" charset="0"/>
              </a:rPr>
              <a:t>;</a:t>
            </a:r>
            <a:endParaRPr lang="en-ZA" sz="1200" dirty="0"/>
          </a:p>
        </p:txBody>
      </p:sp>
      <p:sp>
        <p:nvSpPr>
          <p:cNvPr id="10" name="ZoneTexte 7"/>
          <p:cNvSpPr txBox="1"/>
          <p:nvPr/>
        </p:nvSpPr>
        <p:spPr>
          <a:xfrm>
            <a:off x="3757743" y="6017214"/>
            <a:ext cx="6646721" cy="461665"/>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lang="en-GB" sz="1200" b="1" noProof="0" dirty="0" smtClean="0">
                <a:solidFill>
                  <a:srgbClr val="FF0000"/>
                </a:solidFill>
                <a:latin typeface="Book Antiqua"/>
                <a:cs typeface="Book Antiqua"/>
              </a:rPr>
              <a:t>DCONDITION</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8" name="Picture 7"/>
          <p:cNvPicPr>
            <a:picLocks noChangeAspect="1"/>
          </p:cNvPicPr>
          <p:nvPr/>
        </p:nvPicPr>
        <p:blipFill>
          <a:blip r:embed="rId4"/>
          <a:stretch>
            <a:fillRect/>
          </a:stretch>
        </p:blipFill>
        <p:spPr>
          <a:xfrm>
            <a:off x="887506" y="2300802"/>
            <a:ext cx="4402951" cy="3757080"/>
          </a:xfrm>
          <a:prstGeom prst="rect">
            <a:avLst/>
          </a:prstGeom>
          <a:noFill/>
          <a:ln>
            <a:solidFill>
              <a:schemeClr val="tx1"/>
            </a:solidFill>
          </a:ln>
        </p:spPr>
      </p:pic>
      <p:pic>
        <p:nvPicPr>
          <p:cNvPr id="9" name="Picture 8"/>
          <p:cNvPicPr>
            <a:picLocks noChangeAspect="1"/>
          </p:cNvPicPr>
          <p:nvPr/>
        </p:nvPicPr>
        <p:blipFill>
          <a:blip r:embed="rId5"/>
          <a:stretch>
            <a:fillRect/>
          </a:stretch>
        </p:blipFill>
        <p:spPr>
          <a:xfrm>
            <a:off x="6154561" y="3526879"/>
            <a:ext cx="3181350" cy="1304925"/>
          </a:xfrm>
          <a:prstGeom prst="rect">
            <a:avLst/>
          </a:prstGeom>
          <a:noFill/>
          <a:ln>
            <a:solidFill>
              <a:schemeClr val="tx1"/>
            </a:solidFill>
          </a:ln>
        </p:spPr>
      </p:pic>
      <p:cxnSp>
        <p:nvCxnSpPr>
          <p:cNvPr id="13" name="Straight Arrow Connector 12"/>
          <p:cNvCxnSpPr>
            <a:stCxn id="8" idx="3"/>
            <a:endCxn id="9" idx="1"/>
          </p:cNvCxnSpPr>
          <p:nvPr/>
        </p:nvCxnSpPr>
        <p:spPr>
          <a:xfrm>
            <a:off x="5290457" y="4179342"/>
            <a:ext cx="8641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13003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8" name="Title 1"/>
          <p:cNvSpPr txBox="1">
            <a:spLocks/>
          </p:cNvSpPr>
          <p:nvPr/>
        </p:nvSpPr>
        <p:spPr>
          <a:xfrm>
            <a:off x="269436" y="126218"/>
            <a:ext cx="8915400" cy="84533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2500" smtClean="0"/>
              <a:t>Using IF-THEN-ELSE Conditional Statement Assignments</a:t>
            </a:r>
            <a:endParaRPr lang="en-ZA" sz="2500" dirty="0"/>
          </a:p>
        </p:txBody>
      </p:sp>
      <p:pic>
        <p:nvPicPr>
          <p:cNvPr id="2" name="Picture 1"/>
          <p:cNvPicPr>
            <a:picLocks noChangeAspect="1"/>
          </p:cNvPicPr>
          <p:nvPr/>
        </p:nvPicPr>
        <p:blipFill>
          <a:blip r:embed="rId4"/>
          <a:stretch>
            <a:fillRect/>
          </a:stretch>
        </p:blipFill>
        <p:spPr>
          <a:xfrm>
            <a:off x="375285" y="1066800"/>
            <a:ext cx="5314950" cy="4724400"/>
          </a:xfrm>
          <a:prstGeom prst="rect">
            <a:avLst/>
          </a:prstGeom>
          <a:noFill/>
          <a:ln>
            <a:solidFill>
              <a:schemeClr val="tx1"/>
            </a:solidFill>
          </a:ln>
        </p:spPr>
      </p:pic>
      <p:pic>
        <p:nvPicPr>
          <p:cNvPr id="3" name="Picture 2"/>
          <p:cNvPicPr>
            <a:picLocks noChangeAspect="1"/>
          </p:cNvPicPr>
          <p:nvPr/>
        </p:nvPicPr>
        <p:blipFill>
          <a:blip r:embed="rId5"/>
          <a:stretch>
            <a:fillRect/>
          </a:stretch>
        </p:blipFill>
        <p:spPr>
          <a:xfrm>
            <a:off x="6164086" y="2800350"/>
            <a:ext cx="3171825" cy="1257300"/>
          </a:xfrm>
          <a:prstGeom prst="rect">
            <a:avLst/>
          </a:prstGeom>
          <a:noFill/>
          <a:ln>
            <a:solidFill>
              <a:schemeClr val="tx1"/>
            </a:solidFill>
          </a:ln>
        </p:spPr>
      </p:pic>
      <p:cxnSp>
        <p:nvCxnSpPr>
          <p:cNvPr id="9" name="Straight Arrow Connector 8"/>
          <p:cNvCxnSpPr>
            <a:stCxn id="2" idx="3"/>
            <a:endCxn id="3" idx="1"/>
          </p:cNvCxnSpPr>
          <p:nvPr/>
        </p:nvCxnSpPr>
        <p:spPr>
          <a:xfrm>
            <a:off x="5690235" y="3429000"/>
            <a:ext cx="47385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14102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36617"/>
            <a:ext cx="8915400" cy="845332"/>
          </a:xfrm>
        </p:spPr>
        <p:txBody>
          <a:bodyPr>
            <a:normAutofit/>
          </a:bodyPr>
          <a:lstStyle/>
          <a:p>
            <a:r>
              <a:rPr lang="en-ZA" sz="2500" dirty="0" smtClean="0"/>
              <a:t>Using IF to assign missing values</a:t>
            </a:r>
            <a:endParaRPr lang="en-ZA" sz="2500" dirty="0"/>
          </a:p>
        </p:txBody>
      </p:sp>
      <p:sp>
        <p:nvSpPr>
          <p:cNvPr id="6" name="TextBox 5"/>
          <p:cNvSpPr txBox="1"/>
          <p:nvPr/>
        </p:nvSpPr>
        <p:spPr>
          <a:xfrm>
            <a:off x="9335911" y="3367560"/>
            <a:ext cx="184731" cy="369332"/>
          </a:xfrm>
          <a:prstGeom prst="rect">
            <a:avLst/>
          </a:prstGeom>
          <a:noFill/>
          <a:ln>
            <a:solidFill>
              <a:schemeClr val="tx1"/>
            </a:solidFill>
          </a:ln>
        </p:spPr>
        <p:txBody>
          <a:bodyPr wrap="none" rtlCol="0">
            <a:spAutoFit/>
          </a:bodyPr>
          <a:lstStyle/>
          <a:p>
            <a:endParaRPr lang="en-ZA" dirty="0"/>
          </a:p>
        </p:txBody>
      </p:sp>
      <p:sp>
        <p:nvSpPr>
          <p:cNvPr id="9" name="TextBox 8"/>
          <p:cNvSpPr txBox="1"/>
          <p:nvPr/>
        </p:nvSpPr>
        <p:spPr>
          <a:xfrm>
            <a:off x="789742" y="712153"/>
            <a:ext cx="7874788" cy="1477328"/>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GB" sz="1000" dirty="0" smtClean="0">
                <a:latin typeface="Avenir Next Cyr W04 Regular" panose="020B0503020202020204" pitchFamily="34" charset="0"/>
                <a:cs typeface="Book Antiqua"/>
              </a:rPr>
              <a:t>An IF statement is a common way to specify missing values in a SAS DATA step. </a:t>
            </a:r>
          </a:p>
          <a:p>
            <a:pPr marL="171450" indent="-171450">
              <a:lnSpc>
                <a:spcPct val="150000"/>
              </a:lnSpc>
              <a:buFont typeface="Arial" panose="020B0604020202020204" pitchFamily="34" charset="0"/>
              <a:buChar char="•"/>
            </a:pPr>
            <a:r>
              <a:rPr lang="en-GB" sz="1000" dirty="0" smtClean="0">
                <a:latin typeface="Avenir Next Cyr W04 Regular" panose="020B0503020202020204" pitchFamily="34" charset="0"/>
                <a:cs typeface="Book Antiqua"/>
              </a:rPr>
              <a:t>For Example;</a:t>
            </a:r>
            <a:endParaRPr lang="en-GB" sz="1000" dirty="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r>
              <a:rPr lang="en-GB" sz="1000" dirty="0" smtClean="0">
                <a:latin typeface="Avenir Next Cyr W04 Regular" panose="020B0503020202020204" pitchFamily="34" charset="0"/>
                <a:cs typeface="Book Antiqua"/>
              </a:rPr>
              <a:t>This indicates that if the value of AGE is equal to -9, the value of AGE is set to a missing value .(DOT), because there is no ELSE statement (Clause), the value of AFE is not changed when AGE is not equal to -9</a:t>
            </a:r>
            <a:endParaRPr lang="en-GB" sz="1000" dirty="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r>
              <a:rPr lang="en-GB" sz="1000" dirty="0" smtClean="0">
                <a:latin typeface="Avenir Next Cyr W04 Regular" panose="020B0503020202020204" pitchFamily="34" charset="0"/>
                <a:cs typeface="Book Antiqua"/>
              </a:rPr>
              <a:t>To specify missing character value, use two quotations marks. </a:t>
            </a:r>
          </a:p>
          <a:p>
            <a:pPr marL="171450" indent="-171450">
              <a:lnSpc>
                <a:spcPct val="150000"/>
              </a:lnSpc>
              <a:buFont typeface="Arial" panose="020B0604020202020204" pitchFamily="34" charset="0"/>
              <a:buChar char="•"/>
            </a:pPr>
            <a:r>
              <a:rPr lang="en-GB" sz="1000" dirty="0" smtClean="0">
                <a:latin typeface="Avenir Next Cyr W04 Regular" panose="020B0503020202020204" pitchFamily="34" charset="0"/>
                <a:cs typeface="Book Antiqua"/>
              </a:rPr>
              <a:t>For Example; </a:t>
            </a:r>
          </a:p>
        </p:txBody>
      </p:sp>
      <p:sp>
        <p:nvSpPr>
          <p:cNvPr id="4" name="Rectangle 3"/>
          <p:cNvSpPr/>
          <p:nvPr/>
        </p:nvSpPr>
        <p:spPr>
          <a:xfrm>
            <a:off x="1879844" y="970239"/>
            <a:ext cx="2694969" cy="276999"/>
          </a:xfrm>
          <a:prstGeom prst="rect">
            <a:avLst/>
          </a:prstGeom>
          <a:noFill/>
          <a:ln>
            <a:solidFill>
              <a:schemeClr val="tx1"/>
            </a:solidFill>
          </a:ln>
        </p:spPr>
        <p:txBody>
          <a:bodyPr wrap="none">
            <a:spAutoFit/>
          </a:bodyPr>
          <a:lstStyle/>
          <a:p>
            <a:r>
              <a:rPr lang="en-ZA" sz="1200" dirty="0">
                <a:solidFill>
                  <a:srgbClr val="0000FF"/>
                </a:solidFill>
                <a:latin typeface="Courier New" panose="02070309020205020404" pitchFamily="49" charset="0"/>
              </a:rPr>
              <a:t>IF</a:t>
            </a:r>
            <a:r>
              <a:rPr lang="en-ZA" sz="1200" dirty="0">
                <a:solidFill>
                  <a:srgbClr val="000000"/>
                </a:solidFill>
                <a:latin typeface="Courier New" panose="02070309020205020404" pitchFamily="49" charset="0"/>
              </a:rPr>
              <a:t> AGE EQ -</a:t>
            </a:r>
            <a:r>
              <a:rPr lang="en-ZA" sz="1200" b="1" dirty="0">
                <a:solidFill>
                  <a:srgbClr val="008080"/>
                </a:solidFill>
                <a:latin typeface="Courier New" panose="02070309020205020404" pitchFamily="49" charset="0"/>
              </a:rPr>
              <a:t>20</a:t>
            </a:r>
            <a:r>
              <a:rPr lang="en-ZA" sz="1200" dirty="0">
                <a:solidFill>
                  <a:srgbClr val="000000"/>
                </a:solidFill>
                <a:latin typeface="Courier New" panose="02070309020205020404" pitchFamily="49" charset="0"/>
              </a:rPr>
              <a:t> </a:t>
            </a:r>
            <a:r>
              <a:rPr lang="en-ZA" sz="1200" dirty="0">
                <a:solidFill>
                  <a:srgbClr val="0000FF"/>
                </a:solidFill>
                <a:latin typeface="Courier New" panose="02070309020205020404" pitchFamily="49" charset="0"/>
              </a:rPr>
              <a:t>THEN</a:t>
            </a:r>
            <a:r>
              <a:rPr lang="en-ZA" sz="1200" dirty="0">
                <a:solidFill>
                  <a:srgbClr val="000000"/>
                </a:solidFill>
                <a:latin typeface="Courier New" panose="02070309020205020404" pitchFamily="49" charset="0"/>
              </a:rPr>
              <a:t> AGE = </a:t>
            </a:r>
            <a:r>
              <a:rPr lang="en-ZA" sz="1200" b="1" dirty="0">
                <a:solidFill>
                  <a:srgbClr val="008080"/>
                </a:solidFill>
                <a:latin typeface="Courier New" panose="02070309020205020404" pitchFamily="49" charset="0"/>
              </a:rPr>
              <a:t>.</a:t>
            </a:r>
            <a:r>
              <a:rPr lang="en-ZA" sz="1200" dirty="0">
                <a:solidFill>
                  <a:srgbClr val="000000"/>
                </a:solidFill>
                <a:latin typeface="Courier New" panose="02070309020205020404" pitchFamily="49" charset="0"/>
              </a:rPr>
              <a:t>;</a:t>
            </a:r>
            <a:endParaRPr lang="en-ZA" sz="1200" dirty="0"/>
          </a:p>
        </p:txBody>
      </p:sp>
      <p:sp>
        <p:nvSpPr>
          <p:cNvPr id="5" name="Rectangle 4"/>
          <p:cNvSpPr/>
          <p:nvPr/>
        </p:nvSpPr>
        <p:spPr>
          <a:xfrm>
            <a:off x="1879844" y="1883212"/>
            <a:ext cx="5112297" cy="276999"/>
          </a:xfrm>
          <a:prstGeom prst="rect">
            <a:avLst/>
          </a:prstGeom>
          <a:noFill/>
          <a:ln>
            <a:solidFill>
              <a:schemeClr val="tx1"/>
            </a:solidFill>
          </a:ln>
        </p:spPr>
        <p:txBody>
          <a:bodyPr wrap="none">
            <a:spAutoFit/>
          </a:bodyPr>
          <a:lstStyle/>
          <a:p>
            <a:r>
              <a:rPr lang="en-ZA" sz="1200" dirty="0">
                <a:solidFill>
                  <a:srgbClr val="0000FF"/>
                </a:solidFill>
                <a:latin typeface="Courier New" panose="02070309020205020404" pitchFamily="49" charset="0"/>
              </a:rPr>
              <a:t>IF</a:t>
            </a:r>
            <a:r>
              <a:rPr lang="en-ZA" sz="1200" dirty="0">
                <a:solidFill>
                  <a:srgbClr val="000000"/>
                </a:solidFill>
                <a:latin typeface="Courier New" panose="02070309020205020404" pitchFamily="49" charset="0"/>
              </a:rPr>
              <a:t> GENDER NE </a:t>
            </a:r>
            <a:r>
              <a:rPr lang="en-ZA" sz="1200" dirty="0">
                <a:solidFill>
                  <a:srgbClr val="800080"/>
                </a:solidFill>
                <a:latin typeface="Courier New" panose="02070309020205020404" pitchFamily="49" charset="0"/>
              </a:rPr>
              <a:t>"M"</a:t>
            </a:r>
            <a:r>
              <a:rPr lang="en-ZA" sz="1200" dirty="0">
                <a:solidFill>
                  <a:srgbClr val="000000"/>
                </a:solidFill>
                <a:latin typeface="Courier New" panose="02070309020205020404" pitchFamily="49" charset="0"/>
              </a:rPr>
              <a:t> AND GENDER NE </a:t>
            </a:r>
            <a:r>
              <a:rPr lang="en-ZA" sz="1200" dirty="0">
                <a:solidFill>
                  <a:srgbClr val="800080"/>
                </a:solidFill>
                <a:latin typeface="Courier New" panose="02070309020205020404" pitchFamily="49" charset="0"/>
              </a:rPr>
              <a:t>"F"</a:t>
            </a:r>
            <a:r>
              <a:rPr lang="en-ZA" sz="1200" dirty="0">
                <a:solidFill>
                  <a:srgbClr val="000000"/>
                </a:solidFill>
                <a:latin typeface="Courier New" panose="02070309020205020404" pitchFamily="49" charset="0"/>
              </a:rPr>
              <a:t> </a:t>
            </a:r>
            <a:r>
              <a:rPr lang="en-ZA" sz="1200" dirty="0">
                <a:solidFill>
                  <a:srgbClr val="0000FF"/>
                </a:solidFill>
                <a:latin typeface="Courier New" panose="02070309020205020404" pitchFamily="49" charset="0"/>
              </a:rPr>
              <a:t>THEN</a:t>
            </a:r>
            <a:r>
              <a:rPr lang="en-ZA" sz="1200" dirty="0">
                <a:solidFill>
                  <a:srgbClr val="000000"/>
                </a:solidFill>
                <a:latin typeface="Courier New" panose="02070309020205020404" pitchFamily="49" charset="0"/>
              </a:rPr>
              <a:t> GENDER = </a:t>
            </a:r>
            <a:r>
              <a:rPr lang="en-ZA" sz="1200" dirty="0">
                <a:solidFill>
                  <a:srgbClr val="800080"/>
                </a:solidFill>
                <a:latin typeface="Courier New" panose="02070309020205020404" pitchFamily="49" charset="0"/>
              </a:rPr>
              <a:t>" "</a:t>
            </a:r>
            <a:r>
              <a:rPr lang="en-ZA" sz="1200" dirty="0">
                <a:solidFill>
                  <a:srgbClr val="000000"/>
                </a:solidFill>
                <a:latin typeface="Courier New" panose="02070309020205020404" pitchFamily="49" charset="0"/>
              </a:rPr>
              <a:t>;</a:t>
            </a:r>
            <a:endParaRPr lang="en-ZA" sz="1200" dirty="0"/>
          </a:p>
        </p:txBody>
      </p:sp>
      <p:sp>
        <p:nvSpPr>
          <p:cNvPr id="14" name="ZoneTexte 7"/>
          <p:cNvSpPr txBox="1"/>
          <p:nvPr/>
        </p:nvSpPr>
        <p:spPr>
          <a:xfrm>
            <a:off x="3900525" y="6115332"/>
            <a:ext cx="6646721" cy="461665"/>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lang="en-GB" sz="1200" b="1" noProof="0" dirty="0" smtClean="0">
                <a:solidFill>
                  <a:srgbClr val="FF0000"/>
                </a:solidFill>
                <a:latin typeface="Book Antiqua"/>
                <a:cs typeface="Book Antiqua"/>
              </a:rPr>
              <a:t>DMISSING</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3" name="Picture 2"/>
          <p:cNvPicPr>
            <a:picLocks noChangeAspect="1"/>
          </p:cNvPicPr>
          <p:nvPr/>
        </p:nvPicPr>
        <p:blipFill>
          <a:blip r:embed="rId4"/>
          <a:stretch>
            <a:fillRect/>
          </a:stretch>
        </p:blipFill>
        <p:spPr>
          <a:xfrm>
            <a:off x="6901267" y="3264975"/>
            <a:ext cx="2619375" cy="2085975"/>
          </a:xfrm>
          <a:prstGeom prst="rect">
            <a:avLst/>
          </a:prstGeom>
          <a:noFill/>
          <a:ln>
            <a:solidFill>
              <a:schemeClr val="tx1"/>
            </a:solidFill>
          </a:ln>
        </p:spPr>
      </p:pic>
      <p:pic>
        <p:nvPicPr>
          <p:cNvPr id="8" name="Picture 7"/>
          <p:cNvPicPr>
            <a:picLocks noChangeAspect="1"/>
          </p:cNvPicPr>
          <p:nvPr/>
        </p:nvPicPr>
        <p:blipFill>
          <a:blip r:embed="rId5"/>
          <a:stretch>
            <a:fillRect/>
          </a:stretch>
        </p:blipFill>
        <p:spPr>
          <a:xfrm>
            <a:off x="4116916" y="3264408"/>
            <a:ext cx="2219325" cy="2076450"/>
          </a:xfrm>
          <a:prstGeom prst="rect">
            <a:avLst/>
          </a:prstGeom>
          <a:noFill/>
          <a:ln>
            <a:solidFill>
              <a:schemeClr val="tx1"/>
            </a:solidFill>
          </a:ln>
        </p:spPr>
      </p:pic>
      <p:pic>
        <p:nvPicPr>
          <p:cNvPr id="11" name="Picture 10"/>
          <p:cNvPicPr>
            <a:picLocks noChangeAspect="1"/>
          </p:cNvPicPr>
          <p:nvPr/>
        </p:nvPicPr>
        <p:blipFill>
          <a:blip r:embed="rId6"/>
          <a:stretch>
            <a:fillRect/>
          </a:stretch>
        </p:blipFill>
        <p:spPr>
          <a:xfrm>
            <a:off x="207799" y="2537386"/>
            <a:ext cx="3344091" cy="3541154"/>
          </a:xfrm>
          <a:prstGeom prst="rect">
            <a:avLst/>
          </a:prstGeom>
          <a:noFill/>
          <a:ln>
            <a:solidFill>
              <a:schemeClr val="tx1"/>
            </a:solidFill>
          </a:ln>
        </p:spPr>
      </p:pic>
      <p:cxnSp>
        <p:nvCxnSpPr>
          <p:cNvPr id="13" name="Straight Arrow Connector 12"/>
          <p:cNvCxnSpPr>
            <a:stCxn id="11" idx="3"/>
            <a:endCxn id="8" idx="1"/>
          </p:cNvCxnSpPr>
          <p:nvPr/>
        </p:nvCxnSpPr>
        <p:spPr>
          <a:xfrm flipV="1">
            <a:off x="3551890" y="4302633"/>
            <a:ext cx="565026" cy="533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8" idx="3"/>
            <a:endCxn id="3" idx="1"/>
          </p:cNvCxnSpPr>
          <p:nvPr/>
        </p:nvCxnSpPr>
        <p:spPr>
          <a:xfrm>
            <a:off x="6336241" y="4302633"/>
            <a:ext cx="565026" cy="533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433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Using DROP and KEEP to select variables</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9" name="TextBox 8"/>
          <p:cNvSpPr txBox="1"/>
          <p:nvPr/>
        </p:nvSpPr>
        <p:spPr>
          <a:xfrm>
            <a:off x="789742" y="1298121"/>
            <a:ext cx="7874788" cy="313932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GB" sz="1200" dirty="0" smtClean="0">
                <a:latin typeface="Avenir Next Cyr W04 Regular" panose="020B0503020202020204" pitchFamily="34" charset="0"/>
                <a:cs typeface="Book Antiqua"/>
              </a:rPr>
              <a:t>In many cases you may have a dataset containing variables you do not want to keep.</a:t>
            </a:r>
          </a:p>
          <a:p>
            <a:pPr marL="171450" indent="-171450">
              <a:lnSpc>
                <a:spcPct val="150000"/>
              </a:lnSpc>
              <a:buFont typeface="Arial" panose="020B0604020202020204" pitchFamily="34" charset="0"/>
              <a:buChar char="•"/>
            </a:pPr>
            <a:r>
              <a:rPr lang="en-GB" sz="1200" dirty="0" smtClean="0">
                <a:latin typeface="Avenir Next Cyr W04 Regular" panose="020B0503020202020204" pitchFamily="34" charset="0"/>
                <a:cs typeface="Book Antiqua"/>
              </a:rPr>
              <a:t>The </a:t>
            </a:r>
            <a:r>
              <a:rPr lang="en-GB" sz="1200" b="1" dirty="0" smtClean="0">
                <a:latin typeface="Avenir Next Cyr W04 Regular" panose="020B0503020202020204" pitchFamily="34" charset="0"/>
                <a:cs typeface="Book Antiqua"/>
              </a:rPr>
              <a:t>DROP and KEEP statements </a:t>
            </a:r>
            <a:r>
              <a:rPr lang="en-GB" sz="1200" dirty="0" smtClean="0">
                <a:latin typeface="Avenir Next Cyr W04 Regular" panose="020B0503020202020204" pitchFamily="34" charset="0"/>
                <a:cs typeface="Book Antiqua"/>
              </a:rPr>
              <a:t>in the data step allow you to specify which variables to retain and those you retain in the dataset.</a:t>
            </a:r>
          </a:p>
          <a:p>
            <a:pPr marL="171450" indent="-171450">
              <a:lnSpc>
                <a:spcPct val="150000"/>
              </a:lnSpc>
              <a:buFont typeface="Arial" panose="020B0604020202020204" pitchFamily="34" charset="0"/>
              <a:buChar char="•"/>
            </a:pPr>
            <a:r>
              <a:rPr lang="en-GB" sz="1200" dirty="0" smtClean="0">
                <a:latin typeface="Avenir Next Cyr W04 Regular" panose="020B0503020202020204" pitchFamily="34" charset="0"/>
                <a:cs typeface="Book Antiqua"/>
              </a:rPr>
              <a:t>The syntax for KEEP and DROP statement are as follows;</a:t>
            </a:r>
          </a:p>
          <a:p>
            <a:pPr marL="171450" indent="-171450">
              <a:lnSpc>
                <a:spcPct val="150000"/>
              </a:lnSpc>
              <a:buFont typeface="Arial" panose="020B0604020202020204" pitchFamily="34" charset="0"/>
              <a:buChar char="•"/>
            </a:pPr>
            <a:endParaRPr lang="en-GB" sz="1200" dirty="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endParaRPr lang="en-GB" sz="1200" dirty="0" smtClean="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endParaRPr lang="en-GB" sz="1200" dirty="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endParaRPr lang="en-GB" sz="1200" dirty="0" smtClean="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endParaRPr lang="en-GB" sz="1200" dirty="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endParaRPr lang="en-GB" sz="1200" dirty="0" smtClean="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r>
              <a:rPr lang="en-GB" sz="1200" dirty="0" smtClean="0">
                <a:latin typeface="Avenir Next Cyr W04 Regular" panose="020B0503020202020204" pitchFamily="34" charset="0"/>
                <a:cs typeface="Book Antiqua"/>
              </a:rPr>
              <a:t>In this instance it will read in all the data, but drop those that were specified namely; E and F.</a:t>
            </a:r>
            <a:endParaRPr lang="en-GB" sz="1200" dirty="0">
              <a:latin typeface="Avenir Next Cyr W04 Regular" panose="020B0503020202020204" pitchFamily="34" charset="0"/>
              <a:cs typeface="Book Antiqua"/>
            </a:endParaRPr>
          </a:p>
        </p:txBody>
      </p:sp>
      <p:sp>
        <p:nvSpPr>
          <p:cNvPr id="3" name="Rectangle 2"/>
          <p:cNvSpPr/>
          <p:nvPr/>
        </p:nvSpPr>
        <p:spPr>
          <a:xfrm>
            <a:off x="789742" y="2589318"/>
            <a:ext cx="1875081" cy="461665"/>
          </a:xfrm>
          <a:prstGeom prst="rect">
            <a:avLst/>
          </a:prstGeom>
          <a:noFill/>
          <a:ln>
            <a:solidFill>
              <a:schemeClr val="tx1"/>
            </a:solidFill>
          </a:ln>
        </p:spPr>
        <p:txBody>
          <a:bodyPr wrap="square">
            <a:spAutoFit/>
          </a:bodyPr>
          <a:lstStyle/>
          <a:p>
            <a:r>
              <a:rPr lang="en-ZA" sz="1200" dirty="0">
                <a:latin typeface="Courier New" panose="02070309020205020404" pitchFamily="49" charset="0"/>
              </a:rPr>
              <a:t>DROP VARIABLES;</a:t>
            </a:r>
          </a:p>
          <a:p>
            <a:r>
              <a:rPr lang="en-ZA" sz="1200" dirty="0">
                <a:latin typeface="Courier New" panose="02070309020205020404" pitchFamily="49" charset="0"/>
              </a:rPr>
              <a:t>KEEP VARIABLES;</a:t>
            </a:r>
            <a:endParaRPr lang="en-ZA" sz="1200" dirty="0"/>
          </a:p>
        </p:txBody>
      </p:sp>
      <p:sp>
        <p:nvSpPr>
          <p:cNvPr id="4" name="Rectangle 3"/>
          <p:cNvSpPr/>
          <p:nvPr/>
        </p:nvSpPr>
        <p:spPr>
          <a:xfrm>
            <a:off x="789742" y="3083211"/>
            <a:ext cx="1875081" cy="861774"/>
          </a:xfrm>
          <a:prstGeom prst="rect">
            <a:avLst/>
          </a:prstGeom>
          <a:noFill/>
          <a:ln>
            <a:solidFill>
              <a:schemeClr val="tx1"/>
            </a:solidFill>
          </a:ln>
        </p:spPr>
        <p:txBody>
          <a:bodyPr wrap="square">
            <a:spAutoFit/>
          </a:bodyPr>
          <a:lstStyle/>
          <a:p>
            <a:r>
              <a:rPr lang="en-ZA" sz="1000" b="1" dirty="0">
                <a:solidFill>
                  <a:srgbClr val="000080"/>
                </a:solidFill>
                <a:latin typeface="Courier New" panose="02070309020205020404" pitchFamily="49" charset="0"/>
              </a:rPr>
              <a:t>DATA</a:t>
            </a:r>
            <a:r>
              <a:rPr lang="en-ZA" sz="1000" dirty="0">
                <a:solidFill>
                  <a:srgbClr val="000000"/>
                </a:solidFill>
                <a:latin typeface="Courier New" panose="02070309020205020404" pitchFamily="49" charset="0"/>
              </a:rPr>
              <a:t> MYDATA;</a:t>
            </a:r>
          </a:p>
          <a:p>
            <a:r>
              <a:rPr lang="en-ZA" sz="1000" dirty="0">
                <a:solidFill>
                  <a:srgbClr val="0000FF"/>
                </a:solidFill>
                <a:latin typeface="Courier New" panose="02070309020205020404" pitchFamily="49" charset="0"/>
              </a:rPr>
              <a:t>INPUT</a:t>
            </a:r>
            <a:r>
              <a:rPr lang="en-ZA" sz="1000" dirty="0">
                <a:solidFill>
                  <a:srgbClr val="000000"/>
                </a:solidFill>
                <a:latin typeface="Courier New" panose="02070309020205020404" pitchFamily="49" charset="0"/>
              </a:rPr>
              <a:t> A B C D E F G;</a:t>
            </a:r>
          </a:p>
          <a:p>
            <a:r>
              <a:rPr lang="en-ZA" sz="1000" dirty="0">
                <a:solidFill>
                  <a:srgbClr val="0000FF"/>
                </a:solidFill>
                <a:latin typeface="Courier New" panose="02070309020205020404" pitchFamily="49" charset="0"/>
              </a:rPr>
              <a:t>DROP</a:t>
            </a:r>
            <a:r>
              <a:rPr lang="en-ZA" sz="1000" dirty="0">
                <a:solidFill>
                  <a:srgbClr val="000000"/>
                </a:solidFill>
                <a:latin typeface="Courier New" panose="02070309020205020404" pitchFamily="49" charset="0"/>
              </a:rPr>
              <a:t> E F;</a:t>
            </a:r>
          </a:p>
          <a:p>
            <a:r>
              <a:rPr lang="en-ZA" sz="1000" dirty="0">
                <a:solidFill>
                  <a:srgbClr val="0000FF"/>
                </a:solidFill>
                <a:latin typeface="Courier New" panose="02070309020205020404" pitchFamily="49" charset="0"/>
              </a:rPr>
              <a:t>DATALINES</a:t>
            </a:r>
            <a:r>
              <a:rPr lang="en-ZA" sz="1000" dirty="0">
                <a:solidFill>
                  <a:srgbClr val="000000"/>
                </a:solidFill>
                <a:latin typeface="Courier New" panose="02070309020205020404" pitchFamily="49" charset="0"/>
              </a:rPr>
              <a:t>;</a:t>
            </a:r>
          </a:p>
          <a:p>
            <a:r>
              <a:rPr lang="en-ZA" sz="1000" dirty="0">
                <a:solidFill>
                  <a:srgbClr val="000000"/>
                </a:solidFill>
                <a:latin typeface="Courier New" panose="02070309020205020404" pitchFamily="49" charset="0"/>
              </a:rPr>
              <a:t>/*...*/</a:t>
            </a:r>
            <a:endParaRPr lang="en-ZA" dirty="0"/>
          </a:p>
        </p:txBody>
      </p:sp>
      <p:sp>
        <p:nvSpPr>
          <p:cNvPr id="10" name="ZoneTexte 7"/>
          <p:cNvSpPr txBox="1"/>
          <p:nvPr/>
        </p:nvSpPr>
        <p:spPr>
          <a:xfrm>
            <a:off x="3900525" y="6115332"/>
            <a:ext cx="6646721" cy="461665"/>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lang="en-GB" sz="1200" b="1" noProof="0" dirty="0" smtClean="0">
                <a:solidFill>
                  <a:srgbClr val="FF0000"/>
                </a:solidFill>
                <a:latin typeface="Book Antiqua"/>
                <a:cs typeface="Book Antiqua"/>
              </a:rPr>
              <a:t>DKEEP</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spTree>
    <p:extLst>
      <p:ext uri="{BB962C8B-B14F-4D97-AF65-F5344CB8AC3E}">
        <p14:creationId xmlns:p14="http://schemas.microsoft.com/office/powerpoint/2010/main" val="817092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Using DROP and KEEP to select variables</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ZoneTexte 7"/>
          <p:cNvSpPr txBox="1"/>
          <p:nvPr/>
        </p:nvSpPr>
        <p:spPr>
          <a:xfrm>
            <a:off x="4986941" y="6110521"/>
            <a:ext cx="6646721" cy="358753"/>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0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kumimoji="0" lang="en-GB" sz="1000" b="1" i="0" u="none" strike="noStrike" kern="1200" cap="none" spc="0" normalizeH="0" baseline="0" noProof="0" dirty="0" smtClean="0">
                <a:ln>
                  <a:noFill/>
                </a:ln>
                <a:solidFill>
                  <a:srgbClr val="FF0000"/>
                </a:solidFill>
                <a:effectLst/>
                <a:uLnTx/>
                <a:uFillTx/>
                <a:latin typeface="Book Antiqua"/>
                <a:ea typeface="+mn-ea"/>
                <a:cs typeface="Book Antiqua"/>
              </a:rPr>
              <a:t>DKEEP.SAS</a:t>
            </a:r>
            <a:endParaRPr kumimoji="0" lang="en-GB" sz="10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3" name="Picture 2"/>
          <p:cNvPicPr>
            <a:picLocks noChangeAspect="1"/>
          </p:cNvPicPr>
          <p:nvPr/>
        </p:nvPicPr>
        <p:blipFill>
          <a:blip r:embed="rId4"/>
          <a:stretch>
            <a:fillRect/>
          </a:stretch>
        </p:blipFill>
        <p:spPr>
          <a:xfrm>
            <a:off x="8001143" y="1300396"/>
            <a:ext cx="1600200" cy="4810125"/>
          </a:xfrm>
          <a:prstGeom prst="rect">
            <a:avLst/>
          </a:prstGeom>
          <a:noFill/>
          <a:ln>
            <a:solidFill>
              <a:schemeClr val="tx1"/>
            </a:solidFill>
          </a:ln>
        </p:spPr>
      </p:pic>
      <p:pic>
        <p:nvPicPr>
          <p:cNvPr id="4" name="Picture 3"/>
          <p:cNvPicPr>
            <a:picLocks noChangeAspect="1"/>
          </p:cNvPicPr>
          <p:nvPr/>
        </p:nvPicPr>
        <p:blipFill>
          <a:blip r:embed="rId5"/>
          <a:stretch>
            <a:fillRect/>
          </a:stretch>
        </p:blipFill>
        <p:spPr>
          <a:xfrm>
            <a:off x="4325761" y="1300396"/>
            <a:ext cx="3286125" cy="4800600"/>
          </a:xfrm>
          <a:prstGeom prst="rect">
            <a:avLst/>
          </a:prstGeom>
          <a:noFill/>
          <a:ln>
            <a:solidFill>
              <a:schemeClr val="tx1"/>
            </a:solidFill>
          </a:ln>
        </p:spPr>
      </p:pic>
      <p:pic>
        <p:nvPicPr>
          <p:cNvPr id="9" name="Picture 8"/>
          <p:cNvPicPr>
            <a:picLocks noChangeAspect="1"/>
          </p:cNvPicPr>
          <p:nvPr/>
        </p:nvPicPr>
        <p:blipFill>
          <a:blip r:embed="rId6"/>
          <a:stretch>
            <a:fillRect/>
          </a:stretch>
        </p:blipFill>
        <p:spPr>
          <a:xfrm>
            <a:off x="269436" y="2759242"/>
            <a:ext cx="3631322" cy="1882908"/>
          </a:xfrm>
          <a:prstGeom prst="rect">
            <a:avLst/>
          </a:prstGeom>
          <a:noFill/>
          <a:ln>
            <a:solidFill>
              <a:schemeClr val="tx1"/>
            </a:solidFill>
          </a:ln>
        </p:spPr>
      </p:pic>
      <p:cxnSp>
        <p:nvCxnSpPr>
          <p:cNvPr id="13" name="Straight Arrow Connector 12"/>
          <p:cNvCxnSpPr>
            <a:stCxn id="9" idx="3"/>
            <a:endCxn id="4" idx="1"/>
          </p:cNvCxnSpPr>
          <p:nvPr/>
        </p:nvCxnSpPr>
        <p:spPr>
          <a:xfrm>
            <a:off x="3900758" y="3700696"/>
            <a:ext cx="42500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4" idx="3"/>
            <a:endCxn id="3" idx="1"/>
          </p:cNvCxnSpPr>
          <p:nvPr/>
        </p:nvCxnSpPr>
        <p:spPr>
          <a:xfrm>
            <a:off x="7611886" y="3700696"/>
            <a:ext cx="389257" cy="476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31936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Sub-setting data sets</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9" name="TextBox 8"/>
          <p:cNvSpPr txBox="1"/>
          <p:nvPr/>
        </p:nvSpPr>
        <p:spPr>
          <a:xfrm>
            <a:off x="789742" y="809200"/>
            <a:ext cx="7874788" cy="175432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GB" sz="1200" dirty="0" smtClean="0">
                <a:latin typeface="Avenir Next Cyr W04 Regular" panose="020B0503020202020204" pitchFamily="34" charset="0"/>
                <a:cs typeface="Book Antiqua"/>
              </a:rPr>
              <a:t>Datasets can be quite large. You may have a dataset that contains some group of subjects that you want to eliminate from your analysis. In that case, you can subset the data so it will contain only those records you need.</a:t>
            </a:r>
          </a:p>
          <a:p>
            <a:pPr marL="171450" indent="-171450">
              <a:lnSpc>
                <a:spcPct val="150000"/>
              </a:lnSpc>
              <a:buFont typeface="Arial" panose="020B0604020202020204" pitchFamily="34" charset="0"/>
              <a:buChar char="•"/>
            </a:pPr>
            <a:r>
              <a:rPr lang="en-GB" sz="1200" dirty="0" smtClean="0">
                <a:latin typeface="Avenir Next Cyr W04 Regular" panose="020B0503020202020204" pitchFamily="34" charset="0"/>
                <a:cs typeface="Book Antiqua"/>
              </a:rPr>
              <a:t>For Example; If your analysis concerns pregnancies, you may want to limit your dataset to females.</a:t>
            </a:r>
          </a:p>
          <a:p>
            <a:pPr marL="171450" indent="-171450">
              <a:lnSpc>
                <a:spcPct val="150000"/>
              </a:lnSpc>
              <a:buFont typeface="Arial" panose="020B0604020202020204" pitchFamily="34" charset="0"/>
              <a:buChar char="•"/>
            </a:pPr>
            <a:endParaRPr lang="en-GB" sz="1200" dirty="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r>
              <a:rPr lang="en-GB" sz="1200" dirty="0" smtClean="0">
                <a:latin typeface="Avenir Next Cyr W04 Regular" panose="020B0503020202020204" pitchFamily="34" charset="0"/>
                <a:cs typeface="Book Antiqua"/>
              </a:rPr>
              <a:t>The data will not be deleted from the raw dataset but from the temporary dataset that was created.</a:t>
            </a:r>
          </a:p>
        </p:txBody>
      </p:sp>
      <p:sp>
        <p:nvSpPr>
          <p:cNvPr id="3" name="Rectangle 2"/>
          <p:cNvSpPr/>
          <p:nvPr/>
        </p:nvSpPr>
        <p:spPr>
          <a:xfrm>
            <a:off x="3165554" y="1980746"/>
            <a:ext cx="2880917" cy="276999"/>
          </a:xfrm>
          <a:prstGeom prst="rect">
            <a:avLst/>
          </a:prstGeom>
          <a:noFill/>
          <a:ln>
            <a:solidFill>
              <a:schemeClr val="tx1"/>
            </a:solidFill>
          </a:ln>
        </p:spPr>
        <p:txBody>
          <a:bodyPr wrap="none">
            <a:spAutoFit/>
          </a:bodyPr>
          <a:lstStyle/>
          <a:p>
            <a:r>
              <a:rPr lang="en-ZA" sz="1200" dirty="0">
                <a:solidFill>
                  <a:srgbClr val="00B0F0"/>
                </a:solidFill>
                <a:latin typeface="Courier New" panose="02070309020205020404" pitchFamily="49" charset="0"/>
              </a:rPr>
              <a:t>IF</a:t>
            </a:r>
            <a:r>
              <a:rPr lang="en-ZA" sz="1200" dirty="0">
                <a:latin typeface="Courier New" panose="02070309020205020404" pitchFamily="49" charset="0"/>
              </a:rPr>
              <a:t> GENDER </a:t>
            </a:r>
            <a:r>
              <a:rPr lang="en-ZA" sz="1200" dirty="0">
                <a:solidFill>
                  <a:srgbClr val="00B0F0"/>
                </a:solidFill>
                <a:latin typeface="Courier New" panose="02070309020205020404" pitchFamily="49" charset="0"/>
              </a:rPr>
              <a:t>EQ</a:t>
            </a:r>
            <a:r>
              <a:rPr lang="en-ZA" sz="1200" dirty="0">
                <a:latin typeface="Courier New" panose="02070309020205020404" pitchFamily="49" charset="0"/>
              </a:rPr>
              <a:t> "M" </a:t>
            </a:r>
            <a:r>
              <a:rPr lang="en-ZA" sz="1200" dirty="0">
                <a:solidFill>
                  <a:srgbClr val="00B0F0"/>
                </a:solidFill>
                <a:latin typeface="Courier New" panose="02070309020205020404" pitchFamily="49" charset="0"/>
              </a:rPr>
              <a:t>THEN</a:t>
            </a:r>
            <a:r>
              <a:rPr lang="en-ZA" sz="1200" dirty="0">
                <a:latin typeface="Courier New" panose="02070309020205020404" pitchFamily="49" charset="0"/>
              </a:rPr>
              <a:t> </a:t>
            </a:r>
            <a:r>
              <a:rPr lang="en-ZA" sz="1200" dirty="0">
                <a:solidFill>
                  <a:srgbClr val="00B0F0"/>
                </a:solidFill>
                <a:latin typeface="Courier New" panose="02070309020205020404" pitchFamily="49" charset="0"/>
              </a:rPr>
              <a:t>DELETE</a:t>
            </a:r>
            <a:r>
              <a:rPr lang="en-ZA" sz="1200" dirty="0">
                <a:latin typeface="Courier New" panose="02070309020205020404" pitchFamily="49" charset="0"/>
              </a:rPr>
              <a:t>;</a:t>
            </a:r>
            <a:endParaRPr lang="en-ZA" sz="1200" dirty="0"/>
          </a:p>
        </p:txBody>
      </p:sp>
      <p:sp>
        <p:nvSpPr>
          <p:cNvPr id="16" name="ZoneTexte 7"/>
          <p:cNvSpPr txBox="1"/>
          <p:nvPr/>
        </p:nvSpPr>
        <p:spPr>
          <a:xfrm>
            <a:off x="3916050" y="6059596"/>
            <a:ext cx="6646721" cy="461665"/>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lang="en-GB" sz="1200" b="1" noProof="0" dirty="0" smtClean="0">
                <a:solidFill>
                  <a:srgbClr val="FF0000"/>
                </a:solidFill>
                <a:latin typeface="Book Antiqua"/>
                <a:cs typeface="Book Antiqua"/>
              </a:rPr>
              <a:t>DMISSING</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8" name="Picture 7"/>
          <p:cNvPicPr>
            <a:picLocks noChangeAspect="1"/>
          </p:cNvPicPr>
          <p:nvPr/>
        </p:nvPicPr>
        <p:blipFill>
          <a:blip r:embed="rId4"/>
          <a:stretch>
            <a:fillRect/>
          </a:stretch>
        </p:blipFill>
        <p:spPr>
          <a:xfrm>
            <a:off x="4427663" y="3548061"/>
            <a:ext cx="2209800" cy="2066925"/>
          </a:xfrm>
          <a:prstGeom prst="rect">
            <a:avLst/>
          </a:prstGeom>
          <a:noFill/>
          <a:ln>
            <a:solidFill>
              <a:schemeClr val="tx1"/>
            </a:solidFill>
          </a:ln>
        </p:spPr>
      </p:pic>
      <p:pic>
        <p:nvPicPr>
          <p:cNvPr id="10" name="Picture 9"/>
          <p:cNvPicPr>
            <a:picLocks noChangeAspect="1"/>
          </p:cNvPicPr>
          <p:nvPr/>
        </p:nvPicPr>
        <p:blipFill>
          <a:blip r:embed="rId5"/>
          <a:stretch>
            <a:fillRect/>
          </a:stretch>
        </p:blipFill>
        <p:spPr>
          <a:xfrm>
            <a:off x="7239410" y="4005262"/>
            <a:ext cx="2209800" cy="1152525"/>
          </a:xfrm>
          <a:prstGeom prst="rect">
            <a:avLst/>
          </a:prstGeom>
          <a:noFill/>
          <a:ln>
            <a:solidFill>
              <a:schemeClr val="tx1"/>
            </a:solidFill>
          </a:ln>
        </p:spPr>
      </p:pic>
      <p:pic>
        <p:nvPicPr>
          <p:cNvPr id="12" name="Picture 11"/>
          <p:cNvPicPr>
            <a:picLocks noChangeAspect="1"/>
          </p:cNvPicPr>
          <p:nvPr/>
        </p:nvPicPr>
        <p:blipFill>
          <a:blip r:embed="rId6"/>
          <a:stretch>
            <a:fillRect/>
          </a:stretch>
        </p:blipFill>
        <p:spPr>
          <a:xfrm>
            <a:off x="346113" y="2807084"/>
            <a:ext cx="3479604" cy="3560670"/>
          </a:xfrm>
          <a:prstGeom prst="rect">
            <a:avLst/>
          </a:prstGeom>
          <a:noFill/>
          <a:ln>
            <a:solidFill>
              <a:schemeClr val="tx1"/>
            </a:solidFill>
          </a:ln>
        </p:spPr>
      </p:pic>
      <p:cxnSp>
        <p:nvCxnSpPr>
          <p:cNvPr id="15" name="Straight Arrow Connector 14"/>
          <p:cNvCxnSpPr>
            <a:stCxn id="12" idx="3"/>
            <a:endCxn id="8" idx="1"/>
          </p:cNvCxnSpPr>
          <p:nvPr/>
        </p:nvCxnSpPr>
        <p:spPr>
          <a:xfrm flipV="1">
            <a:off x="3825717" y="4581524"/>
            <a:ext cx="601946" cy="589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6637464" y="4587419"/>
            <a:ext cx="601946" cy="589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73007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Using the set statement to read an existing dataset</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p:cNvSpPr txBox="1"/>
          <p:nvPr/>
        </p:nvSpPr>
        <p:spPr>
          <a:xfrm>
            <a:off x="789742" y="1379568"/>
            <a:ext cx="7874788" cy="2585323"/>
          </a:xfrm>
          <a:prstGeom prst="rect">
            <a:avLst/>
          </a:prstGeom>
          <a:noFill/>
        </p:spPr>
        <p:txBody>
          <a:bodyPr wrap="square" rtlCol="0">
            <a:spAutoFit/>
          </a:bodyPr>
          <a:lstStyle/>
          <a:p>
            <a:pPr marL="171450" marR="0" lvl="0" indent="-1714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smtClean="0">
                <a:ln>
                  <a:noFill/>
                </a:ln>
                <a:solidFill>
                  <a:prstClr val="black"/>
                </a:solidFill>
                <a:effectLst/>
                <a:uLnTx/>
                <a:uFillTx/>
                <a:latin typeface="Avenir Next Cyr W04 Regular" panose="020B0503020202020204" pitchFamily="34" charset="0"/>
                <a:ea typeface="+mn-ea"/>
                <a:cs typeface="Book Antiqua"/>
              </a:rPr>
              <a:t>Many</a:t>
            </a:r>
            <a:r>
              <a:rPr kumimoji="0" lang="en-GB" sz="1200" b="0" i="0" u="none" strike="noStrike" kern="1200" cap="none" spc="0" normalizeH="0" noProof="0" dirty="0" smtClean="0">
                <a:ln>
                  <a:noFill/>
                </a:ln>
                <a:solidFill>
                  <a:prstClr val="black"/>
                </a:solidFill>
                <a:effectLst/>
                <a:uLnTx/>
                <a:uFillTx/>
                <a:latin typeface="Avenir Next Cyr W04 Regular" panose="020B0503020202020204" pitchFamily="34" charset="0"/>
                <a:ea typeface="+mn-ea"/>
                <a:cs typeface="Book Antiqua"/>
              </a:rPr>
              <a:t> times you will have a sourced dataset that comes from an organisation. If you do not want to change the original dataset then you can use the SET statement.</a:t>
            </a:r>
          </a:p>
          <a:p>
            <a:pPr marL="171450" marR="0" lvl="0" indent="-1714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GB" sz="1200" baseline="0" dirty="0" smtClean="0">
                <a:solidFill>
                  <a:prstClr val="black"/>
                </a:solidFill>
                <a:latin typeface="Avenir Next Cyr W04 Regular" panose="020B0503020202020204" pitchFamily="34" charset="0"/>
                <a:cs typeface="Book Antiqua"/>
              </a:rPr>
              <a:t>The</a:t>
            </a:r>
            <a:r>
              <a:rPr lang="en-GB" sz="1200" dirty="0" smtClean="0">
                <a:solidFill>
                  <a:prstClr val="black"/>
                </a:solidFill>
                <a:latin typeface="Avenir Next Cyr W04 Regular" panose="020B0503020202020204" pitchFamily="34" charset="0"/>
                <a:cs typeface="Book Antiqua"/>
              </a:rPr>
              <a:t> SET statement in a DATA step is used to transfer data from an existing SAS dataset to a new one.</a:t>
            </a:r>
          </a:p>
          <a:p>
            <a:pPr marL="171450" marR="0" lvl="0" indent="-1714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Book Antiqua"/>
            </a:endParaRPr>
          </a:p>
          <a:p>
            <a:pPr marL="171450" marR="0" lvl="0" indent="-1714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GB" sz="1200" dirty="0" smtClean="0">
                <a:solidFill>
                  <a:prstClr val="black"/>
                </a:solidFill>
                <a:latin typeface="Avenir Next Cyr W04 Regular" panose="020B0503020202020204" pitchFamily="34" charset="0"/>
                <a:cs typeface="Book Antiqua"/>
              </a:rPr>
              <a:t>The SET statement allows one to </a:t>
            </a:r>
          </a:p>
          <a:p>
            <a:pPr marL="628650" lvl="1" indent="-171450">
              <a:lnSpc>
                <a:spcPct val="150000"/>
              </a:lnSpc>
              <a:buFont typeface="Arial" panose="020B0604020202020204" pitchFamily="34" charset="0"/>
              <a:buChar char="•"/>
            </a:pPr>
            <a:r>
              <a:rPr kumimoji="0" lang="en-GB" sz="1200" b="0" i="0" u="none" strike="noStrike" kern="1200" cap="none" spc="0" normalizeH="0" baseline="0" noProof="0" dirty="0" smtClean="0">
                <a:ln>
                  <a:noFill/>
                </a:ln>
                <a:solidFill>
                  <a:prstClr val="black"/>
                </a:solidFill>
                <a:effectLst/>
                <a:uLnTx/>
                <a:uFillTx/>
                <a:latin typeface="Avenir Next Cyr W04 Regular" panose="020B0503020202020204" pitchFamily="34" charset="0"/>
                <a:ea typeface="+mn-ea"/>
                <a:cs typeface="Book Antiqua"/>
              </a:rPr>
              <a:t>Create</a:t>
            </a:r>
            <a:r>
              <a:rPr kumimoji="0" lang="en-GB" sz="1200" b="0" i="0" u="none" strike="noStrike" kern="1200" cap="none" spc="0" normalizeH="0" noProof="0" dirty="0" smtClean="0">
                <a:ln>
                  <a:noFill/>
                </a:ln>
                <a:solidFill>
                  <a:prstClr val="black"/>
                </a:solidFill>
                <a:effectLst/>
                <a:uLnTx/>
                <a:uFillTx/>
                <a:latin typeface="Avenir Next Cyr W04 Regular" panose="020B0503020202020204" pitchFamily="34" charset="0"/>
                <a:ea typeface="+mn-ea"/>
                <a:cs typeface="Book Antiqua"/>
              </a:rPr>
              <a:t> several other data sets through sub setting, but you want to keep the original SAS data set as well.</a:t>
            </a:r>
          </a:p>
          <a:p>
            <a:pPr marL="628650" lvl="1" indent="-171450">
              <a:lnSpc>
                <a:spcPct val="150000"/>
              </a:lnSpc>
              <a:buFont typeface="Arial" panose="020B0604020202020204" pitchFamily="34" charset="0"/>
              <a:buChar char="•"/>
            </a:pPr>
            <a:r>
              <a:rPr lang="en-GB" sz="1200" baseline="0" dirty="0" smtClean="0">
                <a:solidFill>
                  <a:prstClr val="black"/>
                </a:solidFill>
                <a:latin typeface="Avenir Next Cyr W04 Regular" panose="020B0503020202020204" pitchFamily="34" charset="0"/>
                <a:cs typeface="Book Antiqua"/>
              </a:rPr>
              <a:t>Create a new dataset starting</a:t>
            </a:r>
            <a:r>
              <a:rPr lang="en-GB" sz="1200" dirty="0" smtClean="0">
                <a:solidFill>
                  <a:prstClr val="black"/>
                </a:solidFill>
                <a:latin typeface="Avenir Next Cyr W04 Regular" panose="020B0503020202020204" pitchFamily="34" charset="0"/>
                <a:cs typeface="Book Antiqua"/>
              </a:rPr>
              <a:t> with the data in a current dataset, but you want to preserve all data in the original dataset.</a:t>
            </a:r>
          </a:p>
        </p:txBody>
      </p:sp>
      <p:sp>
        <p:nvSpPr>
          <p:cNvPr id="5" name="ZoneTexte 7"/>
          <p:cNvSpPr txBox="1"/>
          <p:nvPr/>
        </p:nvSpPr>
        <p:spPr>
          <a:xfrm>
            <a:off x="3900525" y="6115332"/>
            <a:ext cx="6646721" cy="411972"/>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lang="en-GB" sz="1200" b="1" noProof="0" dirty="0" smtClean="0">
                <a:solidFill>
                  <a:srgbClr val="FF0000"/>
                </a:solidFill>
                <a:latin typeface="Book Antiqua"/>
                <a:cs typeface="Book Antiqua"/>
              </a:rPr>
              <a:t>DSUBSET2</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spTree>
    <p:extLst>
      <p:ext uri="{BB962C8B-B14F-4D97-AF65-F5344CB8AC3E}">
        <p14:creationId xmlns:p14="http://schemas.microsoft.com/office/powerpoint/2010/main" val="21759775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Using the set statement to read an existing dataset</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ZoneTexte 7"/>
          <p:cNvSpPr txBox="1"/>
          <p:nvPr/>
        </p:nvSpPr>
        <p:spPr>
          <a:xfrm>
            <a:off x="3900525" y="6115332"/>
            <a:ext cx="6646721" cy="411972"/>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DSUBSET2.SAS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9" name="Picture 8"/>
          <p:cNvPicPr>
            <a:picLocks noChangeAspect="1"/>
          </p:cNvPicPr>
          <p:nvPr/>
        </p:nvPicPr>
        <p:blipFill>
          <a:blip r:embed="rId4"/>
          <a:stretch>
            <a:fillRect/>
          </a:stretch>
        </p:blipFill>
        <p:spPr>
          <a:xfrm>
            <a:off x="5312228" y="1129215"/>
            <a:ext cx="3200400" cy="4914900"/>
          </a:xfrm>
          <a:prstGeom prst="rect">
            <a:avLst/>
          </a:prstGeom>
        </p:spPr>
      </p:pic>
      <p:pic>
        <p:nvPicPr>
          <p:cNvPr id="13" name="Picture 12"/>
          <p:cNvPicPr>
            <a:picLocks noChangeAspect="1"/>
          </p:cNvPicPr>
          <p:nvPr/>
        </p:nvPicPr>
        <p:blipFill>
          <a:blip r:embed="rId5"/>
          <a:stretch>
            <a:fillRect/>
          </a:stretch>
        </p:blipFill>
        <p:spPr>
          <a:xfrm>
            <a:off x="269436" y="971550"/>
            <a:ext cx="3713250" cy="5072565"/>
          </a:xfrm>
          <a:prstGeom prst="rect">
            <a:avLst/>
          </a:prstGeom>
        </p:spPr>
      </p:pic>
      <p:sp>
        <p:nvSpPr>
          <p:cNvPr id="17" name="Rectangle 16"/>
          <p:cNvSpPr/>
          <p:nvPr/>
        </p:nvSpPr>
        <p:spPr>
          <a:xfrm>
            <a:off x="640080" y="3958046"/>
            <a:ext cx="979714" cy="57476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8" name="Rectangle 17"/>
          <p:cNvSpPr/>
          <p:nvPr/>
        </p:nvSpPr>
        <p:spPr>
          <a:xfrm>
            <a:off x="640080" y="4637313"/>
            <a:ext cx="979714" cy="56170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cxnSp>
        <p:nvCxnSpPr>
          <p:cNvPr id="25" name="Straight Arrow Connector 24"/>
          <p:cNvCxnSpPr>
            <a:endCxn id="9" idx="1"/>
          </p:cNvCxnSpPr>
          <p:nvPr/>
        </p:nvCxnSpPr>
        <p:spPr>
          <a:xfrm flipV="1">
            <a:off x="2126061" y="3586665"/>
            <a:ext cx="3186167" cy="19911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V="1">
            <a:off x="2220686" y="5473337"/>
            <a:ext cx="3159619" cy="2612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66628" y="5499463"/>
            <a:ext cx="1485981" cy="13062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30" name="Rectangle 29"/>
          <p:cNvSpPr/>
          <p:nvPr/>
        </p:nvSpPr>
        <p:spPr>
          <a:xfrm>
            <a:off x="666627" y="5641161"/>
            <a:ext cx="1485981" cy="13062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cxnSp>
        <p:nvCxnSpPr>
          <p:cNvPr id="32" name="Curved Connector 31"/>
          <p:cNvCxnSpPr>
            <a:stCxn id="17" idx="3"/>
          </p:cNvCxnSpPr>
          <p:nvPr/>
        </p:nvCxnSpPr>
        <p:spPr>
          <a:xfrm flipV="1">
            <a:off x="1619794" y="3586665"/>
            <a:ext cx="3579223" cy="658764"/>
          </a:xfrm>
          <a:prstGeom prst="curvedConnector3">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4" name="Curved Connector 33"/>
          <p:cNvCxnSpPr>
            <a:stCxn id="18" idx="3"/>
          </p:cNvCxnSpPr>
          <p:nvPr/>
        </p:nvCxnSpPr>
        <p:spPr>
          <a:xfrm>
            <a:off x="1619794" y="4918165"/>
            <a:ext cx="3692434" cy="424544"/>
          </a:xfrm>
          <a:prstGeom prst="curvedConnector3">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269436" y="971550"/>
            <a:ext cx="3713250" cy="507256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5559145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Using PROC SORT</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9" name="TextBox 8"/>
          <p:cNvSpPr txBox="1"/>
          <p:nvPr/>
        </p:nvSpPr>
        <p:spPr>
          <a:xfrm>
            <a:off x="789742" y="869111"/>
            <a:ext cx="7874788" cy="4524315"/>
          </a:xfrm>
          <a:prstGeom prst="rect">
            <a:avLst/>
          </a:prstGeom>
          <a:noFill/>
        </p:spPr>
        <p:txBody>
          <a:bodyPr wrap="square" rtlCol="0">
            <a:spAutoFit/>
          </a:bodyPr>
          <a:lstStyle/>
          <a:p>
            <a:pPr>
              <a:lnSpc>
                <a:spcPct val="150000"/>
              </a:lnSpc>
              <a:buFont typeface="Arial"/>
              <a:buChar char="•"/>
            </a:pPr>
            <a:r>
              <a:rPr lang="en-GB" sz="1200" dirty="0" smtClean="0">
                <a:latin typeface="Avenir Next Cyr W04 Regular" panose="020B0503020202020204" pitchFamily="34" charset="0"/>
                <a:cs typeface="Book Antiqua"/>
              </a:rPr>
              <a:t>The </a:t>
            </a:r>
            <a:r>
              <a:rPr lang="en-GB" sz="1200" b="1" dirty="0" smtClean="0">
                <a:latin typeface="Avenir Next Cyr W04 Regular" panose="020B0503020202020204" pitchFamily="34" charset="0"/>
                <a:cs typeface="Book Antiqua"/>
              </a:rPr>
              <a:t>SORT</a:t>
            </a:r>
            <a:r>
              <a:rPr lang="en-GB" sz="1200" dirty="0" smtClean="0">
                <a:latin typeface="Avenir Next Cyr W04 Regular" panose="020B0503020202020204" pitchFamily="34" charset="0"/>
                <a:cs typeface="Book Antiqua"/>
              </a:rPr>
              <a:t> procedure can be used in the DATA step to rearrange the observations in a SAS dataset or create a new SAS dataset containing the rearranged observations.</a:t>
            </a:r>
          </a:p>
          <a:p>
            <a:pPr>
              <a:lnSpc>
                <a:spcPct val="150000"/>
              </a:lnSpc>
              <a:buFont typeface="Arial"/>
              <a:buChar char="•"/>
            </a:pPr>
            <a:endParaRPr lang="en-GB" sz="1200" dirty="0" smtClean="0">
              <a:latin typeface="Avenir Next Cyr W04 Regular" panose="020B0503020202020204" pitchFamily="34" charset="0"/>
              <a:cs typeface="Book Antiqua"/>
            </a:endParaRPr>
          </a:p>
          <a:p>
            <a:pPr>
              <a:lnSpc>
                <a:spcPct val="150000"/>
              </a:lnSpc>
              <a:buFont typeface="Arial"/>
              <a:buChar char="•"/>
            </a:pPr>
            <a:r>
              <a:rPr lang="en-GB" sz="1200" dirty="0" smtClean="0">
                <a:latin typeface="Avenir Next Cyr W04 Regular" panose="020B0503020202020204" pitchFamily="34" charset="0"/>
                <a:cs typeface="Book Antiqua"/>
              </a:rPr>
              <a:t>With the </a:t>
            </a:r>
            <a:r>
              <a:rPr lang="en-GB" sz="1200" b="1" dirty="0" smtClean="0">
                <a:latin typeface="Avenir Next Cyr W04 Regular" panose="020B0503020202020204" pitchFamily="34" charset="0"/>
                <a:cs typeface="Book Antiqua"/>
              </a:rPr>
              <a:t>PROC SORT</a:t>
            </a:r>
            <a:r>
              <a:rPr lang="en-GB" sz="1200" dirty="0" smtClean="0">
                <a:latin typeface="Avenir Next Cyr W04 Regular" panose="020B0503020202020204" pitchFamily="34" charset="0"/>
                <a:cs typeface="Book Antiqua"/>
              </a:rPr>
              <a:t>, you can sort on multiple sort fields and sort in ascending or descending order.</a:t>
            </a:r>
          </a:p>
          <a:p>
            <a:pPr>
              <a:lnSpc>
                <a:spcPct val="150000"/>
              </a:lnSpc>
              <a:buFont typeface="Arial"/>
              <a:buChar char="•"/>
            </a:pPr>
            <a:endParaRPr lang="en-GB" sz="1200" dirty="0">
              <a:latin typeface="Avenir Next Cyr W04 Regular" panose="020B0503020202020204" pitchFamily="34" charset="0"/>
              <a:cs typeface="Book Antiqua"/>
            </a:endParaRPr>
          </a:p>
          <a:p>
            <a:pPr>
              <a:lnSpc>
                <a:spcPct val="150000"/>
              </a:lnSpc>
              <a:buFont typeface="Arial"/>
              <a:buChar char="•"/>
            </a:pPr>
            <a:endParaRPr lang="en-GB" sz="1200" dirty="0" smtClean="0">
              <a:latin typeface="Avenir Next Cyr W04 Regular" panose="020B0503020202020204" pitchFamily="34" charset="0"/>
              <a:cs typeface="Book Antiqua"/>
            </a:endParaRPr>
          </a:p>
          <a:p>
            <a:pPr>
              <a:lnSpc>
                <a:spcPct val="150000"/>
              </a:lnSpc>
            </a:pPr>
            <a:r>
              <a:rPr lang="en-GB" sz="1200" dirty="0" smtClean="0">
                <a:latin typeface="Avenir Next Cyr W04 Regular" panose="020B0503020202020204" pitchFamily="34" charset="0"/>
                <a:cs typeface="Book Antiqua"/>
              </a:rPr>
              <a:t>The </a:t>
            </a:r>
            <a:r>
              <a:rPr lang="en-GB" sz="1200" b="1" dirty="0" smtClean="0">
                <a:latin typeface="Avenir Next Cyr W04 Regular" panose="020B0503020202020204" pitchFamily="34" charset="0"/>
                <a:cs typeface="Book Antiqua"/>
              </a:rPr>
              <a:t>PROC SORT </a:t>
            </a:r>
            <a:r>
              <a:rPr lang="en-GB" sz="1200" dirty="0" smtClean="0">
                <a:latin typeface="Avenir Next Cyr W04 Regular" panose="020B0503020202020204" pitchFamily="34" charset="0"/>
                <a:cs typeface="Book Antiqua"/>
              </a:rPr>
              <a:t>syntax is as follows;</a:t>
            </a:r>
          </a:p>
          <a:p>
            <a:pPr>
              <a:lnSpc>
                <a:spcPct val="150000"/>
              </a:lnSpc>
            </a:pPr>
            <a:endParaRPr lang="en-GB" sz="1200" dirty="0">
              <a:latin typeface="Avenir Next Cyr W04 Regular" panose="020B0503020202020204" pitchFamily="34" charset="0"/>
              <a:cs typeface="Book Antiqua"/>
            </a:endParaRPr>
          </a:p>
          <a:p>
            <a:pPr>
              <a:lnSpc>
                <a:spcPct val="150000"/>
              </a:lnSpc>
            </a:pPr>
            <a:endParaRPr lang="en-GB" sz="1200" dirty="0" smtClean="0">
              <a:latin typeface="Avenir Next Cyr W04 Regular" panose="020B0503020202020204" pitchFamily="34" charset="0"/>
              <a:cs typeface="Book Antiqua"/>
            </a:endParaRPr>
          </a:p>
          <a:p>
            <a:pPr>
              <a:lnSpc>
                <a:spcPct val="150000"/>
              </a:lnSpc>
            </a:pPr>
            <a:endParaRPr lang="en-GB" sz="1200" dirty="0" smtClean="0">
              <a:latin typeface="Avenir Next Cyr W04 Regular" panose="020B0503020202020204" pitchFamily="34" charset="0"/>
              <a:cs typeface="Book Antiqua"/>
            </a:endParaRPr>
          </a:p>
          <a:p>
            <a:pPr>
              <a:lnSpc>
                <a:spcPct val="150000"/>
              </a:lnSpc>
            </a:pPr>
            <a:endParaRPr lang="en-GB" sz="1200" dirty="0">
              <a:latin typeface="Avenir Next Cyr W04 Regular" panose="020B0503020202020204" pitchFamily="34" charset="0"/>
              <a:cs typeface="Book Antiqua"/>
            </a:endParaRPr>
          </a:p>
          <a:p>
            <a:pPr>
              <a:lnSpc>
                <a:spcPct val="150000"/>
              </a:lnSpc>
            </a:pPr>
            <a:endParaRPr lang="en-GB" sz="1200" dirty="0" smtClean="0">
              <a:latin typeface="Avenir Next Cyr W04 Regular" panose="020B0503020202020204" pitchFamily="34" charset="0"/>
              <a:cs typeface="Book Antiqua"/>
            </a:endParaRPr>
          </a:p>
          <a:p>
            <a:pPr>
              <a:lnSpc>
                <a:spcPct val="150000"/>
              </a:lnSpc>
            </a:pPr>
            <a:endParaRPr lang="en-GB" sz="1200" dirty="0">
              <a:latin typeface="Avenir Next Cyr W04 Regular" panose="020B0503020202020204" pitchFamily="34" charset="0"/>
              <a:cs typeface="Book Antiqua"/>
            </a:endParaRPr>
          </a:p>
          <a:p>
            <a:pPr>
              <a:lnSpc>
                <a:spcPct val="150000"/>
              </a:lnSpc>
            </a:pPr>
            <a:r>
              <a:rPr lang="en-GB" sz="1200" dirty="0" smtClean="0">
                <a:latin typeface="Avenir Next Cyr W04 Regular" panose="020B0503020202020204" pitchFamily="34" charset="0"/>
                <a:cs typeface="Book Antiqua"/>
              </a:rPr>
              <a:t>The </a:t>
            </a:r>
            <a:r>
              <a:rPr lang="en-GB" sz="1200" b="1" dirty="0" smtClean="0">
                <a:latin typeface="Avenir Next Cyr W04 Regular" panose="020B0503020202020204" pitchFamily="34" charset="0"/>
                <a:cs typeface="Book Antiqua"/>
              </a:rPr>
              <a:t>BY</a:t>
            </a:r>
            <a:r>
              <a:rPr lang="en-GB" sz="1200" dirty="0" smtClean="0">
                <a:latin typeface="Avenir Next Cyr W04 Regular" panose="020B0503020202020204" pitchFamily="34" charset="0"/>
                <a:cs typeface="Book Antiqua"/>
              </a:rPr>
              <a:t> statement in the </a:t>
            </a:r>
            <a:r>
              <a:rPr lang="en-GB" sz="1200" b="1" dirty="0" smtClean="0">
                <a:latin typeface="Avenir Next Cyr W04 Regular" panose="020B0503020202020204" pitchFamily="34" charset="0"/>
                <a:cs typeface="Book Antiqua"/>
              </a:rPr>
              <a:t>PROC SORT </a:t>
            </a:r>
            <a:r>
              <a:rPr lang="en-GB" sz="1200" dirty="0" smtClean="0">
                <a:latin typeface="Avenir Next Cyr W04 Regular" panose="020B0503020202020204" pitchFamily="34" charset="0"/>
                <a:cs typeface="Book Antiqua"/>
              </a:rPr>
              <a:t>paragraph must contain one or variables, and optionally the </a:t>
            </a:r>
            <a:r>
              <a:rPr lang="en-GB" sz="1200" b="1" dirty="0" smtClean="0">
                <a:latin typeface="Avenir Next Cyr W04 Regular" panose="020B0503020202020204" pitchFamily="34" charset="0"/>
                <a:cs typeface="Book Antiqua"/>
              </a:rPr>
              <a:t>descending keyword</a:t>
            </a:r>
            <a:r>
              <a:rPr lang="en-GB" sz="1200" dirty="0" smtClean="0">
                <a:latin typeface="Avenir Next Cyr W04 Regular" panose="020B0503020202020204" pitchFamily="34" charset="0"/>
                <a:cs typeface="Book Antiqua"/>
              </a:rPr>
              <a:t>, because, SAS will automatically sort the data in </a:t>
            </a:r>
            <a:r>
              <a:rPr lang="en-GB" sz="1200" b="1" dirty="0" smtClean="0">
                <a:latin typeface="Avenir Next Cyr W04 Regular" panose="020B0503020202020204" pitchFamily="34" charset="0"/>
                <a:cs typeface="Book Antiqua"/>
              </a:rPr>
              <a:t>ascending order</a:t>
            </a:r>
            <a:r>
              <a:rPr lang="en-GB" sz="1200" dirty="0" smtClean="0">
                <a:latin typeface="Avenir Next Cyr W04 Regular" panose="020B0503020202020204" pitchFamily="34" charset="0"/>
                <a:cs typeface="Book Antiqua"/>
              </a:rPr>
              <a:t>. (Or you can put in the option </a:t>
            </a:r>
            <a:r>
              <a:rPr lang="en-GB" sz="1200" b="1" dirty="0" smtClean="0">
                <a:latin typeface="Avenir Next Cyr W04 Regular" panose="020B0503020202020204" pitchFamily="34" charset="0"/>
                <a:cs typeface="Book Antiqua"/>
              </a:rPr>
              <a:t>Ascending</a:t>
            </a:r>
            <a:r>
              <a:rPr lang="en-GB" sz="1200" dirty="0" smtClean="0">
                <a:latin typeface="Avenir Next Cyr W04 Regular" panose="020B0503020202020204" pitchFamily="34" charset="0"/>
                <a:cs typeface="Book Antiqua"/>
              </a:rPr>
              <a:t>, which will results in the same result.</a:t>
            </a:r>
          </a:p>
        </p:txBody>
      </p:sp>
      <p:sp>
        <p:nvSpPr>
          <p:cNvPr id="3" name="Rectangle 2"/>
          <p:cNvSpPr/>
          <p:nvPr/>
        </p:nvSpPr>
        <p:spPr>
          <a:xfrm>
            <a:off x="789742" y="3127942"/>
            <a:ext cx="4660444" cy="830997"/>
          </a:xfrm>
          <a:prstGeom prst="rect">
            <a:avLst/>
          </a:prstGeom>
          <a:noFill/>
          <a:ln>
            <a:solidFill>
              <a:schemeClr val="tx1"/>
            </a:solidFill>
          </a:ln>
        </p:spPr>
        <p:txBody>
          <a:bodyPr wrap="square">
            <a:spAutoFit/>
          </a:bodyPr>
          <a:lstStyle/>
          <a:p>
            <a:r>
              <a:rPr lang="en-ZA" sz="1200" b="1" dirty="0">
                <a:solidFill>
                  <a:srgbClr val="000080"/>
                </a:solidFill>
                <a:latin typeface="Courier New" panose="02070309020205020404" pitchFamily="49" charset="0"/>
              </a:rPr>
              <a:t>PROC</a:t>
            </a:r>
            <a:r>
              <a:rPr lang="en-ZA" sz="1200" dirty="0">
                <a:solidFill>
                  <a:srgbClr val="000000"/>
                </a:solidFill>
                <a:latin typeface="Courier New" panose="02070309020205020404" pitchFamily="49" charset="0"/>
              </a:rPr>
              <a:t> </a:t>
            </a:r>
            <a:r>
              <a:rPr lang="en-ZA" sz="1200" b="1" dirty="0">
                <a:solidFill>
                  <a:srgbClr val="000080"/>
                </a:solidFill>
                <a:latin typeface="Courier New" panose="02070309020205020404" pitchFamily="49" charset="0"/>
              </a:rPr>
              <a:t>SORT</a:t>
            </a:r>
            <a:r>
              <a:rPr lang="en-ZA" sz="1200" dirty="0">
                <a:solidFill>
                  <a:srgbClr val="000000"/>
                </a:solidFill>
                <a:latin typeface="Courier New" panose="02070309020205020404" pitchFamily="49" charset="0"/>
              </a:rPr>
              <a:t> </a:t>
            </a:r>
            <a:r>
              <a:rPr lang="en-ZA" sz="1200" dirty="0">
                <a:solidFill>
                  <a:srgbClr val="800080"/>
                </a:solidFill>
                <a:latin typeface="Courier New" panose="02070309020205020404" pitchFamily="49" charset="0"/>
              </a:rPr>
              <a:t>'OPTIONS'</a:t>
            </a:r>
            <a:r>
              <a:rPr lang="en-ZA" sz="1200" dirty="0">
                <a:solidFill>
                  <a:srgbClr val="000000"/>
                </a:solidFill>
                <a:latin typeface="Courier New" panose="02070309020205020404" pitchFamily="49" charset="0"/>
              </a:rPr>
              <a:t>; </a:t>
            </a:r>
            <a:r>
              <a:rPr lang="en-ZA" sz="1200" dirty="0">
                <a:solidFill>
                  <a:srgbClr val="0000FF"/>
                </a:solidFill>
                <a:latin typeface="Courier New" panose="02070309020205020404" pitchFamily="49" charset="0"/>
              </a:rPr>
              <a:t>BY</a:t>
            </a:r>
            <a:r>
              <a:rPr lang="en-ZA" sz="1200" dirty="0">
                <a:solidFill>
                  <a:srgbClr val="000000"/>
                </a:solidFill>
                <a:latin typeface="Courier New" panose="02070309020205020404" pitchFamily="49" charset="0"/>
              </a:rPr>
              <a:t> VARIABLES(S);</a:t>
            </a:r>
          </a:p>
          <a:p>
            <a:r>
              <a:rPr lang="en-ZA" sz="1200" dirty="0">
                <a:solidFill>
                  <a:srgbClr val="008000"/>
                </a:solidFill>
                <a:latin typeface="Courier New" panose="02070309020205020404" pitchFamily="49" charset="0"/>
              </a:rPr>
              <a:t>/*OPTIONS INCLUDE;</a:t>
            </a:r>
          </a:p>
          <a:p>
            <a:r>
              <a:rPr lang="en-ZA" sz="1200" dirty="0">
                <a:solidFill>
                  <a:srgbClr val="008000"/>
                </a:solidFill>
                <a:latin typeface="Courier New" panose="02070309020205020404" pitchFamily="49" charset="0"/>
              </a:rPr>
              <a:t>DATA = DATASETNAME;</a:t>
            </a:r>
          </a:p>
          <a:p>
            <a:r>
              <a:rPr lang="en-ZA" sz="1200" dirty="0">
                <a:solidFill>
                  <a:srgbClr val="008000"/>
                </a:solidFill>
                <a:latin typeface="Courier New" panose="02070309020205020404" pitchFamily="49" charset="0"/>
              </a:rPr>
              <a:t>OUT=OUTPUTDATASETNAME;*/</a:t>
            </a:r>
            <a:endParaRPr lang="en-ZA" sz="1200" dirty="0"/>
          </a:p>
        </p:txBody>
      </p:sp>
      <p:sp>
        <p:nvSpPr>
          <p:cNvPr id="10" name="ZoneTexte 7"/>
          <p:cNvSpPr txBox="1"/>
          <p:nvPr/>
        </p:nvSpPr>
        <p:spPr>
          <a:xfrm>
            <a:off x="4298878" y="6115332"/>
            <a:ext cx="6646721" cy="411972"/>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DSORT.SAS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spTree>
    <p:extLst>
      <p:ext uri="{BB962C8B-B14F-4D97-AF65-F5344CB8AC3E}">
        <p14:creationId xmlns:p14="http://schemas.microsoft.com/office/powerpoint/2010/main" val="3769876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Using PROC SORT</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ZoneTexte 7"/>
          <p:cNvSpPr txBox="1"/>
          <p:nvPr/>
        </p:nvSpPr>
        <p:spPr>
          <a:xfrm>
            <a:off x="4298878" y="6115332"/>
            <a:ext cx="6646721" cy="411972"/>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DSORT.SAS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3" name="Picture 2"/>
          <p:cNvPicPr>
            <a:picLocks noChangeAspect="1"/>
          </p:cNvPicPr>
          <p:nvPr/>
        </p:nvPicPr>
        <p:blipFill>
          <a:blip r:embed="rId4"/>
          <a:stretch>
            <a:fillRect/>
          </a:stretch>
        </p:blipFill>
        <p:spPr>
          <a:xfrm>
            <a:off x="6068801" y="1430448"/>
            <a:ext cx="1819275" cy="1828800"/>
          </a:xfrm>
          <a:prstGeom prst="rect">
            <a:avLst/>
          </a:prstGeom>
        </p:spPr>
      </p:pic>
      <p:pic>
        <p:nvPicPr>
          <p:cNvPr id="7" name="Picture 6"/>
          <p:cNvPicPr>
            <a:picLocks noChangeAspect="1"/>
          </p:cNvPicPr>
          <p:nvPr/>
        </p:nvPicPr>
        <p:blipFill>
          <a:blip r:embed="rId5"/>
          <a:stretch>
            <a:fillRect/>
          </a:stretch>
        </p:blipFill>
        <p:spPr>
          <a:xfrm>
            <a:off x="6068801" y="3872758"/>
            <a:ext cx="1876425" cy="1800225"/>
          </a:xfrm>
          <a:prstGeom prst="rect">
            <a:avLst/>
          </a:prstGeom>
        </p:spPr>
      </p:pic>
      <p:pic>
        <p:nvPicPr>
          <p:cNvPr id="21" name="Picture 20"/>
          <p:cNvPicPr>
            <a:picLocks noChangeAspect="1"/>
          </p:cNvPicPr>
          <p:nvPr/>
        </p:nvPicPr>
        <p:blipFill>
          <a:blip r:embed="rId6"/>
          <a:stretch>
            <a:fillRect/>
          </a:stretch>
        </p:blipFill>
        <p:spPr>
          <a:xfrm>
            <a:off x="269436" y="849357"/>
            <a:ext cx="4113336" cy="5499191"/>
          </a:xfrm>
          <a:prstGeom prst="rect">
            <a:avLst/>
          </a:prstGeom>
        </p:spPr>
      </p:pic>
      <p:sp>
        <p:nvSpPr>
          <p:cNvPr id="22" name="Rectangle 21"/>
          <p:cNvSpPr/>
          <p:nvPr/>
        </p:nvSpPr>
        <p:spPr>
          <a:xfrm>
            <a:off x="269436" y="849357"/>
            <a:ext cx="4113336" cy="5499191"/>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cxnSp>
        <p:nvCxnSpPr>
          <p:cNvPr id="24" name="Straight Arrow Connector 23"/>
          <p:cNvCxnSpPr>
            <a:endCxn id="3" idx="1"/>
          </p:cNvCxnSpPr>
          <p:nvPr/>
        </p:nvCxnSpPr>
        <p:spPr>
          <a:xfrm flipV="1">
            <a:off x="3200400" y="2344848"/>
            <a:ext cx="2868401" cy="237084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endCxn id="7" idx="1"/>
          </p:cNvCxnSpPr>
          <p:nvPr/>
        </p:nvCxnSpPr>
        <p:spPr>
          <a:xfrm flipV="1">
            <a:off x="3200400" y="4772871"/>
            <a:ext cx="2868401" cy="116370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92331" y="4349931"/>
            <a:ext cx="2416629" cy="71845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30" name="Rectangle 29"/>
          <p:cNvSpPr/>
          <p:nvPr/>
        </p:nvSpPr>
        <p:spPr>
          <a:xfrm>
            <a:off x="692331" y="5577840"/>
            <a:ext cx="2416629" cy="77070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31" name="Rectangle 30"/>
          <p:cNvSpPr/>
          <p:nvPr/>
        </p:nvSpPr>
        <p:spPr>
          <a:xfrm>
            <a:off x="6068801" y="1413899"/>
            <a:ext cx="1819275" cy="184534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32" name="Rectangle 31"/>
          <p:cNvSpPr/>
          <p:nvPr/>
        </p:nvSpPr>
        <p:spPr>
          <a:xfrm>
            <a:off x="6039924" y="3827634"/>
            <a:ext cx="1905302" cy="184534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2701627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7543" y="0"/>
            <a:ext cx="8915400" cy="845332"/>
          </a:xfrm>
        </p:spPr>
        <p:txBody>
          <a:bodyPr>
            <a:normAutofit/>
          </a:bodyPr>
          <a:lstStyle/>
          <a:p>
            <a:r>
              <a:rPr lang="en-ZA" sz="2500" dirty="0" smtClean="0"/>
              <a:t>Appending datasets</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9" name="TextBox 8"/>
          <p:cNvSpPr txBox="1"/>
          <p:nvPr/>
        </p:nvSpPr>
        <p:spPr>
          <a:xfrm>
            <a:off x="635833" y="761548"/>
            <a:ext cx="7874788" cy="156966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GB" sz="1200" dirty="0" smtClean="0">
                <a:latin typeface="Avenir Next Cyr W04 Regular" panose="020B0503020202020204" pitchFamily="34" charset="0"/>
                <a:cs typeface="Book Antiqua"/>
              </a:rPr>
              <a:t> Data </a:t>
            </a:r>
            <a:r>
              <a:rPr lang="en-GB" sz="1200" dirty="0">
                <a:latin typeface="Avenir Next Cyr W04 Regular" panose="020B0503020202020204" pitchFamily="34" charset="0"/>
                <a:cs typeface="Book Antiqua"/>
              </a:rPr>
              <a:t>sets can either be joined by appending or merging data sets to create a new data </a:t>
            </a:r>
            <a:r>
              <a:rPr lang="en-GB" sz="1200" dirty="0" smtClean="0">
                <a:latin typeface="Avenir Next Cyr W04 Regular" panose="020B0503020202020204" pitchFamily="34" charset="0"/>
                <a:cs typeface="Book Antiqua"/>
              </a:rPr>
              <a:t>set.</a:t>
            </a:r>
            <a:endParaRPr lang="en-GB" sz="1200" dirty="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r>
              <a:rPr lang="en-GB" sz="1200" dirty="0">
                <a:latin typeface="Avenir Next Cyr W04 Regular" panose="020B0503020202020204" pitchFamily="34" charset="0"/>
                <a:cs typeface="Book Antiqua"/>
              </a:rPr>
              <a:t> By appending data sets, observations  are merely added to a new </a:t>
            </a:r>
            <a:r>
              <a:rPr lang="en-GB" sz="1200" dirty="0" smtClean="0">
                <a:latin typeface="Avenir Next Cyr W04 Regular" panose="020B0503020202020204" pitchFamily="34" charset="0"/>
                <a:cs typeface="Book Antiqua"/>
              </a:rPr>
              <a:t>data set.</a:t>
            </a:r>
            <a:endParaRPr lang="en-GB" sz="1200" dirty="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r>
              <a:rPr lang="en-GB" sz="1200" dirty="0">
                <a:latin typeface="Avenir Next Cyr W04 Regular" panose="020B0503020202020204" pitchFamily="34" charset="0"/>
                <a:cs typeface="Book Antiqua"/>
              </a:rPr>
              <a:t> By merging data sets, observations can joined by a common </a:t>
            </a:r>
            <a:r>
              <a:rPr lang="en-GB" sz="1200" dirty="0" smtClean="0">
                <a:latin typeface="Avenir Next Cyr W04 Regular" panose="020B0503020202020204" pitchFamily="34" charset="0"/>
                <a:cs typeface="Book Antiqua"/>
              </a:rPr>
              <a:t>variable.</a:t>
            </a:r>
            <a:endParaRPr lang="en-GB" sz="1200" dirty="0">
              <a:latin typeface="Avenir Next Cyr W04 Regular" panose="020B0503020202020204" pitchFamily="34" charset="0"/>
              <a:cs typeface="Book Antiqua"/>
            </a:endParaRPr>
          </a:p>
          <a:p>
            <a:pPr marL="171450" indent="-171450">
              <a:lnSpc>
                <a:spcPct val="200000"/>
              </a:lnSpc>
              <a:buFont typeface="Arial" panose="020B0604020202020204" pitchFamily="34" charset="0"/>
              <a:buChar char="•"/>
            </a:pPr>
            <a:r>
              <a:rPr lang="en-GB" sz="1200" dirty="0">
                <a:latin typeface="Avenir Next Cyr W04 Regular" panose="020B0503020202020204" pitchFamily="34" charset="0"/>
                <a:cs typeface="Book Antiqua"/>
              </a:rPr>
              <a:t> To </a:t>
            </a:r>
            <a:r>
              <a:rPr lang="en-GB" sz="1200" b="1" dirty="0">
                <a:latin typeface="Avenir Next Cyr W04 Regular" panose="020B0503020202020204" pitchFamily="34" charset="0"/>
                <a:cs typeface="Book Antiqua"/>
              </a:rPr>
              <a:t>APPEND</a:t>
            </a:r>
            <a:r>
              <a:rPr lang="en-GB" sz="1200" dirty="0">
                <a:latin typeface="Avenir Next Cyr W04 Regular" panose="020B0503020202020204" pitchFamily="34" charset="0"/>
                <a:cs typeface="Book Antiqua"/>
              </a:rPr>
              <a:t> data sets, use the </a:t>
            </a:r>
            <a:r>
              <a:rPr lang="en-GB" sz="1200" b="1" dirty="0">
                <a:latin typeface="Avenir Next Cyr W04 Regular" panose="020B0503020202020204" pitchFamily="34" charset="0"/>
                <a:cs typeface="Book Antiqua"/>
              </a:rPr>
              <a:t>SET</a:t>
            </a:r>
            <a:r>
              <a:rPr lang="en-GB" sz="1200" dirty="0">
                <a:latin typeface="Avenir Next Cyr W04 Regular" panose="020B0503020202020204" pitchFamily="34" charset="0"/>
                <a:cs typeface="Book Antiqua"/>
              </a:rPr>
              <a:t> </a:t>
            </a:r>
            <a:r>
              <a:rPr lang="en-GB" sz="1200" dirty="0" smtClean="0">
                <a:latin typeface="Avenir Next Cyr W04 Regular" panose="020B0503020202020204" pitchFamily="34" charset="0"/>
                <a:cs typeface="Book Antiqua"/>
              </a:rPr>
              <a:t>statement.</a:t>
            </a:r>
            <a:endParaRPr lang="en-GB" sz="1200" dirty="0">
              <a:latin typeface="Avenir Next Cyr W04 Regular" panose="020B0503020202020204" pitchFamily="34" charset="0"/>
              <a:cs typeface="Book Antiqua"/>
            </a:endParaRPr>
          </a:p>
          <a:p>
            <a:pPr marL="171450" indent="-171450">
              <a:lnSpc>
                <a:spcPct val="150000"/>
              </a:lnSpc>
              <a:buFont typeface="Arial" panose="020B0604020202020204" pitchFamily="34" charset="0"/>
              <a:buChar char="•"/>
            </a:pPr>
            <a:r>
              <a:rPr lang="en-GB" sz="1200" dirty="0">
                <a:latin typeface="Avenir Next Cyr W04 Regular" panose="020B0503020202020204" pitchFamily="34" charset="0"/>
                <a:cs typeface="Book Antiqua"/>
              </a:rPr>
              <a:t> To </a:t>
            </a:r>
            <a:r>
              <a:rPr lang="en-GB" sz="1200" b="1" dirty="0">
                <a:latin typeface="Avenir Next Cyr W04 Regular" panose="020B0503020202020204" pitchFamily="34" charset="0"/>
                <a:cs typeface="Book Antiqua"/>
              </a:rPr>
              <a:t>MERGE</a:t>
            </a:r>
            <a:r>
              <a:rPr lang="en-GB" sz="1200" dirty="0">
                <a:latin typeface="Avenir Next Cyr W04 Regular" panose="020B0503020202020204" pitchFamily="34" charset="0"/>
                <a:cs typeface="Book Antiqua"/>
              </a:rPr>
              <a:t> data sets, use the </a:t>
            </a:r>
            <a:r>
              <a:rPr lang="en-GB" sz="1200" b="1" dirty="0">
                <a:latin typeface="Avenir Next Cyr W04 Regular" panose="020B0503020202020204" pitchFamily="34" charset="0"/>
                <a:cs typeface="Book Antiqua"/>
              </a:rPr>
              <a:t>MERGE</a:t>
            </a:r>
            <a:r>
              <a:rPr lang="en-GB" sz="1200" dirty="0">
                <a:latin typeface="Avenir Next Cyr W04 Regular" panose="020B0503020202020204" pitchFamily="34" charset="0"/>
                <a:cs typeface="Book Antiqua"/>
              </a:rPr>
              <a:t> statement with the </a:t>
            </a:r>
            <a:r>
              <a:rPr lang="en-GB" sz="1200" b="1" dirty="0">
                <a:latin typeface="Avenir Next Cyr W04 Regular" panose="020B0503020202020204" pitchFamily="34" charset="0"/>
                <a:cs typeface="Book Antiqua"/>
              </a:rPr>
              <a:t>BY</a:t>
            </a:r>
            <a:r>
              <a:rPr lang="en-GB" sz="1200" dirty="0">
                <a:latin typeface="Avenir Next Cyr W04 Regular" panose="020B0503020202020204" pitchFamily="34" charset="0"/>
                <a:cs typeface="Book Antiqua"/>
              </a:rPr>
              <a:t> </a:t>
            </a:r>
            <a:r>
              <a:rPr lang="en-GB" sz="1200" dirty="0" smtClean="0">
                <a:latin typeface="Avenir Next Cyr W04 Regular" panose="020B0503020202020204" pitchFamily="34" charset="0"/>
                <a:cs typeface="Book Antiqua"/>
              </a:rPr>
              <a:t>statement.</a:t>
            </a:r>
            <a:endParaRPr lang="en-GB" sz="1200" dirty="0">
              <a:latin typeface="Avenir Next Cyr W04 Regular" panose="020B0503020202020204" pitchFamily="34" charset="0"/>
              <a:cs typeface="Book Antiqua"/>
            </a:endParaRPr>
          </a:p>
        </p:txBody>
      </p:sp>
      <p:sp>
        <p:nvSpPr>
          <p:cNvPr id="11" name="ZoneTexte 7"/>
          <p:cNvSpPr txBox="1"/>
          <p:nvPr/>
        </p:nvSpPr>
        <p:spPr>
          <a:xfrm>
            <a:off x="3952265" y="6094321"/>
            <a:ext cx="6646721" cy="461665"/>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lang="en-GB" sz="1200" b="1" dirty="0" smtClean="0">
                <a:solidFill>
                  <a:srgbClr val="FF0000"/>
                </a:solidFill>
                <a:latin typeface="Book Antiqua"/>
                <a:cs typeface="Book Antiqua"/>
              </a:rPr>
              <a:t>DAPPEND1</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8" name="Picture 7"/>
          <p:cNvPicPr>
            <a:picLocks noChangeAspect="1"/>
          </p:cNvPicPr>
          <p:nvPr/>
        </p:nvPicPr>
        <p:blipFill>
          <a:blip r:embed="rId4"/>
          <a:stretch>
            <a:fillRect/>
          </a:stretch>
        </p:blipFill>
        <p:spPr>
          <a:xfrm>
            <a:off x="5796367" y="3471812"/>
            <a:ext cx="3724275" cy="1819275"/>
          </a:xfrm>
          <a:prstGeom prst="rect">
            <a:avLst/>
          </a:prstGeom>
          <a:noFill/>
          <a:ln>
            <a:solidFill>
              <a:schemeClr val="tx1"/>
            </a:solidFill>
          </a:ln>
        </p:spPr>
      </p:pic>
      <p:pic>
        <p:nvPicPr>
          <p:cNvPr id="12" name="Picture 11"/>
          <p:cNvPicPr>
            <a:picLocks noChangeAspect="1"/>
          </p:cNvPicPr>
          <p:nvPr/>
        </p:nvPicPr>
        <p:blipFill>
          <a:blip r:embed="rId5"/>
          <a:stretch>
            <a:fillRect/>
          </a:stretch>
        </p:blipFill>
        <p:spPr>
          <a:xfrm>
            <a:off x="635833" y="2437747"/>
            <a:ext cx="3081211" cy="3887406"/>
          </a:xfrm>
          <a:prstGeom prst="rect">
            <a:avLst/>
          </a:prstGeom>
          <a:noFill/>
          <a:ln>
            <a:solidFill>
              <a:schemeClr val="tx1"/>
            </a:solidFill>
          </a:ln>
        </p:spPr>
      </p:pic>
      <p:cxnSp>
        <p:nvCxnSpPr>
          <p:cNvPr id="14" name="Straight Arrow Connector 13"/>
          <p:cNvCxnSpPr>
            <a:stCxn id="12" idx="3"/>
            <a:endCxn id="8" idx="1"/>
          </p:cNvCxnSpPr>
          <p:nvPr/>
        </p:nvCxnSpPr>
        <p:spPr>
          <a:xfrm>
            <a:off x="3717044" y="4381450"/>
            <a:ext cx="207932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99499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Merging </a:t>
            </a:r>
            <a:r>
              <a:rPr lang="en-ZA" sz="2500" dirty="0"/>
              <a:t>datasets</a:t>
            </a:r>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9" name="ZoneTexte 7"/>
          <p:cNvSpPr txBox="1"/>
          <p:nvPr/>
        </p:nvSpPr>
        <p:spPr>
          <a:xfrm>
            <a:off x="4298878" y="6115332"/>
            <a:ext cx="6646721" cy="461665"/>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DMERGE.SAS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sp>
        <p:nvSpPr>
          <p:cNvPr id="10" name="TextBox 9"/>
          <p:cNvSpPr txBox="1"/>
          <p:nvPr/>
        </p:nvSpPr>
        <p:spPr>
          <a:xfrm>
            <a:off x="635833" y="761548"/>
            <a:ext cx="7874788" cy="923330"/>
          </a:xfrm>
          <a:prstGeom prst="rect">
            <a:avLst/>
          </a:prstGeom>
          <a:noFill/>
        </p:spPr>
        <p:txBody>
          <a:bodyPr wrap="square" rtlCol="0">
            <a:spAutoFit/>
          </a:bodyPr>
          <a:lstStyle/>
          <a:p>
            <a:pPr>
              <a:lnSpc>
                <a:spcPct val="150000"/>
              </a:lnSpc>
              <a:buFont typeface="Arial"/>
              <a:buChar char="•"/>
            </a:pPr>
            <a:r>
              <a:rPr lang="en-GB" sz="1200" dirty="0" smtClean="0">
                <a:latin typeface="Avenir Next Cyr W04 Regular" panose="020B0503020202020204" pitchFamily="34" charset="0"/>
                <a:cs typeface="Book Antiqua"/>
              </a:rPr>
              <a:t> Sort each dataset by the unique identifier.</a:t>
            </a:r>
          </a:p>
          <a:p>
            <a:pPr>
              <a:lnSpc>
                <a:spcPct val="150000"/>
              </a:lnSpc>
              <a:buFont typeface="Arial"/>
              <a:buChar char="•"/>
            </a:pPr>
            <a:r>
              <a:rPr lang="en-GB" sz="1200" dirty="0" smtClean="0">
                <a:latin typeface="Avenir Next Cyr W04 Regular" panose="020B0503020202020204" pitchFamily="34" charset="0"/>
                <a:cs typeface="Book Antiqua"/>
              </a:rPr>
              <a:t>Within a Data step, use MERGE statement along with the BY statement to merge the data by the unique identifier.</a:t>
            </a:r>
            <a:endParaRPr lang="en-GB" sz="1200" dirty="0">
              <a:latin typeface="Avenir Next Cyr W04 Regular" panose="020B0503020202020204" pitchFamily="34" charset="0"/>
              <a:cs typeface="Book Antiqua"/>
            </a:endParaRPr>
          </a:p>
        </p:txBody>
      </p:sp>
      <p:pic>
        <p:nvPicPr>
          <p:cNvPr id="5" name="Picture 4"/>
          <p:cNvPicPr>
            <a:picLocks noChangeAspect="1"/>
          </p:cNvPicPr>
          <p:nvPr/>
        </p:nvPicPr>
        <p:blipFill>
          <a:blip r:embed="rId4"/>
          <a:stretch>
            <a:fillRect/>
          </a:stretch>
        </p:blipFill>
        <p:spPr>
          <a:xfrm>
            <a:off x="3501860" y="2448427"/>
            <a:ext cx="1485900" cy="2276475"/>
          </a:xfrm>
          <a:prstGeom prst="rect">
            <a:avLst/>
          </a:prstGeom>
          <a:noFill/>
          <a:ln>
            <a:solidFill>
              <a:schemeClr val="tx1"/>
            </a:solidFill>
          </a:ln>
        </p:spPr>
      </p:pic>
      <p:pic>
        <p:nvPicPr>
          <p:cNvPr id="7" name="Picture 6"/>
          <p:cNvPicPr>
            <a:picLocks noChangeAspect="1"/>
          </p:cNvPicPr>
          <p:nvPr/>
        </p:nvPicPr>
        <p:blipFill>
          <a:blip r:embed="rId5"/>
          <a:stretch>
            <a:fillRect/>
          </a:stretch>
        </p:blipFill>
        <p:spPr>
          <a:xfrm>
            <a:off x="8110897" y="2448427"/>
            <a:ext cx="1485900" cy="2305050"/>
          </a:xfrm>
          <a:prstGeom prst="rect">
            <a:avLst/>
          </a:prstGeom>
          <a:noFill/>
          <a:ln>
            <a:solidFill>
              <a:schemeClr val="tx1"/>
            </a:solidFill>
          </a:ln>
        </p:spPr>
      </p:pic>
      <p:pic>
        <p:nvPicPr>
          <p:cNvPr id="13" name="Picture 12"/>
          <p:cNvPicPr>
            <a:picLocks noChangeAspect="1"/>
          </p:cNvPicPr>
          <p:nvPr/>
        </p:nvPicPr>
        <p:blipFill>
          <a:blip r:embed="rId6"/>
          <a:stretch>
            <a:fillRect/>
          </a:stretch>
        </p:blipFill>
        <p:spPr>
          <a:xfrm>
            <a:off x="5095297" y="1804467"/>
            <a:ext cx="2642168" cy="3591519"/>
          </a:xfrm>
          <a:prstGeom prst="rect">
            <a:avLst/>
          </a:prstGeom>
          <a:noFill/>
          <a:ln>
            <a:solidFill>
              <a:schemeClr val="tx1"/>
            </a:solidFill>
          </a:ln>
        </p:spPr>
      </p:pic>
      <p:cxnSp>
        <p:nvCxnSpPr>
          <p:cNvPr id="19" name="Straight Arrow Connector 18"/>
          <p:cNvCxnSpPr>
            <a:endCxn id="5" idx="1"/>
          </p:cNvCxnSpPr>
          <p:nvPr/>
        </p:nvCxnSpPr>
        <p:spPr>
          <a:xfrm>
            <a:off x="3128428" y="3586665"/>
            <a:ext cx="3734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13" idx="3"/>
            <a:endCxn id="7" idx="1"/>
          </p:cNvCxnSpPr>
          <p:nvPr/>
        </p:nvCxnSpPr>
        <p:spPr>
          <a:xfrm>
            <a:off x="7737465" y="3600227"/>
            <a:ext cx="373432" cy="7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6" name="Picture 25"/>
          <p:cNvPicPr>
            <a:picLocks noChangeAspect="1"/>
          </p:cNvPicPr>
          <p:nvPr/>
        </p:nvPicPr>
        <p:blipFill>
          <a:blip r:embed="rId7"/>
          <a:stretch>
            <a:fillRect/>
          </a:stretch>
        </p:blipFill>
        <p:spPr>
          <a:xfrm>
            <a:off x="81061" y="1804467"/>
            <a:ext cx="3087931" cy="3591519"/>
          </a:xfrm>
          <a:prstGeom prst="rect">
            <a:avLst/>
          </a:prstGeom>
          <a:noFill/>
          <a:ln>
            <a:solidFill>
              <a:schemeClr val="tx1"/>
            </a:solidFill>
          </a:ln>
        </p:spPr>
      </p:pic>
    </p:spTree>
    <p:extLst>
      <p:ext uri="{BB962C8B-B14F-4D97-AF65-F5344CB8AC3E}">
        <p14:creationId xmlns:p14="http://schemas.microsoft.com/office/powerpoint/2010/main" val="8607854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Merging </a:t>
            </a:r>
            <a:r>
              <a:rPr lang="en-ZA" sz="2500" dirty="0"/>
              <a:t>datasets</a:t>
            </a:r>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ZoneTexte 7"/>
          <p:cNvSpPr txBox="1"/>
          <p:nvPr/>
        </p:nvSpPr>
        <p:spPr>
          <a:xfrm>
            <a:off x="4298878" y="6115332"/>
            <a:ext cx="6646721" cy="461665"/>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DMERGE.SAS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3" name="Picture 2"/>
          <p:cNvPicPr>
            <a:picLocks noChangeAspect="1"/>
          </p:cNvPicPr>
          <p:nvPr/>
        </p:nvPicPr>
        <p:blipFill>
          <a:blip r:embed="rId4"/>
          <a:stretch>
            <a:fillRect/>
          </a:stretch>
        </p:blipFill>
        <p:spPr>
          <a:xfrm>
            <a:off x="5586276" y="2019028"/>
            <a:ext cx="2495550" cy="2581275"/>
          </a:xfrm>
          <a:prstGeom prst="rect">
            <a:avLst/>
          </a:prstGeom>
          <a:noFill/>
          <a:ln>
            <a:solidFill>
              <a:schemeClr val="tx1"/>
            </a:solidFill>
          </a:ln>
        </p:spPr>
      </p:pic>
      <p:pic>
        <p:nvPicPr>
          <p:cNvPr id="4" name="Picture 3"/>
          <p:cNvPicPr>
            <a:picLocks noChangeAspect="1"/>
          </p:cNvPicPr>
          <p:nvPr/>
        </p:nvPicPr>
        <p:blipFill>
          <a:blip r:embed="rId5"/>
          <a:stretch>
            <a:fillRect/>
          </a:stretch>
        </p:blipFill>
        <p:spPr>
          <a:xfrm>
            <a:off x="669486" y="2019028"/>
            <a:ext cx="3818136" cy="2581275"/>
          </a:xfrm>
          <a:prstGeom prst="rect">
            <a:avLst/>
          </a:prstGeom>
          <a:noFill/>
          <a:ln>
            <a:solidFill>
              <a:schemeClr val="tx1"/>
            </a:solidFill>
          </a:ln>
        </p:spPr>
      </p:pic>
      <p:cxnSp>
        <p:nvCxnSpPr>
          <p:cNvPr id="10" name="Straight Arrow Connector 9"/>
          <p:cNvCxnSpPr>
            <a:stCxn id="4" idx="3"/>
            <a:endCxn id="3" idx="1"/>
          </p:cNvCxnSpPr>
          <p:nvPr/>
        </p:nvCxnSpPr>
        <p:spPr>
          <a:xfrm>
            <a:off x="4487622" y="3309666"/>
            <a:ext cx="109865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02515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742950" y="501651"/>
            <a:ext cx="8420100" cy="1470025"/>
          </a:xfrm>
        </p:spPr>
        <p:txBody>
          <a:bodyPr>
            <a:normAutofit/>
          </a:bodyPr>
          <a:lstStyle/>
          <a:p>
            <a:r>
              <a:rPr lang="en-ZA" sz="2400" b="1" dirty="0" smtClean="0">
                <a:solidFill>
                  <a:srgbClr val="A7853E"/>
                </a:solidFill>
                <a:latin typeface="Baskerville Old Face" charset="0"/>
                <a:cs typeface="+mj-cs"/>
              </a:rPr>
              <a:t/>
            </a:r>
            <a:br>
              <a:rPr lang="en-ZA" sz="2400" b="1" dirty="0" smtClean="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1186703" y="2719454"/>
            <a:ext cx="7532594" cy="1077218"/>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0" i="0" u="none" strike="noStrike" kern="1200" cap="none" spc="0" normalizeH="0" baseline="0" noProof="0" dirty="0" smtClean="0">
                <a:ln>
                  <a:noFill/>
                </a:ln>
                <a:solidFill>
                  <a:prstClr val="white"/>
                </a:solidFill>
                <a:effectLst/>
                <a:uLnTx/>
                <a:uFillTx/>
                <a:latin typeface="Calibri"/>
                <a:ea typeface="+mn-ea"/>
                <a:cs typeface="+mn-cs"/>
              </a:rPr>
              <a:t>Study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0" i="0" u="none" strike="noStrike" kern="1200" cap="none" spc="0" normalizeH="0" baseline="0" noProof="0" smtClean="0">
                <a:ln>
                  <a:noFill/>
                </a:ln>
                <a:solidFill>
                  <a:prstClr val="white"/>
                </a:solidFill>
                <a:effectLst/>
                <a:uLnTx/>
                <a:uFillTx/>
                <a:latin typeface="Calibri"/>
                <a:ea typeface="+mn-ea"/>
                <a:cs typeface="+mn-cs"/>
              </a:rPr>
              <a:t>Chapter 4 </a:t>
            </a:r>
            <a:endParaRPr kumimoji="0" lang="en-ZA" sz="3200" b="0" i="0" u="none" strike="noStrike" kern="1200" cap="none" spc="0" normalizeH="0" baseline="0" noProof="0" dirty="0" smtClean="0">
              <a:ln>
                <a:noFill/>
              </a:ln>
              <a:solidFill>
                <a:prstClr val="white"/>
              </a:solidFill>
              <a:effectLst/>
              <a:uLnTx/>
              <a:uFillTx/>
              <a:latin typeface="Calibri"/>
              <a:ea typeface="+mn-ea"/>
              <a:cs typeface="+mn-cs"/>
            </a:endParaRPr>
          </a:p>
        </p:txBody>
      </p:sp>
      <p:sp>
        <p:nvSpPr>
          <p:cNvPr id="4" name="TextBox 3"/>
          <p:cNvSpPr txBox="1"/>
          <p:nvPr/>
        </p:nvSpPr>
        <p:spPr>
          <a:xfrm>
            <a:off x="6702088" y="5220717"/>
            <a:ext cx="3024161" cy="101566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smtClean="0">
                <a:ln w="0"/>
                <a:solidFill>
                  <a:srgbClr val="EEECE1"/>
                </a:solidFill>
                <a:effectLst>
                  <a:innerShdw blurRad="63500" dist="50800" dir="13500000">
                    <a:srgbClr val="000000">
                      <a:alpha val="50000"/>
                    </a:srgbClr>
                  </a:innerShdw>
                </a:effectLst>
                <a:uLnTx/>
                <a:uFillTx/>
                <a:latin typeface="Calibri"/>
                <a:ea typeface="+mn-ea"/>
                <a:cs typeface="+mn-cs"/>
              </a:rPr>
              <a:t>Matthew Valentine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smtClean="0">
                <a:ln w="0"/>
                <a:solidFill>
                  <a:srgbClr val="EEECE1"/>
                </a:solidFill>
                <a:effectLst>
                  <a:innerShdw blurRad="63500" dist="50800" dir="13500000">
                    <a:srgbClr val="000000">
                      <a:alpha val="50000"/>
                    </a:srgbClr>
                  </a:innerShdw>
                </a:effectLst>
                <a:uLnTx/>
                <a:uFillTx/>
                <a:latin typeface="Calibri"/>
                <a:ea typeface="+mn-ea"/>
                <a:cs typeface="+mn-cs"/>
              </a:rPr>
              <a:t>Office: Tech Room Lab K2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smtClean="0">
                <a:ln w="0"/>
                <a:solidFill>
                  <a:srgbClr val="EEECE1"/>
                </a:solidFill>
                <a:effectLst>
                  <a:innerShdw blurRad="63500" dist="50800" dir="13500000">
                    <a:srgbClr val="000000">
                      <a:alpha val="50000"/>
                    </a:srgbClr>
                  </a:innerShdw>
                </a:effectLst>
                <a:uLnTx/>
                <a:uFillTx/>
                <a:latin typeface="Calibri"/>
                <a:ea typeface="+mn-ea"/>
                <a:cs typeface="+mn-cs"/>
              </a:rPr>
              <a:t>Mvalentine@uwc.ac.za</a:t>
            </a:r>
            <a:endParaRPr kumimoji="0" lang="en-ZA" sz="18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endParaRPr>
          </a:p>
        </p:txBody>
      </p:sp>
    </p:spTree>
    <p:extLst>
      <p:ext uri="{BB962C8B-B14F-4D97-AF65-F5344CB8AC3E}">
        <p14:creationId xmlns:p14="http://schemas.microsoft.com/office/powerpoint/2010/main" val="4970395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6006</TotalTime>
  <Words>1360</Words>
  <Application>Microsoft Office PowerPoint</Application>
  <PresentationFormat>A4 Paper (210x297 mm)</PresentationFormat>
  <Paragraphs>170</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Avenir Next Cyr W04 Regular</vt:lpstr>
      <vt:lpstr>Baskerville Old Face</vt:lpstr>
      <vt:lpstr>Book Antiqua</vt:lpstr>
      <vt:lpstr>Calibri</vt:lpstr>
      <vt:lpstr>Courier New</vt:lpstr>
      <vt:lpstr>Office Theme</vt:lpstr>
      <vt:lpstr> </vt:lpstr>
      <vt:lpstr>Labelling and Analysing Variables</vt:lpstr>
      <vt:lpstr>Labelling and Analysing Variables</vt:lpstr>
      <vt:lpstr>Creating new Variables</vt:lpstr>
      <vt:lpstr>Creating new Variables</vt:lpstr>
      <vt:lpstr>PowerPoint Presentation</vt:lpstr>
      <vt:lpstr>SAS Functions</vt:lpstr>
      <vt:lpstr>Using IF-THEN-ELSE Conditional Statement Assignments</vt:lpstr>
      <vt:lpstr>PowerPoint Presentation</vt:lpstr>
      <vt:lpstr>Using IF to assign missing values</vt:lpstr>
      <vt:lpstr>Using DROP and KEEP to select variables</vt:lpstr>
      <vt:lpstr>Using DROP and KEEP to select variables</vt:lpstr>
      <vt:lpstr>Sub-setting data sets</vt:lpstr>
      <vt:lpstr>Using the set statement to read an existing dataset</vt:lpstr>
      <vt:lpstr>Using the set statement to read an existing dataset</vt:lpstr>
      <vt:lpstr>Using PROC SORT</vt:lpstr>
      <vt:lpstr>Using PROC SORT</vt:lpstr>
      <vt:lpstr>Appending datasets</vt:lpstr>
      <vt:lpstr>Merging datasets</vt:lpstr>
      <vt:lpstr>Merging datasets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NDorfling</dc:creator>
  <cp:lastModifiedBy>Matthew Valentine</cp:lastModifiedBy>
  <cp:revision>605</cp:revision>
  <dcterms:created xsi:type="dcterms:W3CDTF">2015-03-11T08:56:03Z</dcterms:created>
  <dcterms:modified xsi:type="dcterms:W3CDTF">2020-04-28T15:25:37Z</dcterms:modified>
</cp:coreProperties>
</file>