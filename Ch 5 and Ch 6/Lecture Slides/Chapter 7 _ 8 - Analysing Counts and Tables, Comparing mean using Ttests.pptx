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366" r:id="rId3"/>
    <p:sldId id="396" r:id="rId4"/>
    <p:sldId id="397" r:id="rId5"/>
    <p:sldId id="398" r:id="rId6"/>
    <p:sldId id="399" r:id="rId7"/>
    <p:sldId id="400" r:id="rId8"/>
    <p:sldId id="401" r:id="rId9"/>
    <p:sldId id="402" r:id="rId10"/>
    <p:sldId id="391" r:id="rId11"/>
  </p:sldIdLst>
  <p:sldSz cx="9906000" cy="6858000" type="A4"/>
  <p:notesSz cx="10409238" cy="72961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4DD034-75F4-5147-85C5-57B72AD43751}">
          <p14:sldIdLst>
            <p14:sldId id="256"/>
            <p14:sldId id="366"/>
            <p14:sldId id="396"/>
            <p14:sldId id="397"/>
            <p14:sldId id="398"/>
            <p14:sldId id="399"/>
            <p14:sldId id="400"/>
            <p14:sldId id="401"/>
            <p14:sldId id="402"/>
            <p14:sldId id="3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hn M" initials="J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59" autoAdjust="0"/>
    <p:restoredTop sz="92374" autoAdjust="0"/>
  </p:normalViewPr>
  <p:slideViewPr>
    <p:cSldViewPr snapToGrid="0" snapToObjects="1">
      <p:cViewPr varScale="1">
        <p:scale>
          <a:sx n="63" d="100"/>
          <a:sy n="63" d="100"/>
        </p:scale>
        <p:origin x="38" y="605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896159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r">
              <a:defRPr sz="1300"/>
            </a:lvl1pPr>
          </a:lstStyle>
          <a:p>
            <a:fld id="{C605BAAB-8757-4FBD-9BED-960688D401C4}" type="datetimeFigureOut">
              <a:rPr lang="en-US" smtClean="0"/>
              <a:pPr/>
              <a:t>3/11/2025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896159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r">
              <a:defRPr sz="1300"/>
            </a:lvl1pPr>
          </a:lstStyle>
          <a:p>
            <a:fld id="{4A9A6402-836E-4507-B641-B01FDFCE6F04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6002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96159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r">
              <a:defRPr sz="1300"/>
            </a:lvl1pPr>
          </a:lstStyle>
          <a:p>
            <a:fld id="{1C2F6879-603E-754B-9B04-8AAE8D479E4C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28975" y="547688"/>
            <a:ext cx="3951288" cy="2735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1169" tIns="50585" rIns="101169" bIns="5058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40924" y="3465671"/>
            <a:ext cx="8327390" cy="3283268"/>
          </a:xfrm>
          <a:prstGeom prst="rect">
            <a:avLst/>
          </a:prstGeom>
        </p:spPr>
        <p:txBody>
          <a:bodyPr vert="horz" lIns="101169" tIns="50585" rIns="101169" bIns="5058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96159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r">
              <a:defRPr sz="1300"/>
            </a:lvl1pPr>
          </a:lstStyle>
          <a:p>
            <a:fld id="{D14C1D86-6F9C-9646-B809-264C58FC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0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95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551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6471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51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1280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1509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064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999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272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5538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7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3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8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8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3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4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8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2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D5889-9C47-1542-89BF-71BA5CAEC00A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Baskerville Old Face"/>
          <a:ea typeface="+mj-ea"/>
          <a:cs typeface="Baskerville Old Face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42950" y="501651"/>
            <a:ext cx="8420100" cy="1470025"/>
          </a:xfrm>
        </p:spPr>
        <p:txBody>
          <a:bodyPr>
            <a:normAutofit/>
          </a:bodyPr>
          <a:lstStyle/>
          <a:p>
            <a:br>
              <a:rPr lang="en-ZA" sz="2400" b="1" dirty="0">
                <a:solidFill>
                  <a:srgbClr val="A7853E"/>
                </a:solidFill>
                <a:latin typeface="Baskerville Old Face" charset="0"/>
                <a:cs typeface="+mj-cs"/>
              </a:rPr>
            </a:br>
            <a:endParaRPr lang="en-ZA" sz="2400" b="1" dirty="0">
              <a:solidFill>
                <a:srgbClr val="A7853E"/>
              </a:solidFill>
              <a:latin typeface="Baskerville Old Face" charset="0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86703" y="2438151"/>
            <a:ext cx="753259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4000">
                <a:solidFill>
                  <a:schemeClr val="bg1"/>
                </a:solidFill>
              </a:rPr>
              <a:t>Chapter 7 &amp; 8</a:t>
            </a:r>
            <a:endParaRPr lang="en-ZA" sz="3200" dirty="0">
              <a:solidFill>
                <a:schemeClr val="bg1"/>
              </a:solidFill>
            </a:endParaRPr>
          </a:p>
          <a:p>
            <a:pPr algn="ctr"/>
            <a:r>
              <a:rPr lang="en-ZA" sz="3200" dirty="0">
                <a:solidFill>
                  <a:schemeClr val="bg1"/>
                </a:solidFill>
              </a:rPr>
              <a:t>Analysing Counts and Tables </a:t>
            </a:r>
          </a:p>
          <a:p>
            <a:pPr algn="ctr"/>
            <a:r>
              <a:rPr lang="en-ZA" sz="3200" dirty="0">
                <a:solidFill>
                  <a:schemeClr val="bg1"/>
                </a:solidFill>
              </a:rPr>
              <a:t>&amp;</a:t>
            </a:r>
          </a:p>
          <a:p>
            <a:pPr algn="ctr"/>
            <a:r>
              <a:rPr lang="en-ZA" sz="3200" dirty="0">
                <a:solidFill>
                  <a:schemeClr val="bg1"/>
                </a:solidFill>
              </a:rPr>
              <a:t> Comparing mean using </a:t>
            </a:r>
            <a:r>
              <a:rPr lang="en-ZA" sz="3200" dirty="0" err="1">
                <a:solidFill>
                  <a:schemeClr val="bg1"/>
                </a:solidFill>
              </a:rPr>
              <a:t>Ttests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02088" y="5220717"/>
            <a:ext cx="3024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Matthew Valentine</a:t>
            </a:r>
          </a:p>
          <a:p>
            <a:r>
              <a:rPr lang="en-ZA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Office: Tech Room Lab K2</a:t>
            </a:r>
          </a:p>
          <a:p>
            <a:r>
              <a:rPr lang="en-ZA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mvalentine@uwc.ac.za</a:t>
            </a:r>
            <a:endParaRPr lang="en-ZA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034921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7"/>
          <p:cNvSpPr txBox="1"/>
          <p:nvPr/>
        </p:nvSpPr>
        <p:spPr>
          <a:xfrm>
            <a:off x="630770" y="1355285"/>
            <a:ext cx="7977753" cy="2452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To be able to use </a:t>
            </a:r>
            <a:r>
              <a:rPr lang="en-GB" sz="1500" b="1" dirty="0">
                <a:latin typeface="Book Antiqua" panose="02040602050305030304" pitchFamily="18" charset="0"/>
                <a:cs typeface="Book Antiqua"/>
              </a:rPr>
              <a:t>PROC FREQ </a:t>
            </a:r>
            <a:r>
              <a:rPr lang="en-GB" sz="1500" dirty="0">
                <a:latin typeface="Book Antiqua" panose="02040602050305030304" pitchFamily="18" charset="0"/>
                <a:cs typeface="Book Antiqua"/>
              </a:rPr>
              <a:t>to create one-way Frequency Tables.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500" dirty="0">
              <a:latin typeface="Book Antiqua" panose="02040602050305030304" pitchFamily="18" charset="0"/>
              <a:cs typeface="Book Antiqua"/>
            </a:endParaRPr>
          </a:p>
          <a:p>
            <a:pPr lvl="1">
              <a:lnSpc>
                <a:spcPct val="150000"/>
              </a:lnSpc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To be able to use </a:t>
            </a:r>
            <a:r>
              <a:rPr lang="en-GB" sz="1500" b="1" dirty="0">
                <a:latin typeface="Book Antiqua" panose="02040602050305030304" pitchFamily="18" charset="0"/>
                <a:cs typeface="Book Antiqua"/>
              </a:rPr>
              <a:t>PROC FREQ </a:t>
            </a:r>
            <a:r>
              <a:rPr lang="en-GB" sz="1500" dirty="0">
                <a:latin typeface="Book Antiqua" panose="02040602050305030304" pitchFamily="18" charset="0"/>
                <a:cs typeface="Book Antiqua"/>
              </a:rPr>
              <a:t>to create two-way Frequency Tables.</a:t>
            </a: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500" dirty="0">
              <a:latin typeface="Book Antiqua"/>
              <a:cs typeface="Book Antiqua"/>
            </a:endParaRPr>
          </a:p>
          <a:p>
            <a:pPr lvl="1">
              <a:lnSpc>
                <a:spcPct val="200000"/>
              </a:lnSpc>
            </a:pPr>
            <a:r>
              <a:rPr lang="en-GB" sz="1500" dirty="0">
                <a:latin typeface="Book Antiqua"/>
                <a:cs typeface="Book Antiqua"/>
              </a:rPr>
              <a:t>How to perform a one sample T-test, a two sample T-test and lastly, a paired T-test using </a:t>
            </a:r>
            <a:r>
              <a:rPr lang="en-GB" sz="1500" b="1" dirty="0">
                <a:latin typeface="Book Antiqua"/>
                <a:cs typeface="Book Antiqua"/>
              </a:rPr>
              <a:t>PROC TTEST.</a:t>
            </a:r>
          </a:p>
        </p:txBody>
      </p:sp>
      <p:sp>
        <p:nvSpPr>
          <p:cNvPr id="5" name="ZoneTexte 10"/>
          <p:cNvSpPr txBox="1"/>
          <p:nvPr/>
        </p:nvSpPr>
        <p:spPr>
          <a:xfrm>
            <a:off x="1613222" y="523443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cap="small" dirty="0">
                <a:solidFill>
                  <a:srgbClr val="342E2B"/>
                </a:solidFill>
                <a:latin typeface="Book Antiqua"/>
                <a:cs typeface="Book Antiqua"/>
              </a:rPr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254137014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ZoneTexte 7"/>
          <p:cNvSpPr txBox="1"/>
          <p:nvPr/>
        </p:nvSpPr>
        <p:spPr>
          <a:xfrm>
            <a:off x="677905" y="1365265"/>
            <a:ext cx="7977753" cy="35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GB" sz="1700" b="1" dirty="0">
                <a:latin typeface="Book Antiqua"/>
                <a:cs typeface="Book Antiqua"/>
              </a:rPr>
              <a:t>What is PROC FREQ useful for ?</a:t>
            </a:r>
          </a:p>
          <a:p>
            <a:pPr lvl="2">
              <a:lnSpc>
                <a:spcPct val="150000"/>
              </a:lnSpc>
            </a:pPr>
            <a:r>
              <a:rPr lang="en-GB" sz="1700" dirty="0">
                <a:latin typeface="Book Antiqua"/>
                <a:cs typeface="Book Antiqua"/>
              </a:rPr>
              <a:t>It’s useful when data that are collected as counts, due to its categorical nature (Qualitative data), PROC FREQ analyses the data using frequency and cross tabulation tables.</a:t>
            </a:r>
          </a:p>
          <a:p>
            <a:pPr lvl="2">
              <a:lnSpc>
                <a:spcPct val="150000"/>
              </a:lnSpc>
            </a:pPr>
            <a:endParaRPr lang="en-GB" sz="1700" dirty="0">
              <a:latin typeface="Book Antiqua"/>
              <a:cs typeface="Book Antiqua"/>
            </a:endParaRPr>
          </a:p>
          <a:p>
            <a:pPr lvl="2">
              <a:lnSpc>
                <a:spcPct val="150000"/>
              </a:lnSpc>
            </a:pPr>
            <a:r>
              <a:rPr lang="en-GB" sz="1700" dirty="0">
                <a:latin typeface="Book Antiqua"/>
                <a:cs typeface="Book Antiqua"/>
              </a:rPr>
              <a:t>It can be used to display frequency counts for one or more single variables or creates two-way tables from two variables.</a:t>
            </a:r>
          </a:p>
          <a:p>
            <a:pPr lvl="2">
              <a:lnSpc>
                <a:spcPct val="150000"/>
              </a:lnSpc>
            </a:pPr>
            <a:endParaRPr lang="en-GB" sz="1700" dirty="0">
              <a:latin typeface="Book Antiqua"/>
              <a:cs typeface="Book Antiqua"/>
            </a:endParaRPr>
          </a:p>
          <a:p>
            <a:pPr lvl="2">
              <a:lnSpc>
                <a:spcPct val="150000"/>
              </a:lnSpc>
            </a:pPr>
            <a:r>
              <a:rPr lang="en-GB" sz="1700" dirty="0">
                <a:latin typeface="Book Antiqua"/>
                <a:cs typeface="Book Antiqua"/>
              </a:rPr>
              <a:t>It also performs types of statistical testing on categorical (Count Data)</a:t>
            </a:r>
          </a:p>
        </p:txBody>
      </p:sp>
      <p:sp>
        <p:nvSpPr>
          <p:cNvPr id="12" name="ZoneTexte 10"/>
          <p:cNvSpPr txBox="1"/>
          <p:nvPr/>
        </p:nvSpPr>
        <p:spPr>
          <a:xfrm>
            <a:off x="1750928" y="555067"/>
            <a:ext cx="60128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cap="small" dirty="0">
                <a:solidFill>
                  <a:srgbClr val="342E2B"/>
                </a:solidFill>
                <a:latin typeface="Book Antiqua"/>
                <a:cs typeface="Book Antiqua"/>
              </a:rPr>
              <a:t>Proc </a:t>
            </a:r>
            <a:r>
              <a:rPr lang="en-GB" sz="2200" b="1" cap="small" dirty="0" err="1">
                <a:solidFill>
                  <a:srgbClr val="342E2B"/>
                </a:solidFill>
                <a:latin typeface="Book Antiqua"/>
                <a:cs typeface="Book Antiqua"/>
              </a:rPr>
              <a:t>Freq</a:t>
            </a:r>
            <a:endParaRPr lang="en-GB" sz="2200" b="1" cap="small" dirty="0">
              <a:solidFill>
                <a:srgbClr val="342E2B"/>
              </a:solidFill>
              <a:latin typeface="Book Antiqu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420078057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ZoneTexte 10"/>
          <p:cNvSpPr txBox="1"/>
          <p:nvPr/>
        </p:nvSpPr>
        <p:spPr>
          <a:xfrm>
            <a:off x="1755186" y="312857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FREQ</a:t>
            </a:r>
          </a:p>
        </p:txBody>
      </p:sp>
      <p:sp>
        <p:nvSpPr>
          <p:cNvPr id="9" name="ZoneTexte 7"/>
          <p:cNvSpPr txBox="1"/>
          <p:nvPr/>
        </p:nvSpPr>
        <p:spPr>
          <a:xfrm>
            <a:off x="0" y="868933"/>
            <a:ext cx="960586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just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600" b="1" u="sng" dirty="0">
                <a:latin typeface="Book Antiqua"/>
                <a:cs typeface="Book Antiqua"/>
              </a:rPr>
              <a:t>The most commonly used &lt;Options&gt; in PROC FREQ are:</a:t>
            </a:r>
          </a:p>
          <a:p>
            <a:pPr marR="0" lvl="1" algn="just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600" dirty="0">
                <a:latin typeface="Book Antiqua"/>
                <a:cs typeface="Book Antiqua"/>
              </a:rPr>
              <a:t>	DATA - Specifies the dataset in use.</a:t>
            </a:r>
          </a:p>
          <a:p>
            <a:pPr marR="0" lvl="1" algn="just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600" dirty="0">
                <a:latin typeface="Book Antiqua"/>
                <a:cs typeface="Book Antiqua"/>
              </a:rPr>
              <a:t>	ORDER = DATA, FORMATTED &amp; FREQ – specifies the order in which the results will be 	listed within the Output.</a:t>
            </a:r>
          </a:p>
          <a:p>
            <a:pPr lvl="1" algn="just">
              <a:lnSpc>
                <a:spcPct val="200000"/>
              </a:lnSpc>
              <a:defRPr/>
            </a:pPr>
            <a:r>
              <a:rPr lang="en-GB" sz="1600" b="1" u="sng" dirty="0">
                <a:latin typeface="Book Antiqua"/>
                <a:cs typeface="Book Antiqua"/>
              </a:rPr>
              <a:t>The most commonly used &lt;Statements&gt; in PROC FREQ:</a:t>
            </a:r>
          </a:p>
          <a:p>
            <a:pPr lvl="1" algn="just">
              <a:lnSpc>
                <a:spcPct val="200000"/>
              </a:lnSpc>
              <a:defRPr/>
            </a:pPr>
            <a:r>
              <a:rPr lang="en-GB" sz="1600" dirty="0">
                <a:latin typeface="Book Antiqua"/>
                <a:cs typeface="Book Antiqua"/>
              </a:rPr>
              <a:t>	BY – the by statement produces tables for each group within the categorical variable.</a:t>
            </a:r>
          </a:p>
          <a:p>
            <a:pPr lvl="1" algn="just">
              <a:lnSpc>
                <a:spcPct val="200000"/>
              </a:lnSpc>
              <a:defRPr/>
            </a:pPr>
            <a:r>
              <a:rPr lang="en-GB" sz="1600" dirty="0">
                <a:latin typeface="Book Antiqua"/>
                <a:cs typeface="Book Antiqua"/>
              </a:rPr>
              <a:t>	WEIGHT </a:t>
            </a:r>
            <a:r>
              <a:rPr lang="en-GB" sz="1600" b="1" dirty="0">
                <a:latin typeface="Book Antiqua"/>
                <a:cs typeface="Book Antiqua"/>
              </a:rPr>
              <a:t>– </a:t>
            </a:r>
            <a:r>
              <a:rPr lang="en-GB" sz="1600" dirty="0">
                <a:latin typeface="Book Antiqua"/>
                <a:cs typeface="Book Antiqua"/>
              </a:rPr>
              <a:t>SAS identifies the variable that produces the count data</a:t>
            </a:r>
          </a:p>
          <a:p>
            <a:pPr lvl="1" algn="just">
              <a:lnSpc>
                <a:spcPct val="200000"/>
              </a:lnSpc>
              <a:defRPr/>
            </a:pPr>
            <a:r>
              <a:rPr lang="en-GB" sz="1600" b="1" u="sng" dirty="0">
                <a:latin typeface="Book Antiqua"/>
                <a:cs typeface="Book Antiqua"/>
              </a:rPr>
              <a:t>The most commonly used &lt;Options&gt; in TABLES statement are:</a:t>
            </a:r>
          </a:p>
        </p:txBody>
      </p:sp>
      <p:sp>
        <p:nvSpPr>
          <p:cNvPr id="16" name="ZoneTexte 7"/>
          <p:cNvSpPr txBox="1"/>
          <p:nvPr/>
        </p:nvSpPr>
        <p:spPr>
          <a:xfrm>
            <a:off x="4344093" y="5794446"/>
            <a:ext cx="6139609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200000"/>
              </a:lnSpc>
              <a:defRPr/>
            </a:pPr>
            <a:r>
              <a:rPr lang="en-GB" sz="1200" dirty="0">
                <a:latin typeface="Book Antiqua"/>
                <a:cs typeface="Book Antiqua"/>
              </a:rPr>
              <a:t>Example: In the editor window, open the file </a:t>
            </a:r>
            <a:r>
              <a:rPr lang="en-GB" sz="1200" b="1" dirty="0">
                <a:solidFill>
                  <a:srgbClr val="FF0000"/>
                </a:solidFill>
                <a:latin typeface="Book Antiqua"/>
                <a:cs typeface="Book Antiqua"/>
              </a:rPr>
              <a:t>AFREQ1.SAS</a:t>
            </a:r>
            <a:endParaRPr lang="en-GB" sz="1200" b="1" i="1" dirty="0">
              <a:solidFill>
                <a:srgbClr val="FF0000"/>
              </a:solidFill>
              <a:latin typeface="Book Antiqua"/>
              <a:cs typeface="Book Antiqua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119174"/>
              </p:ext>
            </p:extLst>
          </p:nvPr>
        </p:nvGraphicFramePr>
        <p:xfrm>
          <a:off x="1057094" y="5182772"/>
          <a:ext cx="494118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0593">
                  <a:extLst>
                    <a:ext uri="{9D8B030D-6E8A-4147-A177-3AD203B41FA5}">
                      <a16:colId xmlns:a16="http://schemas.microsoft.com/office/drawing/2014/main" val="3208070964"/>
                    </a:ext>
                  </a:extLst>
                </a:gridCol>
                <a:gridCol w="2470593">
                  <a:extLst>
                    <a:ext uri="{9D8B030D-6E8A-4147-A177-3AD203B41FA5}">
                      <a16:colId xmlns:a16="http://schemas.microsoft.com/office/drawing/2014/main" val="3427159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tx1"/>
                          </a:solidFill>
                        </a:rPr>
                        <a:t>NCOL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tx1"/>
                          </a:solidFill>
                        </a:rPr>
                        <a:t>NOPERCENT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85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tx1"/>
                          </a:solidFill>
                        </a:rPr>
                        <a:t>NOCUM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b="1" dirty="0">
                          <a:solidFill>
                            <a:schemeClr val="tx1"/>
                          </a:solidFill>
                        </a:rPr>
                        <a:t>CHISQ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055392"/>
                  </a:ext>
                </a:extLst>
              </a:tr>
            </a:tbl>
          </a:graphicData>
        </a:graphic>
      </p:graphicFrame>
      <p:sp>
        <p:nvSpPr>
          <p:cNvPr id="10" name="ZoneTexte 7"/>
          <p:cNvSpPr txBox="1"/>
          <p:nvPr/>
        </p:nvSpPr>
        <p:spPr>
          <a:xfrm>
            <a:off x="4344092" y="6023956"/>
            <a:ext cx="6139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200000"/>
              </a:lnSpc>
              <a:defRPr/>
            </a:pPr>
            <a:r>
              <a:rPr lang="en-GB" sz="1200" dirty="0">
                <a:latin typeface="Book Antiqua"/>
                <a:cs typeface="Book Antiqua"/>
              </a:rPr>
              <a:t>Example: In the editor window, open the file </a:t>
            </a:r>
            <a:r>
              <a:rPr lang="en-GB" sz="1200" b="1" dirty="0">
                <a:solidFill>
                  <a:srgbClr val="FF0000"/>
                </a:solidFill>
                <a:latin typeface="Book Antiqua"/>
                <a:cs typeface="Book Antiqua"/>
              </a:rPr>
              <a:t>AFREQ2.SAS</a:t>
            </a:r>
            <a:endParaRPr lang="en-GB" sz="1200" b="1" i="1" dirty="0">
              <a:solidFill>
                <a:srgbClr val="FF0000"/>
              </a:solidFill>
              <a:latin typeface="Book Antiqu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5310072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10"/>
          <p:cNvSpPr txBox="1"/>
          <p:nvPr/>
        </p:nvSpPr>
        <p:spPr>
          <a:xfrm>
            <a:off x="1750928" y="555067"/>
            <a:ext cx="60128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</a:t>
            </a:r>
            <a:r>
              <a:rPr kumimoji="0" lang="en-GB" sz="2200" b="1" i="0" u="none" strike="noStrike" kern="1200" cap="small" spc="0" normalizeH="0" baseline="0" noProof="0" dirty="0" err="1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Freq</a:t>
            </a:r>
            <a:endParaRPr kumimoji="0" lang="en-GB" sz="22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7" name="ZoneTexte 7"/>
          <p:cNvSpPr txBox="1"/>
          <p:nvPr/>
        </p:nvSpPr>
        <p:spPr>
          <a:xfrm>
            <a:off x="976792" y="661291"/>
            <a:ext cx="7977753" cy="49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b="1" u="sng" noProof="0" dirty="0">
                <a:solidFill>
                  <a:prstClr val="black"/>
                </a:solidFill>
                <a:latin typeface="Book Antiqua"/>
                <a:cs typeface="Book Antiqua"/>
              </a:rPr>
              <a:t>Analysing frequency tables and Testing Goodness-of-Fit in a One-Way Table:</a:t>
            </a:r>
            <a:endParaRPr kumimoji="0" lang="en-GB" sz="15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188188" y="1146142"/>
            <a:ext cx="51383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2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600" b="1" dirty="0">
                <a:latin typeface="Book Antiqua"/>
                <a:cs typeface="Book Antiqua"/>
              </a:rPr>
              <a:t>PROC FREQ DATA = SAS DATASET &lt;Options&gt;;</a:t>
            </a:r>
          </a:p>
          <a:p>
            <a:pPr marR="0" lvl="2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600" b="1" dirty="0">
                <a:latin typeface="Book Antiqua"/>
                <a:cs typeface="Book Antiqua"/>
              </a:rPr>
              <a:t>TABLES Table-Request &lt;/Options&gt;;</a:t>
            </a:r>
          </a:p>
          <a:p>
            <a:pPr marR="0" lvl="2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600" b="1" dirty="0">
                <a:latin typeface="Book Antiqua"/>
                <a:cs typeface="Book Antiqua"/>
              </a:rPr>
              <a:t>RUN;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805925"/>
              </p:ext>
            </p:extLst>
          </p:nvPr>
        </p:nvGraphicFramePr>
        <p:xfrm>
          <a:off x="3136641" y="1171754"/>
          <a:ext cx="3658051" cy="1113845"/>
        </p:xfrm>
        <a:graphic>
          <a:graphicData uri="http://schemas.openxmlformats.org/drawingml/2006/table">
            <a:tbl>
              <a:tblPr/>
              <a:tblGrid>
                <a:gridCol w="3658051">
                  <a:extLst>
                    <a:ext uri="{9D8B030D-6E8A-4147-A177-3AD203B41FA5}">
                      <a16:colId xmlns:a16="http://schemas.microsoft.com/office/drawing/2014/main" val="671865307"/>
                    </a:ext>
                  </a:extLst>
                </a:gridCol>
              </a:tblGrid>
              <a:tr h="1113845">
                <a:tc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745365"/>
                  </a:ext>
                </a:extLst>
              </a:tr>
            </a:tbl>
          </a:graphicData>
        </a:graphic>
      </p:graphicFrame>
      <p:sp>
        <p:nvSpPr>
          <p:cNvPr id="10" name="ZoneTexte 7"/>
          <p:cNvSpPr txBox="1"/>
          <p:nvPr/>
        </p:nvSpPr>
        <p:spPr>
          <a:xfrm>
            <a:off x="-176857" y="2492729"/>
            <a:ext cx="10147618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b="1" u="sng" dirty="0">
                <a:latin typeface="Book Antiqua"/>
                <a:cs typeface="Book Antiqua"/>
              </a:rPr>
              <a:t>Here are a few commonly used TABLES &lt;/Options&gt;: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>
                <a:latin typeface="Book Antiqua"/>
                <a:cs typeface="Book Antiqua"/>
              </a:rPr>
              <a:t>	PLOTS(ONLY)=FREQPLOT(SCALE=PERCENT) – creates a frequency plot with 	percentage as the vertical axis. 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>
                <a:latin typeface="Book Antiqua"/>
                <a:cs typeface="Book Antiqua"/>
              </a:rPr>
              <a:t>	NOCOL – Removes the cumulative percentages for each cell.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>
                <a:latin typeface="Book Antiqua"/>
                <a:cs typeface="Book Antiqua"/>
              </a:rPr>
              <a:t>	NOCUM – Removes the cumulative frequency count for each cell.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>
                <a:latin typeface="Book Antiqua"/>
                <a:cs typeface="Book Antiqua"/>
              </a:rPr>
              <a:t>	MISSING – Requests that SAS Identify missing values as Non-Missing.</a:t>
            </a:r>
          </a:p>
          <a:p>
            <a:pPr marR="0" lvl="1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>
                <a:latin typeface="Book Antiqua"/>
                <a:cs typeface="Book Antiqua"/>
              </a:rPr>
              <a:t>	WEIGHT – Identifies a weight variable that contains summarized counts</a:t>
            </a:r>
          </a:p>
          <a:p>
            <a:pPr lvl="1">
              <a:lnSpc>
                <a:spcPct val="150000"/>
              </a:lnSpc>
              <a:defRPr/>
            </a:pPr>
            <a:r>
              <a:rPr lang="en-GB" sz="1400" dirty="0">
                <a:latin typeface="Book Antiqua"/>
                <a:cs typeface="Book Antiqua"/>
              </a:rPr>
              <a:t>	CHISQ  TESTP = </a:t>
            </a:r>
            <a:r>
              <a:rPr lang="en-GB" sz="1400" i="1" dirty="0">
                <a:latin typeface="Book Antiqua"/>
                <a:cs typeface="Book Antiqua"/>
              </a:rPr>
              <a:t>(List Of Ratio’s)</a:t>
            </a:r>
            <a:r>
              <a:rPr lang="en-GB" sz="1400" dirty="0">
                <a:latin typeface="Book Antiqua"/>
                <a:cs typeface="Book Antiqua"/>
              </a:rPr>
              <a:t>– Creates a Chi-Square test</a:t>
            </a:r>
          </a:p>
        </p:txBody>
      </p:sp>
      <p:sp>
        <p:nvSpPr>
          <p:cNvPr id="12" name="ZoneTexte 7"/>
          <p:cNvSpPr txBox="1"/>
          <p:nvPr/>
        </p:nvSpPr>
        <p:spPr>
          <a:xfrm>
            <a:off x="3175800" y="6100435"/>
            <a:ext cx="10489242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200000"/>
              </a:lnSpc>
              <a:defRPr/>
            </a:pPr>
            <a:r>
              <a:rPr lang="en-GB" sz="1200" dirty="0">
                <a:latin typeface="Book Antiqua"/>
                <a:cs typeface="Book Antiqua"/>
              </a:rPr>
              <a:t>Example: In the editor window, open the file</a:t>
            </a:r>
            <a:r>
              <a:rPr lang="en-GB" sz="1200" b="1" dirty="0">
                <a:solidFill>
                  <a:srgbClr val="FF0000"/>
                </a:solidFill>
                <a:latin typeface="Book Antiqua"/>
                <a:cs typeface="Book Antiqua"/>
              </a:rPr>
              <a:t> AFREQ3.SAS &amp; AFREQ4.SAS</a:t>
            </a:r>
            <a:endParaRPr lang="en-GB" sz="1200" b="1" i="1" dirty="0">
              <a:solidFill>
                <a:srgbClr val="FF0000"/>
              </a:solidFill>
              <a:latin typeface="Book Antiqua"/>
              <a:cs typeface="Book Antiqu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70494" y="4791028"/>
            <a:ext cx="2452916" cy="463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400" b="1" u="sng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Chi-Square hypothesis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005562" y="5116590"/>
                <a:ext cx="5920210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1400" b="1" i="1" smtClean="0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ZA" sz="1400" b="1" i="1" smtClean="0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𝑻𝒉𝒆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𝒑𝒐𝒑𝒖𝒍𝒂𝒕𝒊𝒐𝒏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𝒇𝒐𝒍𝒍𝒐𝒘𝒔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𝒉𝒚𝒑𝒐𝒕𝒉𝒆𝒔𝒊𝒛𝒆𝒅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𝒅𝒊𝒔𝒕𝒓𝒊𝒃𝒖𝒕𝒊𝒐𝒏</m:t>
                      </m:r>
                    </m:oMath>
                  </m:oMathPara>
                </a14:m>
                <a:endParaRPr lang="en-GB" sz="1400" b="1" dirty="0">
                  <a:solidFill>
                    <a:srgbClr val="342E2B"/>
                  </a:solidFill>
                  <a:latin typeface="Century Gothic" panose="020B0502020202020204" pitchFamily="34" charset="0"/>
                  <a:cs typeface="Book Antiqua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1400" b="1" i="1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ZA" sz="1400" b="1" i="1" smtClean="0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ZA" sz="1400" b="1" i="1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𝑻𝒉𝒆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𝒑𝒐𝒑𝒖𝒍𝒂𝒕𝒊𝒐𝒏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𝒅𝒐𝒆𝒔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𝒏𝒐𝒕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𝒇𝒐𝒍𝒍𝒐𝒘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𝒉𝒚𝒑𝒐𝒕𝒉𝒆𝒔𝒊𝒛𝒆𝒅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𝒅𝒊𝒔𝒕𝒓𝒊𝒃𝒖𝒕𝒊𝒐𝒏</m:t>
                      </m:r>
                    </m:oMath>
                  </m:oMathPara>
                </a14:m>
                <a:endParaRPr lang="en-GB" sz="1400" b="1" dirty="0">
                  <a:solidFill>
                    <a:srgbClr val="342E2B"/>
                  </a:solidFill>
                  <a:latin typeface="Century Gothic" panose="020B0502020202020204" pitchFamily="34" charset="0"/>
                  <a:cs typeface="Book Antiqua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562" y="5116590"/>
                <a:ext cx="5920210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82040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21269" y="10399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4202256" y="4790399"/>
            <a:ext cx="2452916" cy="463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400" b="1" u="sng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Chi-Square hypothesis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634222" y="5102317"/>
                <a:ext cx="3573414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 smtClean="0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1400" b="1" i="1" smtClean="0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ZA" sz="1400" b="1" i="1" smtClean="0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𝑻𝒉𝒆𝒓𝒆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𝒊𝒔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𝒏𝒐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𝒂𝒔𝒔𝒐𝒄𝒊𝒂𝒕𝒊𝒐𝒏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𝒃𝒆𝒕𝒘𝒆𝒆𝒏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GB" sz="1400" b="1" dirty="0">
                  <a:solidFill>
                    <a:srgbClr val="342E2B"/>
                  </a:solidFill>
                  <a:latin typeface="Century Gothic" panose="020B0502020202020204" pitchFamily="34" charset="0"/>
                  <a:cs typeface="Book Antiqua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1" i="1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sz="1400" b="1" i="1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ZA" sz="1400" b="1" i="1" smtClean="0">
                              <a:solidFill>
                                <a:srgbClr val="342E2B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ZA" sz="1400" b="1" i="1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𝑻𝒉𝒆𝒓𝒆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𝒂𝒏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𝒂𝒔𝒔𝒐𝒄𝒊𝒂𝒕𝒊𝒐𝒏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𝒃𝒆𝒕𝒘𝒆𝒆𝒏</m:t>
                      </m:r>
                      <m:r>
                        <a:rPr lang="en-ZA" sz="1400" b="1" i="1" smtClean="0">
                          <a:solidFill>
                            <a:srgbClr val="342E2B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GB" sz="1400" b="1" dirty="0">
                  <a:solidFill>
                    <a:srgbClr val="342E2B"/>
                  </a:solidFill>
                  <a:latin typeface="Century Gothic" panose="020B0502020202020204" pitchFamily="34" charset="0"/>
                  <a:cs typeface="Book Antiqua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222" y="5102317"/>
                <a:ext cx="3573414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10"/>
          <p:cNvSpPr txBox="1"/>
          <p:nvPr/>
        </p:nvSpPr>
        <p:spPr>
          <a:xfrm>
            <a:off x="1942090" y="235170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cap="small" dirty="0">
                <a:solidFill>
                  <a:srgbClr val="342E2B"/>
                </a:solidFill>
                <a:latin typeface="Book Antiqua"/>
                <a:cs typeface="Book Antiqua"/>
              </a:rPr>
              <a:t>Proc </a:t>
            </a:r>
            <a:r>
              <a:rPr lang="en-GB" sz="2000" b="1" cap="small" dirty="0" err="1">
                <a:solidFill>
                  <a:srgbClr val="342E2B"/>
                </a:solidFill>
                <a:latin typeface="Book Antiqua"/>
                <a:cs typeface="Book Antiqua"/>
              </a:rPr>
              <a:t>Freq</a:t>
            </a:r>
            <a:endParaRPr lang="en-GB" sz="2000" b="1" cap="small" dirty="0">
              <a:solidFill>
                <a:srgbClr val="342E2B"/>
              </a:solidFill>
              <a:latin typeface="Book Antiqua"/>
              <a:cs typeface="Book Antiqua"/>
            </a:endParaRPr>
          </a:p>
        </p:txBody>
      </p:sp>
      <p:sp>
        <p:nvSpPr>
          <p:cNvPr id="9" name="ZoneTexte 7"/>
          <p:cNvSpPr txBox="1"/>
          <p:nvPr/>
        </p:nvSpPr>
        <p:spPr>
          <a:xfrm>
            <a:off x="3199459" y="6072485"/>
            <a:ext cx="10489242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200000"/>
              </a:lnSpc>
              <a:defRPr/>
            </a:pPr>
            <a:r>
              <a:rPr lang="en-GB" sz="1200" dirty="0">
                <a:latin typeface="Book Antiqua"/>
                <a:cs typeface="Book Antiqua"/>
              </a:rPr>
              <a:t>Example: In the editor window, open the file </a:t>
            </a:r>
            <a:r>
              <a:rPr lang="en-GB" sz="1200" b="1" dirty="0">
                <a:solidFill>
                  <a:srgbClr val="FF0000"/>
                </a:solidFill>
                <a:latin typeface="Book Antiqua"/>
                <a:cs typeface="Book Antiqua"/>
              </a:rPr>
              <a:t>AFREQ5.SAS &amp; AFREQ6.SAS </a:t>
            </a:r>
            <a:endParaRPr lang="en-GB" sz="1200" b="1" i="1" dirty="0">
              <a:solidFill>
                <a:srgbClr val="FF0000"/>
              </a:solidFill>
              <a:latin typeface="Book Antiqua"/>
              <a:cs typeface="Book Antiqu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74612" y="442326"/>
            <a:ext cx="3318537" cy="463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400" b="1" u="sng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Analysing two-way Frequency Tables: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590828"/>
              </p:ext>
            </p:extLst>
          </p:nvPr>
        </p:nvGraphicFramePr>
        <p:xfrm>
          <a:off x="3508629" y="1007168"/>
          <a:ext cx="3450478" cy="987463"/>
        </p:xfrm>
        <a:graphic>
          <a:graphicData uri="http://schemas.openxmlformats.org/drawingml/2006/table">
            <a:tbl>
              <a:tblPr/>
              <a:tblGrid>
                <a:gridCol w="3450478">
                  <a:extLst>
                    <a:ext uri="{9D8B030D-6E8A-4147-A177-3AD203B41FA5}">
                      <a16:colId xmlns:a16="http://schemas.microsoft.com/office/drawing/2014/main" val="671865307"/>
                    </a:ext>
                  </a:extLst>
                </a:gridCol>
              </a:tblGrid>
              <a:tr h="987463">
                <a:tc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745365"/>
                  </a:ext>
                </a:extLst>
              </a:tr>
            </a:tbl>
          </a:graphicData>
        </a:graphic>
      </p:graphicFrame>
      <p:sp>
        <p:nvSpPr>
          <p:cNvPr id="13" name="ZoneTexte 7"/>
          <p:cNvSpPr txBox="1"/>
          <p:nvPr/>
        </p:nvSpPr>
        <p:spPr>
          <a:xfrm>
            <a:off x="2564716" y="1008548"/>
            <a:ext cx="51383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2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b="1" dirty="0">
                <a:latin typeface="Book Antiqua"/>
                <a:cs typeface="Book Antiqua"/>
              </a:rPr>
              <a:t>PROC FREQ DATA = SAS DATASET &lt;Options&gt;;</a:t>
            </a:r>
          </a:p>
          <a:p>
            <a:pPr marR="0" lvl="2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b="1" dirty="0">
                <a:latin typeface="Book Antiqua"/>
                <a:cs typeface="Book Antiqua"/>
              </a:rPr>
              <a:t>TABLES A*B &lt;/Options&gt;; </a:t>
            </a:r>
          </a:p>
          <a:p>
            <a:pPr marR="0" lvl="2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500" b="1" dirty="0">
                <a:latin typeface="Book Antiqua"/>
                <a:cs typeface="Book Antiqua"/>
              </a:rPr>
              <a:t>RUN;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36" y="2081441"/>
            <a:ext cx="976795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dirty="0">
                <a:latin typeface="Book Antiqua" panose="02040602050305030304" pitchFamily="18" charset="0"/>
                <a:cs typeface="Book Antiqua"/>
              </a:rPr>
              <a:t>To create a cross tabulation for relating two variables, above indicates the TABLE statement with both variables identified and separated by and (*).</a:t>
            </a:r>
          </a:p>
          <a:p>
            <a:pPr>
              <a:lnSpc>
                <a:spcPct val="150000"/>
              </a:lnSpc>
            </a:pPr>
            <a:endParaRPr lang="en-GB" sz="1400" dirty="0">
              <a:latin typeface="Book Antiqua" panose="02040602050305030304" pitchFamily="18" charset="0"/>
              <a:cs typeface="Book Antiqua"/>
            </a:endParaRPr>
          </a:p>
          <a:p>
            <a:pPr>
              <a:lnSpc>
                <a:spcPct val="150000"/>
              </a:lnSpc>
            </a:pPr>
            <a:r>
              <a:rPr lang="en-GB" sz="1400" dirty="0">
                <a:latin typeface="Book Antiqua" panose="02040602050305030304" pitchFamily="18" charset="0"/>
                <a:cs typeface="Book Antiqua"/>
              </a:rPr>
              <a:t>The cross tabulation is calculated by counting the number of occurrences within a sample across two grouping variables.</a:t>
            </a:r>
          </a:p>
          <a:p>
            <a:pPr>
              <a:lnSpc>
                <a:spcPct val="150000"/>
              </a:lnSpc>
            </a:pPr>
            <a:endParaRPr lang="en-GB" sz="1400" dirty="0">
              <a:latin typeface="Book Antiqua" panose="02040602050305030304" pitchFamily="18" charset="0"/>
              <a:cs typeface="Book Antiqua"/>
            </a:endParaRPr>
          </a:p>
          <a:p>
            <a:pPr>
              <a:lnSpc>
                <a:spcPct val="150000"/>
              </a:lnSpc>
            </a:pPr>
            <a:r>
              <a:rPr lang="en-GB" sz="1400" dirty="0">
                <a:latin typeface="Book Antiqua" panose="02040602050305030304" pitchFamily="18" charset="0"/>
                <a:cs typeface="Book Antiqua"/>
              </a:rPr>
              <a:t>Where the A Variable (results as the Rows) and B Variable (results as the Columns) within the SAS Output.</a:t>
            </a:r>
          </a:p>
          <a:p>
            <a:pPr>
              <a:lnSpc>
                <a:spcPct val="150000"/>
              </a:lnSpc>
            </a:pPr>
            <a:endParaRPr lang="en-GB" sz="1400" dirty="0">
              <a:latin typeface="Book Antiqua" panose="02040602050305030304" pitchFamily="18" charset="0"/>
              <a:cs typeface="Book Antiqua"/>
            </a:endParaRPr>
          </a:p>
          <a:p>
            <a:pPr>
              <a:lnSpc>
                <a:spcPct val="150000"/>
              </a:lnSpc>
            </a:pPr>
            <a:endParaRPr lang="en-GB" sz="1400" dirty="0">
              <a:latin typeface="Book Antiqua" panose="02040602050305030304" pitchFamily="18" charset="0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44003183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10"/>
          <p:cNvSpPr txBox="1"/>
          <p:nvPr/>
        </p:nvSpPr>
        <p:spPr>
          <a:xfrm>
            <a:off x="1660358" y="801004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</a:t>
            </a: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 </a:t>
            </a:r>
            <a:r>
              <a:rPr kumimoji="0" lang="en-GB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ttest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7" name="ZoneTexte 7"/>
          <p:cNvSpPr txBox="1"/>
          <p:nvPr/>
        </p:nvSpPr>
        <p:spPr>
          <a:xfrm>
            <a:off x="323487" y="1324245"/>
            <a:ext cx="7977753" cy="3472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What is PROC TTEST useful for ?</a:t>
            </a:r>
          </a:p>
          <a:p>
            <a:pPr lvl="2">
              <a:lnSpc>
                <a:spcPct val="200000"/>
              </a:lnSpc>
            </a:pPr>
            <a:r>
              <a:rPr lang="en-GB" sz="1600" dirty="0">
                <a:latin typeface="Book Antiqua"/>
                <a:cs typeface="Book Antiqua"/>
              </a:rPr>
              <a:t>One sample T-test is often used to compare an observed means with a known value.</a:t>
            </a:r>
          </a:p>
          <a:p>
            <a:pPr lvl="2">
              <a:lnSpc>
                <a:spcPct val="200000"/>
              </a:lnSpc>
            </a:pPr>
            <a:r>
              <a:rPr kumimoji="0" lang="en-GB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Two</a:t>
            </a:r>
            <a:r>
              <a:rPr kumimoji="0" lang="en-GB" sz="16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Book Antiqua"/>
                <a:cs typeface="Book Antiqua"/>
              </a:rPr>
              <a:t> sample T-test is used to test for the equality of means for a two-sample (Independent group).</a:t>
            </a:r>
          </a:p>
          <a:p>
            <a:pPr lvl="2">
              <a:lnSpc>
                <a:spcPct val="200000"/>
              </a:lnSpc>
            </a:pPr>
            <a:r>
              <a:rPr lang="en-GB" sz="1600" dirty="0">
                <a:latin typeface="Book Antiqua"/>
                <a:cs typeface="Book Antiqua"/>
              </a:rPr>
              <a:t>Performing a paired T-test compares two paired groups. </a:t>
            </a:r>
          </a:p>
          <a:p>
            <a:pPr lvl="3">
              <a:lnSpc>
                <a:spcPct val="200000"/>
              </a:lnSpc>
            </a:pPr>
            <a:r>
              <a:rPr lang="en-GB" sz="1600" dirty="0">
                <a:latin typeface="Book Antiqua"/>
                <a:cs typeface="Book Antiqua"/>
              </a:rPr>
              <a:t>Example: (A before and after scenario)</a:t>
            </a:r>
            <a:endParaRPr kumimoji="0" lang="en-GB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 Antiqu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23006958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10"/>
          <p:cNvSpPr txBox="1"/>
          <p:nvPr/>
        </p:nvSpPr>
        <p:spPr>
          <a:xfrm>
            <a:off x="1660358" y="570146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 err="1">
                <a:ln>
                  <a:noFill/>
                </a:ln>
                <a:effectLst/>
                <a:uLnTx/>
                <a:uFillTx/>
                <a:latin typeface="Book Antiqua"/>
                <a:ea typeface="+mn-ea"/>
                <a:cs typeface="Book Antiqua"/>
              </a:rPr>
              <a:t>Proc</a:t>
            </a: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effectLst/>
                <a:uLnTx/>
                <a:uFillTx/>
                <a:latin typeface="Book Antiqua"/>
                <a:ea typeface="+mn-ea"/>
                <a:cs typeface="Book Antiqua"/>
              </a:rPr>
              <a:t> </a:t>
            </a:r>
            <a:r>
              <a:rPr kumimoji="0" lang="en-GB" sz="2000" b="1" i="0" u="none" strike="noStrike" kern="1200" cap="small" spc="0" normalizeH="0" baseline="0" noProof="0" dirty="0" err="1">
                <a:ln>
                  <a:noFill/>
                </a:ln>
                <a:effectLst/>
                <a:uLnTx/>
                <a:uFillTx/>
                <a:latin typeface="Book Antiqua"/>
                <a:ea typeface="+mn-ea"/>
                <a:cs typeface="Book Antiqua"/>
              </a:rPr>
              <a:t>ttest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7" name="ZoneTexte 7"/>
          <p:cNvSpPr txBox="1"/>
          <p:nvPr/>
        </p:nvSpPr>
        <p:spPr>
          <a:xfrm>
            <a:off x="0" y="921208"/>
            <a:ext cx="8956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defRPr/>
            </a:pPr>
            <a:r>
              <a:rPr lang="en-GB" sz="1400" b="1" u="sng" dirty="0">
                <a:latin typeface="Book Antiqua"/>
                <a:cs typeface="Book Antiqua"/>
              </a:rPr>
              <a:t>The syntax for Performing a one-sample T-test with PROC TTEST and PROC UNIVARIATE: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 Antiqua"/>
              <a:cs typeface="Book Antiqua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724859" y="1370839"/>
            <a:ext cx="3883844" cy="1792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1300" b="1" dirty="0">
                <a:latin typeface="Book Antiqua"/>
                <a:cs typeface="Book Antiqua"/>
              </a:rPr>
              <a:t>	PROC UNIVARIATE MU0 = value;</a:t>
            </a:r>
          </a:p>
          <a:p>
            <a:pPr lvl="2"/>
            <a:r>
              <a:rPr lang="en-GB" sz="1300" b="1" dirty="0">
                <a:latin typeface="Book Antiqua"/>
                <a:cs typeface="Book Antiqua"/>
              </a:rPr>
              <a:t>	VAR variable;</a:t>
            </a:r>
          </a:p>
          <a:p>
            <a:pPr lvl="1"/>
            <a:r>
              <a:rPr lang="en-GB" sz="1300" b="1" dirty="0">
                <a:latin typeface="Book Antiqua"/>
                <a:cs typeface="Book Antiqua"/>
              </a:rPr>
              <a:t>	RUN;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1300" b="1" dirty="0">
              <a:latin typeface="Book Antiqua"/>
              <a:cs typeface="Book Antiqua"/>
            </a:endParaRPr>
          </a:p>
          <a:p>
            <a:pPr lvl="1"/>
            <a:r>
              <a:rPr lang="en-GB" sz="1300" b="1" dirty="0">
                <a:latin typeface="Book Antiqua"/>
                <a:cs typeface="Book Antiqua"/>
              </a:rPr>
              <a:t>	PROC TTEST DATA H0 = value;</a:t>
            </a:r>
          </a:p>
          <a:p>
            <a:pPr lvl="2"/>
            <a:r>
              <a:rPr lang="en-GB" sz="1300" b="1" dirty="0">
                <a:latin typeface="Book Antiqua"/>
                <a:cs typeface="Book Antiqua"/>
              </a:rPr>
              <a:t>	VAR variable;</a:t>
            </a:r>
          </a:p>
          <a:p>
            <a:pPr lvl="1"/>
            <a:r>
              <a:rPr lang="en-GB" sz="1300" b="1" dirty="0">
                <a:latin typeface="Book Antiqua"/>
                <a:cs typeface="Book Antiqua"/>
              </a:rPr>
              <a:t>	RUN;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300" b="1" dirty="0">
              <a:latin typeface="Book Antiqua"/>
              <a:cs typeface="Book Antiqua"/>
            </a:endParaRPr>
          </a:p>
        </p:txBody>
      </p:sp>
      <p:sp>
        <p:nvSpPr>
          <p:cNvPr id="9" name="ZoneTexte 7"/>
          <p:cNvSpPr txBox="1"/>
          <p:nvPr/>
        </p:nvSpPr>
        <p:spPr>
          <a:xfrm>
            <a:off x="-444932" y="3162533"/>
            <a:ext cx="929670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defRPr/>
            </a:pPr>
            <a:r>
              <a:rPr lang="en-GB" sz="1600" b="1" u="sng" dirty="0">
                <a:latin typeface="Book Antiqua"/>
                <a:cs typeface="Book Antiqua"/>
              </a:rPr>
              <a:t>The syntax for the PROC TTEST Performing a two-sample T-test:</a:t>
            </a:r>
          </a:p>
          <a:p>
            <a:pPr lvl="2">
              <a:defRPr/>
            </a:pPr>
            <a:endParaRPr lang="en-GB" sz="1600" u="sng" dirty="0">
              <a:latin typeface="Book Antiqua"/>
              <a:cs typeface="Book Antiqua"/>
            </a:endParaRPr>
          </a:p>
          <a:p>
            <a:pPr lvl="2">
              <a:defRPr/>
            </a:pPr>
            <a:r>
              <a:rPr lang="en-GB" sz="1600" dirty="0">
                <a:latin typeface="Book Antiqua"/>
                <a:cs typeface="Book Antiqua"/>
              </a:rPr>
              <a:t>	PROC TTEST &lt;/Options&gt;; CLASS variable; &lt;Statement&gt;;</a:t>
            </a:r>
          </a:p>
          <a:p>
            <a:pPr lvl="2">
              <a:defRPr/>
            </a:pPr>
            <a:endParaRPr lang="en-GB" sz="1600" b="1" u="sng" dirty="0">
              <a:latin typeface="Book Antiqua"/>
              <a:cs typeface="Book Antiqua"/>
            </a:endParaRPr>
          </a:p>
          <a:p>
            <a:pPr lvl="2">
              <a:defRPr/>
            </a:pPr>
            <a:endParaRPr lang="en-GB" sz="1600" b="1" u="sng" dirty="0">
              <a:latin typeface="Book Antiqua"/>
              <a:cs typeface="Book Antiqua"/>
            </a:endParaRPr>
          </a:p>
          <a:p>
            <a:pPr lvl="2">
              <a:defRPr/>
            </a:pPr>
            <a:r>
              <a:rPr lang="en-GB" sz="1600" b="1" u="sng" dirty="0">
                <a:latin typeface="Book Antiqua"/>
                <a:cs typeface="Book Antiqua"/>
              </a:rPr>
              <a:t>One Sample </a:t>
            </a:r>
            <a:r>
              <a:rPr lang="en-GB" sz="1600" b="1" u="sng" dirty="0" err="1">
                <a:latin typeface="Book Antiqua"/>
                <a:cs typeface="Book Antiqua"/>
              </a:rPr>
              <a:t>Ttest</a:t>
            </a:r>
            <a:r>
              <a:rPr lang="en-GB" sz="1600" b="1" u="sng" dirty="0">
                <a:latin typeface="Book Antiqua"/>
                <a:cs typeface="Book Antiqua"/>
              </a:rPr>
              <a:t>:</a:t>
            </a:r>
          </a:p>
          <a:p>
            <a:pPr lvl="3">
              <a:lnSpc>
                <a:spcPct val="150000"/>
              </a:lnSpc>
            </a:pPr>
            <a:r>
              <a:rPr lang="en-GB" sz="1600" b="1" dirty="0" err="1">
                <a:latin typeface="Book Antiqua"/>
                <a:cs typeface="Book Antiqua"/>
              </a:rPr>
              <a:t>Ho</a:t>
            </a:r>
            <a:r>
              <a:rPr lang="en-GB" sz="1600" b="1" dirty="0">
                <a:latin typeface="Book Antiqua"/>
                <a:cs typeface="Book Antiqua"/>
              </a:rPr>
              <a:t>: </a:t>
            </a:r>
            <a:r>
              <a:rPr lang="el-GR" sz="1600" b="1" dirty="0">
                <a:latin typeface="Book Antiqua"/>
                <a:cs typeface="Book Antiqua"/>
              </a:rPr>
              <a:t>μ</a:t>
            </a:r>
            <a:r>
              <a:rPr lang="en-ZA" sz="1600" b="1" dirty="0">
                <a:latin typeface="Book Antiqua"/>
                <a:cs typeface="Book Antiqua"/>
              </a:rPr>
              <a:t> = </a:t>
            </a:r>
            <a:r>
              <a:rPr lang="el-GR" sz="1600" b="1" dirty="0">
                <a:latin typeface="Book Antiqua"/>
                <a:cs typeface="Book Antiqua"/>
              </a:rPr>
              <a:t>μ</a:t>
            </a:r>
            <a:r>
              <a:rPr lang="en-ZA" sz="1600" b="1" dirty="0">
                <a:latin typeface="Book Antiqua"/>
                <a:cs typeface="Book Antiqua"/>
              </a:rPr>
              <a:t>0 : </a:t>
            </a:r>
            <a:r>
              <a:rPr lang="en-ZA" sz="1600" dirty="0">
                <a:latin typeface="Book Antiqua"/>
                <a:cs typeface="Book Antiqua"/>
              </a:rPr>
              <a:t>The population mean is equal to a hypothesized value, </a:t>
            </a:r>
            <a:r>
              <a:rPr lang="el-GR" sz="1600" dirty="0">
                <a:latin typeface="Book Antiqua"/>
                <a:cs typeface="Book Antiqua"/>
              </a:rPr>
              <a:t>μ</a:t>
            </a:r>
            <a:r>
              <a:rPr lang="en-ZA" sz="1600" dirty="0">
                <a:latin typeface="Book Antiqua"/>
                <a:cs typeface="Book Antiqua"/>
              </a:rPr>
              <a:t>0.</a:t>
            </a:r>
          </a:p>
          <a:p>
            <a:pPr lvl="3">
              <a:lnSpc>
                <a:spcPct val="150000"/>
              </a:lnSpc>
            </a:pPr>
            <a:r>
              <a:rPr lang="en-GB" sz="1600" b="1" dirty="0">
                <a:latin typeface="Book Antiqua"/>
                <a:cs typeface="Book Antiqua"/>
              </a:rPr>
              <a:t>Ha: </a:t>
            </a:r>
            <a:r>
              <a:rPr lang="el-GR" sz="1600" b="1" dirty="0">
                <a:latin typeface="Book Antiqua"/>
                <a:cs typeface="Book Antiqua"/>
              </a:rPr>
              <a:t>μ</a:t>
            </a:r>
            <a:r>
              <a:rPr lang="en-ZA" sz="1600" b="1" dirty="0">
                <a:latin typeface="Book Antiqua"/>
                <a:cs typeface="Book Antiqua"/>
              </a:rPr>
              <a:t> ≠ </a:t>
            </a:r>
            <a:r>
              <a:rPr lang="el-GR" sz="1600" b="1" dirty="0">
                <a:latin typeface="Book Antiqua"/>
                <a:cs typeface="Book Antiqua"/>
              </a:rPr>
              <a:t>μ</a:t>
            </a:r>
            <a:r>
              <a:rPr lang="en-ZA" sz="1600" b="1" dirty="0">
                <a:latin typeface="Book Antiqua"/>
                <a:cs typeface="Book Antiqua"/>
              </a:rPr>
              <a:t>0 : </a:t>
            </a:r>
            <a:r>
              <a:rPr lang="en-ZA" sz="1600" dirty="0">
                <a:latin typeface="Book Antiqua"/>
                <a:cs typeface="Book Antiqua"/>
              </a:rPr>
              <a:t>The population mean is not equal to a hypothesized value, </a:t>
            </a:r>
            <a:r>
              <a:rPr lang="el-GR" sz="1600" dirty="0">
                <a:latin typeface="Book Antiqua"/>
                <a:cs typeface="Book Antiqua"/>
              </a:rPr>
              <a:t>μ</a:t>
            </a:r>
            <a:r>
              <a:rPr lang="en-ZA" sz="1600" dirty="0">
                <a:latin typeface="Book Antiqua"/>
                <a:cs typeface="Book Antiqua"/>
              </a:rPr>
              <a:t>0.</a:t>
            </a:r>
          </a:p>
          <a:p>
            <a:pPr lvl="3">
              <a:lnSpc>
                <a:spcPct val="150000"/>
              </a:lnSpc>
            </a:pPr>
            <a:endParaRPr lang="en-GB" sz="1600" dirty="0">
              <a:latin typeface="Book Antiqua"/>
              <a:cs typeface="Book Antiqua"/>
            </a:endParaRPr>
          </a:p>
          <a:p>
            <a:pPr lvl="2">
              <a:defRPr/>
            </a:pPr>
            <a:endParaRPr lang="en-GB" sz="1600" b="1" dirty="0">
              <a:latin typeface="Book Antiqua"/>
              <a:cs typeface="Book Antiqua"/>
            </a:endParaRPr>
          </a:p>
          <a:p>
            <a:pPr lvl="2"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 Antiqua"/>
              <a:cs typeface="Book Antiqua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005576"/>
              </p:ext>
            </p:extLst>
          </p:nvPr>
        </p:nvGraphicFramePr>
        <p:xfrm>
          <a:off x="3535052" y="1385191"/>
          <a:ext cx="2941162" cy="692238"/>
        </p:xfrm>
        <a:graphic>
          <a:graphicData uri="http://schemas.openxmlformats.org/drawingml/2006/table">
            <a:tbl>
              <a:tblPr/>
              <a:tblGrid>
                <a:gridCol w="2941162">
                  <a:extLst>
                    <a:ext uri="{9D8B030D-6E8A-4147-A177-3AD203B41FA5}">
                      <a16:colId xmlns:a16="http://schemas.microsoft.com/office/drawing/2014/main" val="671865307"/>
                    </a:ext>
                  </a:extLst>
                </a:gridCol>
              </a:tblGrid>
              <a:tr h="692238">
                <a:tc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74536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80654"/>
              </p:ext>
            </p:extLst>
          </p:nvPr>
        </p:nvGraphicFramePr>
        <p:xfrm>
          <a:off x="3535052" y="2192106"/>
          <a:ext cx="2941162" cy="692239"/>
        </p:xfrm>
        <a:graphic>
          <a:graphicData uri="http://schemas.openxmlformats.org/drawingml/2006/table">
            <a:tbl>
              <a:tblPr/>
              <a:tblGrid>
                <a:gridCol w="2941162">
                  <a:extLst>
                    <a:ext uri="{9D8B030D-6E8A-4147-A177-3AD203B41FA5}">
                      <a16:colId xmlns:a16="http://schemas.microsoft.com/office/drawing/2014/main" val="671865307"/>
                    </a:ext>
                  </a:extLst>
                </a:gridCol>
              </a:tblGrid>
              <a:tr h="692239">
                <a:tc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745365"/>
                  </a:ext>
                </a:extLst>
              </a:tr>
            </a:tbl>
          </a:graphicData>
        </a:graphic>
      </p:graphicFrame>
      <p:sp>
        <p:nvSpPr>
          <p:cNvPr id="13" name="ZoneTexte 7"/>
          <p:cNvSpPr txBox="1"/>
          <p:nvPr/>
        </p:nvSpPr>
        <p:spPr>
          <a:xfrm>
            <a:off x="4272957" y="6050395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200000"/>
              </a:lnSpc>
              <a:defRPr/>
            </a:pPr>
            <a:r>
              <a:rPr lang="en-GB" sz="1200" dirty="0">
                <a:latin typeface="Book Antiqua"/>
                <a:cs typeface="Book Antiqua"/>
              </a:rPr>
              <a:t>Example: In the editor window, open the file </a:t>
            </a:r>
            <a:r>
              <a:rPr lang="en-GB" sz="1200" b="1" dirty="0">
                <a:solidFill>
                  <a:srgbClr val="FF0000"/>
                </a:solidFill>
                <a:latin typeface="Book Antiqua"/>
                <a:cs typeface="Book Antiqua"/>
              </a:rPr>
              <a:t>ATTEST1.SAS</a:t>
            </a:r>
            <a:endParaRPr lang="en-GB" sz="1200" b="1" i="1" dirty="0">
              <a:solidFill>
                <a:srgbClr val="FF0000"/>
              </a:solidFill>
              <a:latin typeface="Book Antiqu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93056601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10"/>
          <p:cNvSpPr txBox="1"/>
          <p:nvPr/>
        </p:nvSpPr>
        <p:spPr>
          <a:xfrm>
            <a:off x="1660358" y="801004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</a:t>
            </a:r>
            <a:r>
              <a:rPr kumimoji="0" lang="en-GB" sz="2000" b="1" i="0" u="none" strike="noStrike" kern="1200" cap="small" spc="0" normalizeH="0" baseline="0" noProof="0" dirty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 </a:t>
            </a:r>
            <a:r>
              <a:rPr kumimoji="0" lang="en-GB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ttest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7" name="ZoneTexte 7"/>
          <p:cNvSpPr txBox="1"/>
          <p:nvPr/>
        </p:nvSpPr>
        <p:spPr>
          <a:xfrm>
            <a:off x="-379963" y="1107428"/>
            <a:ext cx="797775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200000"/>
              </a:lnSpc>
            </a:pPr>
            <a:r>
              <a:rPr lang="en-GB" sz="1600" u="sng" dirty="0">
                <a:latin typeface="Book Antiqua"/>
                <a:cs typeface="Book Antiqua"/>
              </a:rPr>
              <a:t>Two sample T-test is used to test for the equality of means for a two-sample (Independent group).</a:t>
            </a:r>
          </a:p>
          <a:p>
            <a:pPr lvl="2">
              <a:lnSpc>
                <a:spcPct val="200000"/>
              </a:lnSpc>
            </a:pPr>
            <a:r>
              <a:rPr lang="en-GB" sz="1600" b="1" dirty="0" err="1">
                <a:latin typeface="Book Antiqua"/>
                <a:cs typeface="Book Antiqua"/>
              </a:rPr>
              <a:t>Ho</a:t>
            </a:r>
            <a:r>
              <a:rPr lang="en-GB" sz="1600" b="1" dirty="0">
                <a:latin typeface="Book Antiqua"/>
                <a:cs typeface="Book Antiqua"/>
              </a:rPr>
              <a:t>: </a:t>
            </a:r>
            <a:r>
              <a:rPr lang="el-GR" sz="1600" b="1" dirty="0">
                <a:latin typeface="Book Antiqua"/>
                <a:cs typeface="Book Antiqua"/>
              </a:rPr>
              <a:t>μ</a:t>
            </a:r>
            <a:r>
              <a:rPr lang="en-ZA" sz="1000" b="1" dirty="0">
                <a:latin typeface="Book Antiqua"/>
                <a:cs typeface="Book Antiqua"/>
              </a:rPr>
              <a:t>1 = </a:t>
            </a:r>
            <a:r>
              <a:rPr lang="el-GR" sz="1600" b="1" dirty="0">
                <a:latin typeface="Book Antiqua"/>
                <a:cs typeface="Book Antiqua"/>
              </a:rPr>
              <a:t>μ</a:t>
            </a:r>
            <a:r>
              <a:rPr lang="en-ZA" sz="1000" b="1" dirty="0">
                <a:latin typeface="Book Antiqua"/>
                <a:cs typeface="Book Antiqua"/>
              </a:rPr>
              <a:t>2</a:t>
            </a:r>
            <a:r>
              <a:rPr lang="en-ZA" sz="1600" b="1" dirty="0">
                <a:latin typeface="Book Antiqua"/>
                <a:cs typeface="Book Antiqua"/>
              </a:rPr>
              <a:t>:</a:t>
            </a:r>
            <a:r>
              <a:rPr lang="en-ZA" sz="1000" b="1" dirty="0">
                <a:latin typeface="Book Antiqua"/>
                <a:cs typeface="Book Antiqua"/>
              </a:rPr>
              <a:t> </a:t>
            </a:r>
            <a:r>
              <a:rPr lang="en-ZA" sz="1600" dirty="0">
                <a:latin typeface="Book Antiqua"/>
                <a:cs typeface="Book Antiqua"/>
              </a:rPr>
              <a:t>The population means of the two groups are equal.</a:t>
            </a:r>
          </a:p>
          <a:p>
            <a:pPr lvl="2">
              <a:lnSpc>
                <a:spcPct val="200000"/>
              </a:lnSpc>
            </a:pPr>
            <a:r>
              <a:rPr lang="en-GB" sz="1600" b="1" dirty="0">
                <a:latin typeface="Book Antiqua"/>
                <a:cs typeface="Book Antiqua"/>
              </a:rPr>
              <a:t>Ha </a:t>
            </a:r>
            <a:r>
              <a:rPr lang="el-GR" sz="1600" b="1" dirty="0">
                <a:latin typeface="Book Antiqua"/>
                <a:cs typeface="Book Antiqua"/>
              </a:rPr>
              <a:t>μ</a:t>
            </a:r>
            <a:r>
              <a:rPr lang="en-ZA" sz="1000" b="1" dirty="0">
                <a:latin typeface="Book Antiqua"/>
                <a:cs typeface="Book Antiqua"/>
              </a:rPr>
              <a:t>1 </a:t>
            </a:r>
            <a:r>
              <a:rPr lang="en-ZA" sz="1600" b="1" dirty="0">
                <a:latin typeface="Book Antiqua"/>
                <a:cs typeface="Book Antiqua"/>
              </a:rPr>
              <a:t>≠</a:t>
            </a:r>
            <a:r>
              <a:rPr lang="en-ZA" sz="1000" b="1" dirty="0">
                <a:latin typeface="Book Antiqua"/>
                <a:cs typeface="Book Antiqua"/>
              </a:rPr>
              <a:t> </a:t>
            </a:r>
            <a:r>
              <a:rPr lang="el-GR" sz="1600" b="1" dirty="0">
                <a:latin typeface="Book Antiqua"/>
                <a:cs typeface="Book Antiqua"/>
              </a:rPr>
              <a:t>μ</a:t>
            </a:r>
            <a:r>
              <a:rPr lang="en-ZA" sz="1000" b="1" dirty="0">
                <a:latin typeface="Book Antiqua"/>
                <a:cs typeface="Book Antiqua"/>
              </a:rPr>
              <a:t>2</a:t>
            </a:r>
            <a:r>
              <a:rPr lang="en-ZA" sz="1600" b="1" dirty="0">
                <a:latin typeface="Book Antiqua"/>
                <a:cs typeface="Book Antiqua"/>
              </a:rPr>
              <a:t>:</a:t>
            </a:r>
            <a:r>
              <a:rPr lang="en-ZA" sz="1000" b="1" dirty="0">
                <a:latin typeface="Book Antiqua"/>
                <a:cs typeface="Book Antiqua"/>
              </a:rPr>
              <a:t> </a:t>
            </a:r>
            <a:r>
              <a:rPr lang="en-ZA" sz="1600" dirty="0">
                <a:latin typeface="Book Antiqua"/>
                <a:cs typeface="Book Antiqua"/>
              </a:rPr>
              <a:t>The population means of the two groups are not equal.</a:t>
            </a:r>
          </a:p>
          <a:p>
            <a:pPr lvl="2">
              <a:lnSpc>
                <a:spcPct val="200000"/>
              </a:lnSpc>
            </a:pPr>
            <a:endParaRPr lang="en-GB" sz="1000" dirty="0">
              <a:latin typeface="Book Antiqua"/>
              <a:cs typeface="Book Antiqua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4274429" y="3154209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200000"/>
              </a:lnSpc>
              <a:defRPr/>
            </a:pPr>
            <a:r>
              <a:rPr lang="en-GB" sz="1200" dirty="0">
                <a:latin typeface="Book Antiqua"/>
                <a:cs typeface="Book Antiqua"/>
              </a:rPr>
              <a:t>Example: In the editor window, open the file </a:t>
            </a:r>
            <a:r>
              <a:rPr lang="en-GB" sz="1200" b="1" dirty="0">
                <a:solidFill>
                  <a:srgbClr val="FF0000"/>
                </a:solidFill>
                <a:latin typeface="Book Antiqua"/>
                <a:cs typeface="Book Antiqua"/>
              </a:rPr>
              <a:t>ATTEST2.SAS</a:t>
            </a:r>
            <a:endParaRPr lang="en-GB" sz="1200" b="1" i="1" dirty="0">
              <a:solidFill>
                <a:srgbClr val="FF0000"/>
              </a:solidFill>
              <a:latin typeface="Book Antiqua"/>
              <a:cs typeface="Book Antiqua"/>
            </a:endParaRPr>
          </a:p>
        </p:txBody>
      </p:sp>
      <p:sp>
        <p:nvSpPr>
          <p:cNvPr id="9" name="ZoneTexte 7"/>
          <p:cNvSpPr txBox="1"/>
          <p:nvPr/>
        </p:nvSpPr>
        <p:spPr>
          <a:xfrm>
            <a:off x="4174628" y="6073658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>
              <a:lnSpc>
                <a:spcPct val="200000"/>
              </a:lnSpc>
              <a:defRPr/>
            </a:pPr>
            <a:r>
              <a:rPr lang="en-GB" sz="1200" dirty="0">
                <a:latin typeface="Book Antiqua"/>
                <a:cs typeface="Book Antiqua"/>
              </a:rPr>
              <a:t>Example: In the editor window, open the file </a:t>
            </a:r>
            <a:r>
              <a:rPr lang="en-GB" sz="1200" b="1" dirty="0">
                <a:solidFill>
                  <a:srgbClr val="FF0000"/>
                </a:solidFill>
                <a:latin typeface="Book Antiqua"/>
                <a:cs typeface="Book Antiqua"/>
              </a:rPr>
              <a:t>ATTEST3.SAS</a:t>
            </a:r>
            <a:endParaRPr lang="en-GB" sz="1200" b="1" i="1" dirty="0">
              <a:solidFill>
                <a:srgbClr val="FF0000"/>
              </a:solidFill>
              <a:latin typeface="Book Antiqua"/>
              <a:cs typeface="Book Antiqu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511939" y="3797464"/>
            <a:ext cx="937313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200000"/>
              </a:lnSpc>
            </a:pPr>
            <a:r>
              <a:rPr lang="en-GB" sz="1600" u="sng" dirty="0">
                <a:latin typeface="Book Antiqua"/>
                <a:cs typeface="Book Antiqua"/>
              </a:rPr>
              <a:t>Performing a paired T-test compares two paired groups; </a:t>
            </a:r>
            <a:r>
              <a:rPr lang="en-GB" sz="1600" b="1" u="sng" dirty="0">
                <a:latin typeface="Book Antiqua"/>
                <a:cs typeface="Book Antiqua"/>
              </a:rPr>
              <a:t>Example: </a:t>
            </a:r>
            <a:r>
              <a:rPr lang="en-GB" sz="1600" u="sng" dirty="0">
                <a:latin typeface="Book Antiqua"/>
                <a:cs typeface="Book Antiqua"/>
              </a:rPr>
              <a:t>(A before and after scenario)</a:t>
            </a:r>
          </a:p>
          <a:p>
            <a:pPr lvl="2">
              <a:lnSpc>
                <a:spcPct val="200000"/>
              </a:lnSpc>
            </a:pPr>
            <a:r>
              <a:rPr lang="en-GB" sz="1600" dirty="0" err="1">
                <a:latin typeface="Book Antiqua"/>
                <a:cs typeface="Book Antiqua"/>
              </a:rPr>
              <a:t>Ho</a:t>
            </a:r>
            <a:r>
              <a:rPr lang="en-GB" sz="1600" dirty="0">
                <a:latin typeface="Book Antiqua"/>
                <a:cs typeface="Book Antiqua"/>
              </a:rPr>
              <a:t>: </a:t>
            </a:r>
            <a:r>
              <a:rPr lang="el-GR" sz="1600" dirty="0">
                <a:latin typeface="Book Antiqua"/>
                <a:cs typeface="Book Antiqua"/>
              </a:rPr>
              <a:t>μ</a:t>
            </a:r>
            <a:r>
              <a:rPr lang="en-ZA" sz="900" dirty="0">
                <a:latin typeface="Book Antiqua"/>
                <a:cs typeface="Book Antiqua"/>
              </a:rPr>
              <a:t>loss </a:t>
            </a:r>
            <a:r>
              <a:rPr lang="en-ZA" sz="1600" dirty="0">
                <a:latin typeface="Book Antiqua"/>
                <a:cs typeface="Book Antiqua"/>
              </a:rPr>
              <a:t>= 0 : The population average weight loss is zero.</a:t>
            </a:r>
          </a:p>
          <a:p>
            <a:pPr lvl="2">
              <a:lnSpc>
                <a:spcPct val="200000"/>
              </a:lnSpc>
            </a:pPr>
            <a:r>
              <a:rPr lang="en-GB" sz="1600" dirty="0">
                <a:latin typeface="Book Antiqua"/>
                <a:cs typeface="Book Antiqua"/>
              </a:rPr>
              <a:t>Ha: </a:t>
            </a:r>
            <a:r>
              <a:rPr lang="el-GR" sz="1600" dirty="0">
                <a:latin typeface="Book Antiqua"/>
                <a:cs typeface="Book Antiqua"/>
              </a:rPr>
              <a:t>μ</a:t>
            </a:r>
            <a:r>
              <a:rPr lang="en-ZA" sz="900" dirty="0">
                <a:latin typeface="Book Antiqua"/>
                <a:cs typeface="Book Antiqua"/>
              </a:rPr>
              <a:t>loss </a:t>
            </a:r>
            <a:r>
              <a:rPr lang="en-ZA" sz="1600" dirty="0">
                <a:latin typeface="Book Antiqua"/>
                <a:cs typeface="Book Antiqua"/>
              </a:rPr>
              <a:t>≠ 0 : The population average weight loss is not zero.</a:t>
            </a:r>
          </a:p>
        </p:txBody>
      </p:sp>
    </p:spTree>
    <p:extLst>
      <p:ext uri="{BB962C8B-B14F-4D97-AF65-F5344CB8AC3E}">
        <p14:creationId xmlns:p14="http://schemas.microsoft.com/office/powerpoint/2010/main" val="320645893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42950" y="501651"/>
            <a:ext cx="8420100" cy="1470025"/>
          </a:xfrm>
        </p:spPr>
        <p:txBody>
          <a:bodyPr>
            <a:normAutofit/>
          </a:bodyPr>
          <a:lstStyle/>
          <a:p>
            <a:br>
              <a:rPr lang="en-ZA" sz="2400" b="1" dirty="0">
                <a:solidFill>
                  <a:srgbClr val="A7853E"/>
                </a:solidFill>
                <a:latin typeface="Baskerville Old Face" charset="0"/>
                <a:cs typeface="+mj-cs"/>
              </a:rPr>
            </a:br>
            <a:endParaRPr lang="en-ZA" sz="2400" b="1" dirty="0">
              <a:solidFill>
                <a:srgbClr val="A7853E"/>
              </a:solidFill>
              <a:latin typeface="Baskerville Old Face" charset="0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86703" y="2719454"/>
            <a:ext cx="753259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3200" dirty="0">
                <a:solidFill>
                  <a:prstClr val="white"/>
                </a:solidFill>
                <a:latin typeface="Calibri"/>
              </a:rPr>
              <a:t>Study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3200" dirty="0">
                <a:solidFill>
                  <a:prstClr val="white"/>
                </a:solidFill>
                <a:latin typeface="Calibri"/>
              </a:rPr>
              <a:t>Chapters 7 &amp; 8 </a:t>
            </a:r>
            <a:endParaRPr kumimoji="0" lang="en-ZA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02088" y="5220717"/>
            <a:ext cx="3024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Matthew Valentine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Office: Tech Room Lab K2</a:t>
            </a:r>
          </a:p>
          <a:p>
            <a:pPr lvl="0">
              <a:defRPr/>
            </a:pPr>
            <a:r>
              <a:rPr lang="en-ZA" sz="2000" b="1" spc="5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mvalentine@uwc.ac.za</a:t>
            </a:r>
            <a:endParaRPr kumimoji="0" lang="en-ZA" sz="1800" b="1" i="0" u="none" strike="noStrike" kern="1200" cap="none" spc="50" normalizeH="0" baseline="0" noProof="0" dirty="0">
              <a:ln w="0"/>
              <a:solidFill>
                <a:srgbClr val="EEECE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853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19771</TotalTime>
  <Words>922</Words>
  <Application>Microsoft Office PowerPoint</Application>
  <PresentationFormat>A4 Paper (210x297 mm)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Baskerville Old Face</vt:lpstr>
      <vt:lpstr>Book Antiqua</vt:lpstr>
      <vt:lpstr>Calibri</vt:lpstr>
      <vt:lpstr>Cambria Math</vt:lpstr>
      <vt:lpstr>Century Gothic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NDorfling</dc:creator>
  <cp:lastModifiedBy>Matthew Valentine</cp:lastModifiedBy>
  <cp:revision>674</cp:revision>
  <dcterms:created xsi:type="dcterms:W3CDTF">2015-03-11T08:56:03Z</dcterms:created>
  <dcterms:modified xsi:type="dcterms:W3CDTF">2025-03-11T14:18:47Z</dcterms:modified>
</cp:coreProperties>
</file>