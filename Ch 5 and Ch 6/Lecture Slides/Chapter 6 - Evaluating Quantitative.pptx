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3"/>
  </p:notesMasterIdLst>
  <p:handoutMasterIdLst>
    <p:handoutMasterId r:id="rId24"/>
  </p:handoutMasterIdLst>
  <p:sldIdLst>
    <p:sldId id="256" r:id="rId2"/>
    <p:sldId id="381" r:id="rId3"/>
    <p:sldId id="382" r:id="rId4"/>
    <p:sldId id="383" r:id="rId5"/>
    <p:sldId id="384" r:id="rId6"/>
    <p:sldId id="364" r:id="rId7"/>
    <p:sldId id="388" r:id="rId8"/>
    <p:sldId id="389" r:id="rId9"/>
    <p:sldId id="375" r:id="rId10"/>
    <p:sldId id="376" r:id="rId11"/>
    <p:sldId id="390" r:id="rId12"/>
    <p:sldId id="385" r:id="rId13"/>
    <p:sldId id="386" r:id="rId14"/>
    <p:sldId id="377" r:id="rId15"/>
    <p:sldId id="387" r:id="rId16"/>
    <p:sldId id="392" r:id="rId17"/>
    <p:sldId id="379" r:id="rId18"/>
    <p:sldId id="378" r:id="rId19"/>
    <p:sldId id="391" r:id="rId20"/>
    <p:sldId id="380" r:id="rId21"/>
    <p:sldId id="393" r:id="rId22"/>
  </p:sldIdLst>
  <p:sldSz cx="9906000" cy="6858000" type="A4"/>
  <p:notesSz cx="10409238" cy="729615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364DD034-75F4-5147-85C5-57B72AD43751}">
          <p14:sldIdLst>
            <p14:sldId id="256"/>
            <p14:sldId id="381"/>
            <p14:sldId id="382"/>
            <p14:sldId id="383"/>
            <p14:sldId id="384"/>
            <p14:sldId id="364"/>
            <p14:sldId id="388"/>
            <p14:sldId id="389"/>
            <p14:sldId id="375"/>
            <p14:sldId id="376"/>
            <p14:sldId id="390"/>
            <p14:sldId id="385"/>
            <p14:sldId id="386"/>
            <p14:sldId id="377"/>
            <p14:sldId id="387"/>
            <p14:sldId id="392"/>
            <p14:sldId id="379"/>
            <p14:sldId id="378"/>
            <p14:sldId id="391"/>
            <p14:sldId id="380"/>
            <p14:sldId id="393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120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0" name="John M" initials="JM" lastIdx="1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CC00"/>
    <a:srgbClr val="89898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9737" autoAdjust="0"/>
    <p:restoredTop sz="92374" autoAdjust="0"/>
  </p:normalViewPr>
  <p:slideViewPr>
    <p:cSldViewPr snapToGrid="0" snapToObjects="1">
      <p:cViewPr varScale="1">
        <p:scale>
          <a:sx n="65" d="100"/>
          <a:sy n="65" d="100"/>
        </p:scale>
        <p:origin x="474" y="66"/>
      </p:cViewPr>
      <p:guideLst>
        <p:guide orient="horz" pos="2160"/>
        <p:guide pos="312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commentAuthors" Target="commentAuthor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handoutMaster" Target="handoutMasters/handout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4510670" cy="364808"/>
          </a:xfrm>
          <a:prstGeom prst="rect">
            <a:avLst/>
          </a:prstGeom>
        </p:spPr>
        <p:txBody>
          <a:bodyPr vert="horz" lIns="101169" tIns="50585" rIns="101169" bIns="50585" rtlCol="0"/>
          <a:lstStyle>
            <a:lvl1pPr algn="l">
              <a:defRPr sz="1300"/>
            </a:lvl1pPr>
          </a:lstStyle>
          <a:p>
            <a:endParaRPr lang="en-ZA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5896159" y="0"/>
            <a:ext cx="4510670" cy="364808"/>
          </a:xfrm>
          <a:prstGeom prst="rect">
            <a:avLst/>
          </a:prstGeom>
        </p:spPr>
        <p:txBody>
          <a:bodyPr vert="horz" lIns="101169" tIns="50585" rIns="101169" bIns="50585" rtlCol="0"/>
          <a:lstStyle>
            <a:lvl1pPr algn="r">
              <a:defRPr sz="1300"/>
            </a:lvl1pPr>
          </a:lstStyle>
          <a:p>
            <a:fld id="{C605BAAB-8757-4FBD-9BED-960688D401C4}" type="datetimeFigureOut">
              <a:rPr lang="en-US" smtClean="0"/>
              <a:pPr/>
              <a:t>4/20/2020</a:t>
            </a:fld>
            <a:endParaRPr lang="en-ZA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6930076"/>
            <a:ext cx="4510670" cy="364808"/>
          </a:xfrm>
          <a:prstGeom prst="rect">
            <a:avLst/>
          </a:prstGeom>
        </p:spPr>
        <p:txBody>
          <a:bodyPr vert="horz" lIns="101169" tIns="50585" rIns="101169" bIns="50585" rtlCol="0" anchor="b"/>
          <a:lstStyle>
            <a:lvl1pPr algn="l">
              <a:defRPr sz="1300"/>
            </a:lvl1pPr>
          </a:lstStyle>
          <a:p>
            <a:endParaRPr lang="en-ZA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5896159" y="6930076"/>
            <a:ext cx="4510670" cy="364808"/>
          </a:xfrm>
          <a:prstGeom prst="rect">
            <a:avLst/>
          </a:prstGeom>
        </p:spPr>
        <p:txBody>
          <a:bodyPr vert="horz" lIns="101169" tIns="50585" rIns="101169" bIns="50585" rtlCol="0" anchor="b"/>
          <a:lstStyle>
            <a:lvl1pPr algn="r">
              <a:defRPr sz="1300"/>
            </a:lvl1pPr>
          </a:lstStyle>
          <a:p>
            <a:fld id="{4A9A6402-836E-4507-B641-B01FDFCE6F04}" type="slidenum">
              <a:rPr lang="en-ZA" smtClean="0"/>
              <a:pPr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3606002016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4510670" cy="364808"/>
          </a:xfrm>
          <a:prstGeom prst="rect">
            <a:avLst/>
          </a:prstGeom>
        </p:spPr>
        <p:txBody>
          <a:bodyPr vert="horz" lIns="101169" tIns="50585" rIns="101169" bIns="50585" rtlCol="0"/>
          <a:lstStyle>
            <a:lvl1pPr algn="l">
              <a:defRPr sz="13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896159" y="0"/>
            <a:ext cx="4510670" cy="364808"/>
          </a:xfrm>
          <a:prstGeom prst="rect">
            <a:avLst/>
          </a:prstGeom>
        </p:spPr>
        <p:txBody>
          <a:bodyPr vert="horz" lIns="101169" tIns="50585" rIns="101169" bIns="50585" rtlCol="0"/>
          <a:lstStyle>
            <a:lvl1pPr algn="r">
              <a:defRPr sz="1300"/>
            </a:lvl1pPr>
          </a:lstStyle>
          <a:p>
            <a:fld id="{1C2F6879-603E-754B-9B04-8AAE8D479E4C}" type="datetimeFigureOut">
              <a:rPr lang="en-US" smtClean="0"/>
              <a:pPr/>
              <a:t>4/20/2020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228975" y="547688"/>
            <a:ext cx="3951288" cy="2735262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101169" tIns="50585" rIns="101169" bIns="50585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1040924" y="3465671"/>
            <a:ext cx="8327390" cy="3283268"/>
          </a:xfrm>
          <a:prstGeom prst="rect">
            <a:avLst/>
          </a:prstGeom>
        </p:spPr>
        <p:txBody>
          <a:bodyPr vert="horz" lIns="101169" tIns="50585" rIns="101169" bIns="50585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930076"/>
            <a:ext cx="4510670" cy="364808"/>
          </a:xfrm>
          <a:prstGeom prst="rect">
            <a:avLst/>
          </a:prstGeom>
        </p:spPr>
        <p:txBody>
          <a:bodyPr vert="horz" lIns="101169" tIns="50585" rIns="101169" bIns="50585" rtlCol="0" anchor="b"/>
          <a:lstStyle>
            <a:lvl1pPr algn="l">
              <a:defRPr sz="13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896159" y="6930076"/>
            <a:ext cx="4510670" cy="364808"/>
          </a:xfrm>
          <a:prstGeom prst="rect">
            <a:avLst/>
          </a:prstGeom>
        </p:spPr>
        <p:txBody>
          <a:bodyPr vert="horz" lIns="101169" tIns="50585" rIns="101169" bIns="50585" rtlCol="0" anchor="b"/>
          <a:lstStyle>
            <a:lvl1pPr algn="r">
              <a:defRPr sz="1300"/>
            </a:lvl1pPr>
          </a:lstStyle>
          <a:p>
            <a:fld id="{D14C1D86-6F9C-9646-B809-264C58FC1970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650887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14C1D86-6F9C-9646-B809-264C58FC1970}" type="slidenum">
              <a:rPr lang="en-US" smtClean="0"/>
              <a:pPr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419539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Z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14C1D86-6F9C-9646-B809-264C58FC1970}" type="slidenum">
              <a:rPr kumimoji="0" lang="en-US" sz="13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en-US" sz="13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88272726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Z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14C1D86-6F9C-9646-B809-264C58FC1970}" type="slidenum">
              <a:rPr kumimoji="0" lang="en-US" sz="13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en-US" sz="13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72411402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Z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14C1D86-6F9C-9646-B809-264C58FC1970}" type="slidenum">
              <a:rPr kumimoji="0" lang="en-US" sz="13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3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52172677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Z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14C1D86-6F9C-9646-B809-264C58FC1970}" type="slidenum">
              <a:rPr kumimoji="0" lang="en-US" sz="13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3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82375070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Z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14C1D86-6F9C-9646-B809-264C58FC1970}" type="slidenum">
              <a:rPr lang="en-US" smtClean="0"/>
              <a:pPr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320715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Z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14C1D86-6F9C-9646-B809-264C58FC1970}" type="slidenum">
              <a:rPr kumimoji="0" lang="en-US" sz="13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en-US" sz="13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28044068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Z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14C1D86-6F9C-9646-B809-264C58FC1970}" type="slidenum">
              <a:rPr kumimoji="0" lang="en-US" sz="13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</a:t>
            </a:fld>
            <a:endParaRPr kumimoji="0" lang="en-US" sz="13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70580959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Z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14C1D86-6F9C-9646-B809-264C58FC1970}" type="slidenum">
              <a:rPr lang="en-US" smtClean="0"/>
              <a:pPr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885668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Z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14C1D86-6F9C-9646-B809-264C58FC1970}" type="slidenum">
              <a:rPr lang="en-US" smtClean="0"/>
              <a:pPr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8998234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Z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14C1D86-6F9C-9646-B809-264C58FC1970}" type="slidenum">
              <a:rPr kumimoji="0" lang="en-US" sz="13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11</a:t>
            </a:fld>
            <a:endParaRPr kumimoji="0" lang="en-US" sz="13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0081156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Z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14C1D86-6F9C-9646-B809-264C58FC1970}" type="slidenum">
              <a:rPr kumimoji="0" lang="en-US" sz="13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12</a:t>
            </a:fld>
            <a:endParaRPr kumimoji="0" lang="en-US" sz="13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175464750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Z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14C1D86-6F9C-9646-B809-264C58FC1970}" type="slidenum">
              <a:rPr kumimoji="0" lang="en-US" sz="13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13</a:t>
            </a:fld>
            <a:endParaRPr kumimoji="0" lang="en-US" sz="13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885104738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Z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14C1D86-6F9C-9646-B809-264C58FC1970}" type="slidenum">
              <a:rPr lang="en-US" smtClean="0"/>
              <a:pPr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8422716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Z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14C1D86-6F9C-9646-B809-264C58FC1970}" type="slidenum">
              <a:rPr kumimoji="0" lang="en-US" sz="13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15</a:t>
            </a:fld>
            <a:endParaRPr kumimoji="0" lang="en-US" sz="13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165266202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Z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14C1D86-6F9C-9646-B809-264C58FC1970}" type="slidenum">
              <a:rPr kumimoji="0" lang="en-US" sz="13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16</a:t>
            </a:fld>
            <a:endParaRPr kumimoji="0" lang="en-US" sz="13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220336215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Z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14C1D86-6F9C-9646-B809-264C58FC1970}" type="slidenum">
              <a:rPr lang="en-US" smtClean="0"/>
              <a:pPr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0843993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Z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14C1D86-6F9C-9646-B809-264C58FC1970}" type="slidenum">
              <a:rPr lang="en-US" smtClean="0"/>
              <a:pPr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0216529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Z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14C1D86-6F9C-9646-B809-264C58FC1970}" type="slidenum">
              <a:rPr kumimoji="0" lang="en-US" sz="13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19</a:t>
            </a:fld>
            <a:endParaRPr kumimoji="0" lang="en-US" sz="13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571568450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Z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14C1D86-6F9C-9646-B809-264C58FC1970}" type="slidenum">
              <a:rPr lang="en-US" smtClean="0"/>
              <a:pPr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084874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14C1D86-6F9C-9646-B809-264C58FC1970}" type="slidenum">
              <a:rPr kumimoji="0" lang="en-US" sz="13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21</a:t>
            </a:fld>
            <a:endParaRPr kumimoji="0" lang="en-US" sz="13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7494320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42950" y="2130426"/>
            <a:ext cx="84201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485900" y="3886200"/>
            <a:ext cx="69342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4D5889-9C47-1542-89BF-71BA5CAEC00A}" type="datetimeFigureOut">
              <a:rPr lang="en-US" smtClean="0"/>
              <a:pPr/>
              <a:t>4/20/2020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DF8427-4C18-6C43-BFAB-BAEC5845A11E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887229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4D5889-9C47-1542-89BF-71BA5CAEC00A}" type="datetimeFigureOut">
              <a:rPr lang="en-US" smtClean="0"/>
              <a:pPr/>
              <a:t>4/20/2020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DF8427-4C18-6C43-BFAB-BAEC5845A11E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443346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82506" y="4406901"/>
            <a:ext cx="84201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82506" y="2906713"/>
            <a:ext cx="84201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4D5889-9C47-1542-89BF-71BA5CAEC00A}" type="datetimeFigureOut">
              <a:rPr lang="en-US" smtClean="0"/>
              <a:pPr/>
              <a:t>4/20/2020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DF8427-4C18-6C43-BFAB-BAEC5845A11E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06108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95300" y="1600201"/>
            <a:ext cx="437515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35550" y="1600201"/>
            <a:ext cx="437515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4D5889-9C47-1542-89BF-71BA5CAEC00A}" type="datetimeFigureOut">
              <a:rPr lang="en-US" smtClean="0"/>
              <a:pPr/>
              <a:t>4/20/2020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DF8427-4C18-6C43-BFAB-BAEC5845A11E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258317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95300" y="1535113"/>
            <a:ext cx="4376870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95300" y="2174875"/>
            <a:ext cx="4376870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32111" y="1535113"/>
            <a:ext cx="4378590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32111" y="2174875"/>
            <a:ext cx="4378590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4D5889-9C47-1542-89BF-71BA5CAEC00A}" type="datetimeFigureOut">
              <a:rPr lang="en-US" smtClean="0"/>
              <a:pPr/>
              <a:t>4/20/2020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DF8427-4C18-6C43-BFAB-BAEC5845A11E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58190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4D5889-9C47-1542-89BF-71BA5CAEC00A}" type="datetimeFigureOut">
              <a:rPr lang="en-US" smtClean="0"/>
              <a:pPr/>
              <a:t>4/20/2020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DF8427-4C18-6C43-BFAB-BAEC5845A11E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558338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4D5889-9C47-1542-89BF-71BA5CAEC00A}" type="datetimeFigureOut">
              <a:rPr lang="en-US" smtClean="0"/>
              <a:pPr/>
              <a:t>4/20/2020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DF8427-4C18-6C43-BFAB-BAEC5845A11E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283729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95300" y="273050"/>
            <a:ext cx="3259006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72971" y="273051"/>
            <a:ext cx="5537729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95300" y="1435101"/>
            <a:ext cx="3259006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4D5889-9C47-1542-89BF-71BA5CAEC00A}" type="datetimeFigureOut">
              <a:rPr lang="en-US" smtClean="0"/>
              <a:pPr/>
              <a:t>4/20/2020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DF8427-4C18-6C43-BFAB-BAEC5845A11E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594658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1645" y="4800600"/>
            <a:ext cx="59436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941645" y="612775"/>
            <a:ext cx="59436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41645" y="5367338"/>
            <a:ext cx="59436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4D5889-9C47-1542-89BF-71BA5CAEC00A}" type="datetimeFigureOut">
              <a:rPr lang="en-US" smtClean="0"/>
              <a:pPr/>
              <a:t>4/20/2020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DF8427-4C18-6C43-BFAB-BAEC5845A11E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628896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4D5889-9C47-1542-89BF-71BA5CAEC00A}" type="datetimeFigureOut">
              <a:rPr lang="en-US" smtClean="0"/>
              <a:pPr/>
              <a:t>4/20/2020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DF8427-4C18-6C43-BFAB-BAEC5845A11E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972426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181850" y="274639"/>
            <a:ext cx="222885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95300" y="274639"/>
            <a:ext cx="652145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4D5889-9C47-1542-89BF-71BA5CAEC00A}" type="datetimeFigureOut">
              <a:rPr lang="en-US" smtClean="0"/>
              <a:pPr/>
              <a:t>4/20/2020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DF8427-4C18-6C43-BFAB-BAEC5845A11E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75155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95300" y="274638"/>
            <a:ext cx="89154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95300" y="1600201"/>
            <a:ext cx="89154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95300" y="6356351"/>
            <a:ext cx="2311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C4D5889-9C47-1542-89BF-71BA5CAEC00A}" type="datetimeFigureOut">
              <a:rPr lang="en-US" smtClean="0"/>
              <a:pPr/>
              <a:t>4/20/2020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384550" y="6356351"/>
            <a:ext cx="31369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099300" y="6356351"/>
            <a:ext cx="2311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CDF8427-4C18-6C43-BFAB-BAEC5845A11E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04253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3200" kern="1200">
          <a:solidFill>
            <a:schemeClr val="tx1"/>
          </a:solidFill>
          <a:latin typeface="Baskerville Old Face"/>
          <a:ea typeface="+mj-ea"/>
          <a:cs typeface="Baskerville Old Face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8.jp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1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ctrTitle"/>
          </p:nvPr>
        </p:nvSpPr>
        <p:spPr>
          <a:xfrm>
            <a:off x="742950" y="501651"/>
            <a:ext cx="8420100" cy="1470025"/>
          </a:xfrm>
        </p:spPr>
        <p:txBody>
          <a:bodyPr>
            <a:normAutofit/>
          </a:bodyPr>
          <a:lstStyle/>
          <a:p>
            <a:r>
              <a:rPr lang="en-ZA" sz="2400" b="1" dirty="0" smtClean="0">
                <a:solidFill>
                  <a:srgbClr val="A7853E"/>
                </a:solidFill>
                <a:latin typeface="Baskerville Old Face" charset="0"/>
                <a:cs typeface="+mj-cs"/>
              </a:rPr>
              <a:t/>
            </a:r>
            <a:br>
              <a:rPr lang="en-ZA" sz="2400" b="1" dirty="0" smtClean="0">
                <a:solidFill>
                  <a:srgbClr val="A7853E"/>
                </a:solidFill>
                <a:latin typeface="Baskerville Old Face" charset="0"/>
                <a:cs typeface="+mj-cs"/>
              </a:rPr>
            </a:br>
            <a:endParaRPr lang="en-ZA" sz="2400" b="1" dirty="0">
              <a:solidFill>
                <a:srgbClr val="A7853E"/>
              </a:solidFill>
              <a:latin typeface="Baskerville Old Face" charset="0"/>
              <a:cs typeface="+mj-cs"/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1903879" y="2393251"/>
            <a:ext cx="6098241" cy="10772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ZA" sz="3200" b="1" spc="50" dirty="0" smtClean="0">
                <a:ln w="0"/>
                <a:solidFill>
                  <a:schemeClr val="bg2"/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</a:rPr>
              <a:t>Chapter 6</a:t>
            </a:r>
          </a:p>
          <a:p>
            <a:pPr algn="ctr"/>
            <a:r>
              <a:rPr lang="en-ZA" sz="3200" b="1" spc="50" dirty="0" smtClean="0">
                <a:ln w="0"/>
                <a:solidFill>
                  <a:schemeClr val="bg2"/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</a:rPr>
              <a:t>Evaluating Quantitative Data</a:t>
            </a:r>
            <a:endParaRPr lang="en-ZA" sz="3200" b="1" spc="50" dirty="0">
              <a:ln w="0"/>
              <a:solidFill>
                <a:schemeClr val="bg2"/>
              </a:solidFill>
              <a:effectLst>
                <a:innerShdw blurRad="63500" dist="50800" dir="13500000">
                  <a:srgbClr val="000000">
                    <a:alpha val="50000"/>
                  </a:srgbClr>
                </a:innerShdw>
              </a:effectLst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6702088" y="5220717"/>
            <a:ext cx="3024161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ZA" sz="2000" b="1" spc="50" dirty="0" smtClean="0">
                <a:ln w="0"/>
                <a:solidFill>
                  <a:schemeClr val="bg2"/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</a:rPr>
              <a:t>Matthew Valentine</a:t>
            </a:r>
          </a:p>
          <a:p>
            <a:r>
              <a:rPr lang="en-ZA" sz="2000" b="1" spc="50" dirty="0" smtClean="0">
                <a:ln w="0"/>
                <a:solidFill>
                  <a:schemeClr val="bg2"/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</a:rPr>
              <a:t>Office: Tech Room Lab K2</a:t>
            </a:r>
          </a:p>
          <a:p>
            <a:r>
              <a:rPr lang="en-ZA" sz="2000" b="1" spc="50" dirty="0" smtClean="0">
                <a:ln w="0"/>
                <a:solidFill>
                  <a:schemeClr val="bg2"/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</a:rPr>
              <a:t>mvalentine@uwc.ac.za</a:t>
            </a:r>
            <a:endParaRPr lang="en-ZA" b="1" spc="50" dirty="0">
              <a:ln w="0"/>
              <a:solidFill>
                <a:schemeClr val="bg2"/>
              </a:solidFill>
              <a:effectLst>
                <a:innerShdw blurRad="63500" dist="50800" dir="13500000">
                  <a:srgbClr val="000000">
                    <a:alpha val="50000"/>
                  </a:srgbClr>
                </a:inn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113034921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ZoneTexte 7"/>
          <p:cNvSpPr txBox="1"/>
          <p:nvPr/>
        </p:nvSpPr>
        <p:spPr>
          <a:xfrm>
            <a:off x="246793" y="1350030"/>
            <a:ext cx="8745706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742950" marR="0" lvl="1" indent="-285750" algn="l" defTabSz="457200" rtl="0" eaLnBrk="1" fontAlgn="auto" latinLnBrk="0" hangingPunct="1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GB" sz="15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ook Antiqua"/>
                <a:ea typeface="+mn-ea"/>
                <a:cs typeface="Book Antiqua"/>
              </a:rPr>
              <a:t>To be able to calculate basic descriptive statistics using </a:t>
            </a:r>
            <a:r>
              <a:rPr kumimoji="0" lang="en-GB" sz="1500" b="1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ook Antiqua"/>
                <a:ea typeface="+mn-ea"/>
                <a:cs typeface="Book Antiqua"/>
              </a:rPr>
              <a:t>PROC MEANS.</a:t>
            </a:r>
            <a:endParaRPr kumimoji="0" lang="en-GB" sz="1500" b="0" i="0" u="none" strike="noStrike" kern="1200" cap="none" spc="0" normalizeH="0" baseline="0" noProof="0" dirty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Book Antiqua"/>
              <a:ea typeface="+mn-ea"/>
              <a:cs typeface="Book Antiqua"/>
            </a:endParaRPr>
          </a:p>
          <a:p>
            <a:pPr marL="742950" marR="0" lvl="1" indent="-285750" algn="l" defTabSz="457200" rtl="0" eaLnBrk="1" fontAlgn="auto" latinLnBrk="0" hangingPunct="1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GB" sz="15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ook Antiqua"/>
                <a:ea typeface="+mn-ea"/>
                <a:cs typeface="Book Antiqua"/>
              </a:rPr>
              <a:t>To be able to calculate basic and advanced descriptive statistics, analyse characteristics of a set of data and be able to create histograms using </a:t>
            </a:r>
            <a:r>
              <a:rPr kumimoji="0" lang="en-GB" sz="1500" b="1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ook Antiqua"/>
                <a:ea typeface="+mn-ea"/>
                <a:cs typeface="Book Antiqua"/>
              </a:rPr>
              <a:t>PROC UNIVARIATE.</a:t>
            </a:r>
          </a:p>
        </p:txBody>
      </p:sp>
      <p:sp>
        <p:nvSpPr>
          <p:cNvPr id="5" name="ZoneTexte 10"/>
          <p:cNvSpPr txBox="1"/>
          <p:nvPr/>
        </p:nvSpPr>
        <p:spPr>
          <a:xfrm>
            <a:off x="1613222" y="523443"/>
            <a:ext cx="601284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000" b="1" i="0" u="none" strike="noStrike" kern="1200" cap="small" spc="0" normalizeH="0" baseline="0" noProof="0" dirty="0" smtClean="0">
                <a:ln>
                  <a:noFill/>
                </a:ln>
                <a:solidFill>
                  <a:srgbClr val="342E2B"/>
                </a:solidFill>
                <a:effectLst/>
                <a:uLnTx/>
                <a:uFillTx/>
                <a:latin typeface="Book Antiqua"/>
                <a:ea typeface="+mn-ea"/>
                <a:cs typeface="Book Antiqua"/>
              </a:rPr>
              <a:t>Learning objectives</a:t>
            </a:r>
          </a:p>
        </p:txBody>
      </p:sp>
    </p:spTree>
    <p:extLst>
      <p:ext uri="{BB962C8B-B14F-4D97-AF65-F5344CB8AC3E}">
        <p14:creationId xmlns:p14="http://schemas.microsoft.com/office/powerpoint/2010/main" val="2661061097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/>
          <p:cNvSpPr txBox="1"/>
          <p:nvPr/>
        </p:nvSpPr>
        <p:spPr>
          <a:xfrm>
            <a:off x="9335911" y="3217333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ZA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" name="ZoneTexte 10"/>
          <p:cNvSpPr txBox="1"/>
          <p:nvPr/>
        </p:nvSpPr>
        <p:spPr>
          <a:xfrm>
            <a:off x="1660357" y="609619"/>
            <a:ext cx="601284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000" b="1" i="0" u="none" strike="noStrike" kern="1200" cap="small" spc="0" normalizeH="0" baseline="0" noProof="0" dirty="0" smtClean="0">
                <a:ln>
                  <a:noFill/>
                </a:ln>
                <a:solidFill>
                  <a:srgbClr val="342E2B"/>
                </a:solidFill>
                <a:effectLst/>
                <a:uLnTx/>
                <a:uFillTx/>
                <a:latin typeface="Book Antiqua"/>
                <a:ea typeface="+mn-ea"/>
                <a:cs typeface="Book Antiqua"/>
              </a:rPr>
              <a:t>PROC MEANS</a:t>
            </a:r>
            <a:endParaRPr kumimoji="0" lang="en-GB" sz="2000" b="1" i="0" u="none" strike="noStrike" kern="1200" cap="small" spc="0" normalizeH="0" baseline="0" noProof="0" dirty="0">
              <a:ln>
                <a:noFill/>
              </a:ln>
              <a:solidFill>
                <a:srgbClr val="342E2B"/>
              </a:solidFill>
              <a:effectLst/>
              <a:uLnTx/>
              <a:uFillTx/>
              <a:latin typeface="Book Antiqua"/>
              <a:ea typeface="+mn-ea"/>
              <a:cs typeface="Book Antiqua"/>
            </a:endParaRPr>
          </a:p>
        </p:txBody>
      </p:sp>
      <p:sp>
        <p:nvSpPr>
          <p:cNvPr id="7" name="ZoneTexte 7"/>
          <p:cNvSpPr txBox="1"/>
          <p:nvPr/>
        </p:nvSpPr>
        <p:spPr>
          <a:xfrm>
            <a:off x="352440" y="1183439"/>
            <a:ext cx="7977753" cy="270843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marR="0" lvl="1" indent="0" algn="l" defTabSz="457200" rtl="0" eaLnBrk="1" fontAlgn="auto" latinLnBrk="0" hangingPunct="1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700" b="1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ook Antiqua"/>
                <a:ea typeface="+mn-ea"/>
                <a:cs typeface="Book Antiqua"/>
              </a:rPr>
              <a:t>What is PROC MEANS useful for ?</a:t>
            </a:r>
          </a:p>
          <a:p>
            <a:pPr marL="1200150" marR="0" lvl="2" indent="-285750" algn="l" defTabSz="457200" rtl="0" eaLnBrk="1" fontAlgn="auto" latinLnBrk="0" hangingPunct="1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GB" sz="17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ook Antiqua"/>
                <a:ea typeface="+mn-ea"/>
                <a:cs typeface="Book Antiqua"/>
              </a:rPr>
              <a:t>It evaluates quantitative data in your dataset.</a:t>
            </a:r>
          </a:p>
          <a:p>
            <a:pPr marL="1200150" marR="0" lvl="2" indent="-285750" algn="l" defTabSz="457200" rtl="0" eaLnBrk="1" fontAlgn="auto" latinLnBrk="0" hangingPunct="1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GB" sz="17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ook Antiqua"/>
                <a:ea typeface="+mn-ea"/>
                <a:cs typeface="Book Antiqua"/>
              </a:rPr>
              <a:t>It defines means by groups.</a:t>
            </a:r>
          </a:p>
          <a:p>
            <a:pPr marL="1200150" marR="0" lvl="2" indent="-285750" algn="l" defTabSz="457200" rtl="0" eaLnBrk="1" fontAlgn="auto" latinLnBrk="0" hangingPunct="1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GB" sz="17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ook Antiqua"/>
                <a:ea typeface="+mn-ea"/>
                <a:cs typeface="Book Antiqua"/>
              </a:rPr>
              <a:t>It makes it easier to spot outliers within the data.</a:t>
            </a:r>
          </a:p>
          <a:p>
            <a:pPr marL="1200150" marR="0" lvl="2" indent="-285750" algn="l" defTabSz="457200" rtl="0" eaLnBrk="1" fontAlgn="auto" latinLnBrk="0" hangingPunct="1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GB" sz="17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ook Antiqua"/>
                <a:ea typeface="+mn-ea"/>
                <a:cs typeface="Book Antiqua"/>
              </a:rPr>
              <a:t>It produces a simple statistical summary report of the data.</a:t>
            </a:r>
          </a:p>
        </p:txBody>
      </p:sp>
    </p:spTree>
    <p:extLst>
      <p:ext uri="{BB962C8B-B14F-4D97-AF65-F5344CB8AC3E}">
        <p14:creationId xmlns:p14="http://schemas.microsoft.com/office/powerpoint/2010/main" val="1342106953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/>
          <p:cNvSpPr txBox="1"/>
          <p:nvPr/>
        </p:nvSpPr>
        <p:spPr>
          <a:xfrm>
            <a:off x="9335911" y="3217333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ZA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" name="ZoneTexte 10"/>
          <p:cNvSpPr txBox="1"/>
          <p:nvPr/>
        </p:nvSpPr>
        <p:spPr>
          <a:xfrm>
            <a:off x="1660358" y="400894"/>
            <a:ext cx="601284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000" b="1" i="0" u="none" strike="noStrike" kern="1200" cap="small" spc="0" normalizeH="0" baseline="0" noProof="0" dirty="0" smtClean="0">
                <a:ln>
                  <a:noFill/>
                </a:ln>
                <a:solidFill>
                  <a:srgbClr val="342E2B"/>
                </a:solidFill>
                <a:effectLst/>
                <a:uLnTx/>
                <a:uFillTx/>
                <a:latin typeface="Book Antiqua"/>
                <a:ea typeface="+mn-ea"/>
                <a:cs typeface="Book Antiqua"/>
              </a:rPr>
              <a:t>PROC MEANS</a:t>
            </a:r>
            <a:endParaRPr kumimoji="0" lang="en-GB" sz="2000" b="1" i="0" u="none" strike="noStrike" kern="1200" cap="small" spc="0" normalizeH="0" baseline="0" noProof="0" dirty="0">
              <a:ln>
                <a:noFill/>
              </a:ln>
              <a:solidFill>
                <a:srgbClr val="342E2B"/>
              </a:solidFill>
              <a:effectLst/>
              <a:uLnTx/>
              <a:uFillTx/>
              <a:latin typeface="Book Antiqua"/>
              <a:ea typeface="+mn-ea"/>
              <a:cs typeface="Book Antiqua"/>
            </a:endParaRPr>
          </a:p>
        </p:txBody>
      </p:sp>
      <p:sp>
        <p:nvSpPr>
          <p:cNvPr id="7" name="ZoneTexte 7"/>
          <p:cNvSpPr txBox="1"/>
          <p:nvPr/>
        </p:nvSpPr>
        <p:spPr>
          <a:xfrm>
            <a:off x="178286" y="859187"/>
            <a:ext cx="6175379" cy="55981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marR="0" lvl="1" indent="0" algn="l" defTabSz="4572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500" b="1" i="0" u="sng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ook Antiqua"/>
                <a:ea typeface="+mn-ea"/>
                <a:cs typeface="Book Antiqua"/>
              </a:rPr>
              <a:t>The syntax of the PROC MEANS Statement is:</a:t>
            </a:r>
          </a:p>
          <a:p>
            <a:pPr marL="457200" marR="0" lvl="1" indent="0" algn="l" defTabSz="4572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5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ook Antiqua"/>
                <a:ea typeface="+mn-ea"/>
                <a:cs typeface="Book Antiqua"/>
              </a:rPr>
              <a:t>	PROC MEANS &lt;Options&gt; &lt;Statistical keywords&gt;; </a:t>
            </a:r>
          </a:p>
          <a:p>
            <a:pPr marL="457200" marR="0" lvl="1" indent="0" algn="l" defTabSz="4572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5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ook Antiqua"/>
                <a:ea typeface="+mn-ea"/>
                <a:cs typeface="Book Antiqua"/>
              </a:rPr>
              <a:t>	</a:t>
            </a:r>
            <a:r>
              <a:rPr kumimoji="0" lang="en-GB" sz="15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ook Antiqua"/>
                <a:ea typeface="+mn-ea"/>
                <a:cs typeface="Book Antiqua"/>
              </a:rPr>
              <a:t>&lt;Statements&gt;;</a:t>
            </a:r>
          </a:p>
          <a:p>
            <a:pPr marL="457200" marR="0" lvl="1" indent="0" algn="l" defTabSz="4572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500" b="0" i="0" u="none" strike="noStrike" kern="1200" cap="none" spc="0" normalizeH="0" baseline="0" noProof="0" dirty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Book Antiqua"/>
              <a:ea typeface="+mn-ea"/>
              <a:cs typeface="Book Antiqua"/>
            </a:endParaRPr>
          </a:p>
          <a:p>
            <a:pPr marL="457200" marR="0" lvl="1" indent="0" algn="l" defTabSz="4572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500" b="1" i="0" u="sng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ook Antiqua"/>
                <a:ea typeface="+mn-ea"/>
                <a:cs typeface="Book Antiqua"/>
              </a:rPr>
              <a:t>The </a:t>
            </a:r>
            <a:r>
              <a:rPr kumimoji="0" lang="en-GB" sz="1500" b="1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ook Antiqua"/>
                <a:ea typeface="+mn-ea"/>
                <a:cs typeface="Book Antiqua"/>
              </a:rPr>
              <a:t>most commonly used &lt;Options&gt; in PROC MEANS </a:t>
            </a:r>
            <a:r>
              <a:rPr kumimoji="0" lang="en-GB" sz="1500" b="1" i="0" u="sng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ook Antiqua"/>
                <a:ea typeface="+mn-ea"/>
                <a:cs typeface="Book Antiqua"/>
              </a:rPr>
              <a:t>are:</a:t>
            </a:r>
          </a:p>
          <a:p>
            <a:pPr marL="457200" marR="0" lvl="1" indent="0" algn="l" defTabSz="4572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5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ook Antiqua"/>
                <a:ea typeface="+mn-ea"/>
                <a:cs typeface="Book Antiqua"/>
              </a:rPr>
              <a:t>	DATA </a:t>
            </a:r>
          </a:p>
          <a:p>
            <a:pPr marL="457200" marR="0" lvl="1" indent="0" algn="l" defTabSz="4572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5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ook Antiqua"/>
                <a:ea typeface="+mn-ea"/>
                <a:cs typeface="Book Antiqua"/>
              </a:rPr>
              <a:t>	MAXDEC</a:t>
            </a:r>
          </a:p>
          <a:p>
            <a:pPr marL="457200" marR="0" lvl="1" indent="0" algn="just" defTabSz="4572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500" b="1" i="0" u="sng" strike="noStrike" kern="1200" cap="none" spc="0" normalizeH="0" baseline="0" noProof="0" dirty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Book Antiqua"/>
              <a:ea typeface="+mn-ea"/>
              <a:cs typeface="Book Antiqua"/>
            </a:endParaRPr>
          </a:p>
          <a:p>
            <a:pPr marL="457200" marR="0" lvl="1" indent="0" algn="just" defTabSz="4572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500" b="1" i="0" u="sng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ook Antiqua"/>
                <a:ea typeface="+mn-ea"/>
                <a:cs typeface="Book Antiqua"/>
              </a:rPr>
              <a:t>The </a:t>
            </a:r>
            <a:r>
              <a:rPr kumimoji="0" lang="en-GB" sz="1500" b="1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ook Antiqua"/>
                <a:ea typeface="+mn-ea"/>
                <a:cs typeface="Book Antiqua"/>
              </a:rPr>
              <a:t>most commonly used &lt;statistical keywords&gt; in PROC MEANS:</a:t>
            </a:r>
            <a:endParaRPr kumimoji="0" lang="en-GB" sz="15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Book Antiqua"/>
              <a:ea typeface="+mn-ea"/>
              <a:cs typeface="Book Antiqua"/>
            </a:endParaRPr>
          </a:p>
          <a:p>
            <a:pPr marL="457200" marR="0" lvl="1" indent="0" algn="just" defTabSz="4572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500" b="1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ook Antiqua"/>
                <a:ea typeface="+mn-ea"/>
                <a:cs typeface="Book Antiqua"/>
              </a:rPr>
              <a:t>Default keywords are:</a:t>
            </a:r>
          </a:p>
          <a:p>
            <a:pPr marL="457200" marR="0" lvl="1" indent="0" algn="just" defTabSz="4572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5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ook Antiqua"/>
                <a:ea typeface="+mn-ea"/>
                <a:cs typeface="Book Antiqua"/>
              </a:rPr>
              <a:t>	MEAN, STD, MIN </a:t>
            </a:r>
            <a:r>
              <a:rPr kumimoji="0" lang="en-GB" sz="15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ook Antiqua"/>
                <a:ea typeface="+mn-ea"/>
                <a:cs typeface="Book Antiqua"/>
              </a:rPr>
              <a:t>and </a:t>
            </a:r>
            <a:r>
              <a:rPr kumimoji="0" lang="en-GB" sz="15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ook Antiqua"/>
                <a:ea typeface="+mn-ea"/>
                <a:cs typeface="Book Antiqua"/>
              </a:rPr>
              <a:t>MAX.</a:t>
            </a:r>
          </a:p>
          <a:p>
            <a:pPr marL="457200" marR="0" lvl="1" indent="0" algn="just" defTabSz="4572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500" b="0" i="0" u="sng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Book Antiqua"/>
              <a:ea typeface="+mn-ea"/>
              <a:cs typeface="Book Antiqua"/>
            </a:endParaRPr>
          </a:p>
          <a:p>
            <a:pPr marL="457200" marR="0" lvl="1" indent="0" algn="just" defTabSz="4572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500" b="1" i="0" u="sng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ook Antiqua"/>
                <a:ea typeface="+mn-ea"/>
                <a:cs typeface="Book Antiqua"/>
              </a:rPr>
              <a:t>Additional </a:t>
            </a:r>
            <a:r>
              <a:rPr kumimoji="0" lang="en-GB" sz="1500" b="1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ook Antiqua"/>
                <a:ea typeface="+mn-ea"/>
                <a:cs typeface="Book Antiqua"/>
              </a:rPr>
              <a:t>&lt;statistical keywords&gt;  FOR PROC MEANS:</a:t>
            </a:r>
          </a:p>
          <a:p>
            <a:pPr marL="457200" marR="0" lvl="1" indent="0" algn="just" defTabSz="4572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5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ook Antiqua"/>
                <a:ea typeface="+mn-ea"/>
                <a:cs typeface="Book Antiqua"/>
              </a:rPr>
              <a:t>	NMISS</a:t>
            </a:r>
            <a:r>
              <a:rPr kumimoji="0" lang="en-GB" sz="15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ook Antiqua"/>
                <a:ea typeface="+mn-ea"/>
                <a:cs typeface="Book Antiqua"/>
              </a:rPr>
              <a:t>	</a:t>
            </a:r>
          </a:p>
          <a:p>
            <a:pPr marL="457200" marR="0" lvl="1" indent="0" algn="just" defTabSz="4572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5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ook Antiqua"/>
                <a:ea typeface="+mn-ea"/>
                <a:cs typeface="Book Antiqua"/>
              </a:rPr>
              <a:t>	CLM</a:t>
            </a:r>
            <a:endParaRPr kumimoji="0" lang="en-GB" sz="1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Book Antiqua"/>
              <a:ea typeface="+mn-ea"/>
              <a:cs typeface="Book Antiqua"/>
            </a:endParaRPr>
          </a:p>
        </p:txBody>
      </p:sp>
      <p:sp>
        <p:nvSpPr>
          <p:cNvPr id="10" name="ZoneTexte 7"/>
          <p:cNvSpPr txBox="1"/>
          <p:nvPr/>
        </p:nvSpPr>
        <p:spPr>
          <a:xfrm>
            <a:off x="4091746" y="6045350"/>
            <a:ext cx="6646721" cy="41203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371600" marR="0" lvl="3" indent="0" algn="l" defTabSz="457200" rtl="0" eaLnBrk="1" fontAlgn="auto" latinLnBrk="0" hangingPunct="1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2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ook Antiqua"/>
                <a:ea typeface="+mn-ea"/>
                <a:cs typeface="Book Antiqua"/>
              </a:rPr>
              <a:t>Example: In the editor window, open the file </a:t>
            </a:r>
            <a:r>
              <a:rPr kumimoji="0" lang="en-GB" sz="1200" b="1" i="0" u="none" strike="noStrike" kern="1200" cap="none" spc="0" normalizeH="0" baseline="0" noProof="0" dirty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Book Antiqua"/>
                <a:ea typeface="+mn-ea"/>
                <a:cs typeface="Book Antiqua"/>
              </a:rPr>
              <a:t>AMEANS.1.SAS</a:t>
            </a:r>
            <a:endParaRPr kumimoji="0" lang="en-GB" sz="1200" b="1" i="1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Book Antiqua"/>
              <a:ea typeface="+mn-ea"/>
              <a:cs typeface="Book Antiqua"/>
            </a:endParaRPr>
          </a:p>
        </p:txBody>
      </p:sp>
    </p:spTree>
    <p:extLst>
      <p:ext uri="{BB962C8B-B14F-4D97-AF65-F5344CB8AC3E}">
        <p14:creationId xmlns:p14="http://schemas.microsoft.com/office/powerpoint/2010/main" val="3408007038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/>
          <p:cNvSpPr txBox="1"/>
          <p:nvPr/>
        </p:nvSpPr>
        <p:spPr>
          <a:xfrm>
            <a:off x="9335911" y="3217333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ZA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" name="ZoneTexte 10"/>
          <p:cNvSpPr txBox="1"/>
          <p:nvPr/>
        </p:nvSpPr>
        <p:spPr>
          <a:xfrm>
            <a:off x="1660358" y="600949"/>
            <a:ext cx="601284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000" b="1" i="0" u="none" strike="noStrike" kern="1200" cap="small" spc="0" normalizeH="0" baseline="0" noProof="0" dirty="0" smtClean="0">
                <a:ln>
                  <a:noFill/>
                </a:ln>
                <a:solidFill>
                  <a:srgbClr val="342E2B"/>
                </a:solidFill>
                <a:effectLst/>
                <a:uLnTx/>
                <a:uFillTx/>
                <a:latin typeface="Book Antiqua"/>
                <a:ea typeface="+mn-ea"/>
                <a:cs typeface="Book Antiqua"/>
              </a:rPr>
              <a:t>PROC MEANS</a:t>
            </a:r>
            <a:endParaRPr kumimoji="0" lang="en-GB" sz="2000" b="1" i="0" u="none" strike="noStrike" kern="1200" cap="small" spc="0" normalizeH="0" baseline="0" noProof="0" dirty="0">
              <a:ln>
                <a:noFill/>
              </a:ln>
              <a:solidFill>
                <a:srgbClr val="342E2B"/>
              </a:solidFill>
              <a:effectLst/>
              <a:uLnTx/>
              <a:uFillTx/>
              <a:latin typeface="Book Antiqua"/>
              <a:ea typeface="+mn-ea"/>
              <a:cs typeface="Book Antiqua"/>
            </a:endParaRPr>
          </a:p>
        </p:txBody>
      </p:sp>
      <p:sp>
        <p:nvSpPr>
          <p:cNvPr id="7" name="ZoneTexte 7"/>
          <p:cNvSpPr txBox="1"/>
          <p:nvPr/>
        </p:nvSpPr>
        <p:spPr>
          <a:xfrm>
            <a:off x="1823391" y="1228044"/>
            <a:ext cx="5194097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914400" marR="0" lvl="2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600" b="1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ook Antiqua"/>
                <a:ea typeface="+mn-ea"/>
                <a:cs typeface="Book Antiqua"/>
              </a:rPr>
              <a:t>PROC MEANS DATA = SAS DATASET &lt;Options&gt;;</a:t>
            </a:r>
          </a:p>
          <a:p>
            <a:pPr marL="914400" marR="0" lvl="2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600" b="1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ook Antiqua"/>
                <a:ea typeface="+mn-ea"/>
                <a:cs typeface="Book Antiqua"/>
              </a:rPr>
              <a:t>	VAR </a:t>
            </a:r>
            <a:r>
              <a:rPr kumimoji="0" lang="en-GB" sz="1600" b="1" i="1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ook Antiqua"/>
                <a:ea typeface="+mn-ea"/>
                <a:cs typeface="Book Antiqua"/>
              </a:rPr>
              <a:t>variable(s);</a:t>
            </a:r>
          </a:p>
          <a:p>
            <a:pPr marL="914400" marR="0" lvl="2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600" b="1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ook Antiqua"/>
                <a:ea typeface="+mn-ea"/>
                <a:cs typeface="Book Antiqua"/>
              </a:rPr>
              <a:t>	BY </a:t>
            </a:r>
            <a:r>
              <a:rPr kumimoji="0" lang="en-GB" sz="1600" b="1" i="1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ook Antiqua"/>
                <a:ea typeface="+mn-ea"/>
                <a:cs typeface="Book Antiqua"/>
              </a:rPr>
              <a:t>Variable(s) Variable(s);</a:t>
            </a:r>
          </a:p>
          <a:p>
            <a:pPr marL="914400" marR="0" lvl="2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600" b="1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ook Antiqua"/>
                <a:ea typeface="+mn-ea"/>
                <a:cs typeface="Book Antiqua"/>
              </a:rPr>
              <a:t>	CLASS </a:t>
            </a:r>
            <a:r>
              <a:rPr kumimoji="0" lang="en-GB" sz="1600" b="1" i="1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ook Antiqua"/>
                <a:ea typeface="+mn-ea"/>
                <a:cs typeface="Book Antiqua"/>
              </a:rPr>
              <a:t>Variables(s) Variables(s);</a:t>
            </a:r>
          </a:p>
          <a:p>
            <a:pPr marL="914400" marR="0" lvl="2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600" b="1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ook Antiqua"/>
                <a:ea typeface="+mn-ea"/>
                <a:cs typeface="Book Antiqua"/>
              </a:rPr>
              <a:t>RUN;</a:t>
            </a:r>
            <a:endParaRPr kumimoji="0" lang="en-GB" sz="16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Book Antiqua"/>
              <a:ea typeface="+mn-ea"/>
              <a:cs typeface="Book Antiqua"/>
            </a:endParaRPr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/>
          </p:nvPr>
        </p:nvGraphicFramePr>
        <p:xfrm>
          <a:off x="2682397" y="1228044"/>
          <a:ext cx="4194414" cy="1569660"/>
        </p:xfrm>
        <a:graphic>
          <a:graphicData uri="http://schemas.openxmlformats.org/drawingml/2006/table">
            <a:tbl>
              <a:tblPr/>
              <a:tblGrid>
                <a:gridCol w="4194414">
                  <a:extLst>
                    <a:ext uri="{9D8B030D-6E8A-4147-A177-3AD203B41FA5}">
                      <a16:colId xmlns:a16="http://schemas.microsoft.com/office/drawing/2014/main" val="671865307"/>
                    </a:ext>
                  </a:extLst>
                </a:gridCol>
              </a:tblGrid>
              <a:tr h="1569660">
                <a:tc>
                  <a:txBody>
                    <a:bodyPr/>
                    <a:lstStyle/>
                    <a:p>
                      <a:endParaRPr lang="en-ZA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270745365"/>
                  </a:ext>
                </a:extLst>
              </a:tr>
            </a:tbl>
          </a:graphicData>
        </a:graphic>
      </p:graphicFrame>
      <p:sp>
        <p:nvSpPr>
          <p:cNvPr id="10" name="ZoneTexte 7"/>
          <p:cNvSpPr txBox="1"/>
          <p:nvPr/>
        </p:nvSpPr>
        <p:spPr>
          <a:xfrm>
            <a:off x="-242828" y="3031041"/>
            <a:ext cx="7916034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914400" marR="0" lvl="2" indent="0" algn="l" defTabSz="4572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600" b="1" i="0" u="sng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ook Antiqua"/>
                <a:ea typeface="+mn-ea"/>
                <a:cs typeface="Book Antiqua"/>
              </a:rPr>
              <a:t>The commonly used statements for PROC MEANS:</a:t>
            </a:r>
          </a:p>
          <a:p>
            <a:pPr marL="1371600" marR="0" lvl="3" indent="0" algn="l" defTabSz="4572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6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ook Antiqua"/>
                <a:ea typeface="+mn-ea"/>
                <a:cs typeface="Book Antiqua"/>
              </a:rPr>
              <a:t>VAR – Identifies which variables to analyse (One or more)</a:t>
            </a:r>
          </a:p>
          <a:p>
            <a:pPr marL="1371600" marR="0" lvl="3" indent="0" algn="l" defTabSz="4572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6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ook Antiqua"/>
                <a:ea typeface="+mn-ea"/>
                <a:cs typeface="Book Antiqua"/>
              </a:rPr>
              <a:t>BY – Identifies a number of categories to be analysed by a specific variable</a:t>
            </a:r>
          </a:p>
          <a:p>
            <a:pPr marL="1371600" marR="0" lvl="3" indent="0" algn="l" defTabSz="4572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6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ook Antiqua"/>
                <a:ea typeface="+mn-ea"/>
                <a:cs typeface="Book Antiqua"/>
              </a:rPr>
              <a:t>CLASS – Specifies variables that the procedure uses to group the data </a:t>
            </a:r>
            <a:r>
              <a:rPr kumimoji="0" lang="en-GB" sz="16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ook Antiqua"/>
                <a:ea typeface="+mn-ea"/>
                <a:cs typeface="Book Antiqua"/>
              </a:rPr>
              <a:t>in classification </a:t>
            </a:r>
            <a:r>
              <a:rPr kumimoji="0" lang="en-GB" sz="16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ook Antiqua"/>
                <a:ea typeface="+mn-ea"/>
                <a:cs typeface="Book Antiqua"/>
              </a:rPr>
              <a:t>levels. </a:t>
            </a:r>
            <a:endParaRPr kumimoji="0" lang="en-GB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Book Antiqua"/>
              <a:ea typeface="+mn-ea"/>
              <a:cs typeface="Book Antiqua"/>
            </a:endParaRPr>
          </a:p>
        </p:txBody>
      </p:sp>
      <p:sp>
        <p:nvSpPr>
          <p:cNvPr id="12" name="ZoneTexte 7"/>
          <p:cNvSpPr txBox="1"/>
          <p:nvPr/>
        </p:nvSpPr>
        <p:spPr>
          <a:xfrm>
            <a:off x="4073819" y="6023780"/>
            <a:ext cx="6646721" cy="41197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371600" marR="0" lvl="3" indent="0" algn="l" defTabSz="457200" rtl="0" eaLnBrk="1" fontAlgn="auto" latinLnBrk="0" hangingPunct="1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2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ook Antiqua"/>
                <a:ea typeface="+mn-ea"/>
                <a:cs typeface="Book Antiqua"/>
              </a:rPr>
              <a:t>Example: In the editor window, open the file </a:t>
            </a:r>
            <a:r>
              <a:rPr kumimoji="0" lang="en-GB" sz="1200" b="1" i="0" u="none" strike="noStrike" kern="1200" cap="none" spc="0" normalizeH="0" baseline="0" noProof="0" dirty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Book Antiqua"/>
                <a:ea typeface="+mn-ea"/>
                <a:cs typeface="Book Antiqua"/>
              </a:rPr>
              <a:t>AMEANS.2.SAS</a:t>
            </a:r>
            <a:endParaRPr kumimoji="0" lang="en-GB" sz="1200" b="1" i="1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Book Antiqua"/>
              <a:ea typeface="+mn-ea"/>
              <a:cs typeface="Book Antiqua"/>
            </a:endParaRPr>
          </a:p>
        </p:txBody>
      </p:sp>
    </p:spTree>
    <p:extLst>
      <p:ext uri="{BB962C8B-B14F-4D97-AF65-F5344CB8AC3E}">
        <p14:creationId xmlns:p14="http://schemas.microsoft.com/office/powerpoint/2010/main" val="155717724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69436" y="126218"/>
            <a:ext cx="8915400" cy="845332"/>
          </a:xfrm>
        </p:spPr>
        <p:txBody>
          <a:bodyPr>
            <a:normAutofit/>
          </a:bodyPr>
          <a:lstStyle/>
          <a:p>
            <a:r>
              <a:rPr lang="en-ZA" sz="2800" dirty="0" smtClean="0"/>
              <a:t>Proc Means</a:t>
            </a:r>
            <a:endParaRPr lang="en-ZA" sz="2800" dirty="0"/>
          </a:p>
        </p:txBody>
      </p:sp>
      <p:sp>
        <p:nvSpPr>
          <p:cNvPr id="6" name="TextBox 5"/>
          <p:cNvSpPr txBox="1"/>
          <p:nvPr/>
        </p:nvSpPr>
        <p:spPr>
          <a:xfrm>
            <a:off x="9335911" y="3217333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ZA" dirty="0"/>
          </a:p>
        </p:txBody>
      </p:sp>
      <p:sp>
        <p:nvSpPr>
          <p:cNvPr id="5" name="TextBox 4"/>
          <p:cNvSpPr txBox="1"/>
          <p:nvPr/>
        </p:nvSpPr>
        <p:spPr>
          <a:xfrm>
            <a:off x="950259" y="756476"/>
            <a:ext cx="7874788" cy="19058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sz="1500" dirty="0">
                <a:solidFill>
                  <a:srgbClr val="342E2B"/>
                </a:solidFill>
                <a:latin typeface="Book Antiqua" panose="02040602050305030304" pitchFamily="18" charset="0"/>
                <a:cs typeface="Book Antiqua"/>
              </a:rPr>
              <a:t>Describes numerical/quantitative </a:t>
            </a:r>
            <a:r>
              <a:rPr lang="en-GB" sz="1500" dirty="0" smtClean="0">
                <a:solidFill>
                  <a:srgbClr val="342E2B"/>
                </a:solidFill>
                <a:latin typeface="Book Antiqua" panose="02040602050305030304" pitchFamily="18" charset="0"/>
                <a:cs typeface="Book Antiqua"/>
              </a:rPr>
              <a:t>data.</a:t>
            </a:r>
            <a:endParaRPr lang="en-GB" sz="1500" dirty="0">
              <a:solidFill>
                <a:srgbClr val="342E2B"/>
              </a:solidFill>
              <a:latin typeface="Book Antiqua" panose="02040602050305030304" pitchFamily="18" charset="0"/>
              <a:cs typeface="Book Antiqua"/>
            </a:endParaRPr>
          </a:p>
          <a:p>
            <a:pPr marL="342900" indent="-3429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GB" sz="1500" dirty="0">
                <a:solidFill>
                  <a:srgbClr val="342E2B"/>
                </a:solidFill>
                <a:latin typeface="Book Antiqua" panose="02040602050305030304" pitchFamily="18" charset="0"/>
                <a:cs typeface="Book Antiqua"/>
              </a:rPr>
              <a:t>Creates </a:t>
            </a:r>
            <a:r>
              <a:rPr lang="en-GB" sz="1500" dirty="0" smtClean="0">
                <a:solidFill>
                  <a:srgbClr val="342E2B"/>
                </a:solidFill>
                <a:latin typeface="Book Antiqua" panose="02040602050305030304" pitchFamily="18" charset="0"/>
                <a:cs typeface="Book Antiqua"/>
              </a:rPr>
              <a:t>a tabular and/or </a:t>
            </a:r>
            <a:r>
              <a:rPr lang="en-GB" sz="1500" dirty="0">
                <a:solidFill>
                  <a:srgbClr val="342E2B"/>
                </a:solidFill>
                <a:latin typeface="Book Antiqua" panose="02040602050305030304" pitchFamily="18" charset="0"/>
                <a:cs typeface="Book Antiqua"/>
              </a:rPr>
              <a:t>graphical summary of the </a:t>
            </a:r>
            <a:r>
              <a:rPr lang="en-GB" sz="1500" dirty="0" smtClean="0">
                <a:solidFill>
                  <a:srgbClr val="342E2B"/>
                </a:solidFill>
                <a:latin typeface="Book Antiqua" panose="02040602050305030304" pitchFamily="18" charset="0"/>
                <a:cs typeface="Book Antiqua"/>
              </a:rPr>
              <a:t>data.</a:t>
            </a:r>
            <a:endParaRPr lang="en-GB" sz="1500" dirty="0">
              <a:solidFill>
                <a:srgbClr val="342E2B"/>
              </a:solidFill>
              <a:latin typeface="Book Antiqua" panose="02040602050305030304" pitchFamily="18" charset="0"/>
              <a:cs typeface="Book Antiqua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sz="1500" dirty="0">
                <a:solidFill>
                  <a:srgbClr val="342E2B"/>
                </a:solidFill>
                <a:latin typeface="Book Antiqua" panose="02040602050305030304" pitchFamily="18" charset="0"/>
                <a:cs typeface="Book Antiqua"/>
              </a:rPr>
              <a:t>Can provide a summary for each unique group (using </a:t>
            </a:r>
            <a:r>
              <a:rPr lang="en-GB" sz="1500" dirty="0" smtClean="0">
                <a:solidFill>
                  <a:srgbClr val="342E2B"/>
                </a:solidFill>
                <a:latin typeface="Book Antiqua" panose="02040602050305030304" pitchFamily="18" charset="0"/>
                <a:cs typeface="Book Antiqua"/>
              </a:rPr>
              <a:t>either the BY </a:t>
            </a:r>
            <a:r>
              <a:rPr lang="en-GB" sz="1500" dirty="0">
                <a:solidFill>
                  <a:srgbClr val="342E2B"/>
                </a:solidFill>
                <a:latin typeface="Book Antiqua" panose="02040602050305030304" pitchFamily="18" charset="0"/>
                <a:cs typeface="Book Antiqua"/>
              </a:rPr>
              <a:t>or CLASS </a:t>
            </a:r>
            <a:r>
              <a:rPr lang="en-GB" sz="1500" dirty="0" smtClean="0">
                <a:solidFill>
                  <a:srgbClr val="342E2B"/>
                </a:solidFill>
                <a:latin typeface="Book Antiqua" panose="02040602050305030304" pitchFamily="18" charset="0"/>
                <a:cs typeface="Book Antiqua"/>
              </a:rPr>
              <a:t>statements).</a:t>
            </a:r>
            <a:endParaRPr lang="en-GB" sz="1500" dirty="0">
              <a:solidFill>
                <a:srgbClr val="342E2B"/>
              </a:solidFill>
              <a:latin typeface="Book Antiqua" panose="02040602050305030304" pitchFamily="18" charset="0"/>
              <a:cs typeface="Book Antiqua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sz="1500" dirty="0">
                <a:solidFill>
                  <a:srgbClr val="342E2B"/>
                </a:solidFill>
                <a:latin typeface="Book Antiqua" panose="02040602050305030304" pitchFamily="18" charset="0"/>
                <a:cs typeface="Book Antiqua"/>
              </a:rPr>
              <a:t>By default this procedure will calculate </a:t>
            </a:r>
            <a:r>
              <a:rPr lang="en-GB" sz="1500" i="1" dirty="0">
                <a:solidFill>
                  <a:srgbClr val="342E2B"/>
                </a:solidFill>
                <a:latin typeface="Book Antiqua" panose="02040602050305030304" pitchFamily="18" charset="0"/>
                <a:cs typeface="Book Antiqua"/>
              </a:rPr>
              <a:t>n</a:t>
            </a:r>
            <a:r>
              <a:rPr lang="en-GB" sz="1500" dirty="0">
                <a:solidFill>
                  <a:srgbClr val="342E2B"/>
                </a:solidFill>
                <a:latin typeface="Book Antiqua" panose="02040602050305030304" pitchFamily="18" charset="0"/>
                <a:cs typeface="Book Antiqua"/>
              </a:rPr>
              <a:t>, </a:t>
            </a:r>
            <a:r>
              <a:rPr lang="en-GB" sz="1500" i="1" dirty="0">
                <a:solidFill>
                  <a:srgbClr val="342E2B"/>
                </a:solidFill>
                <a:latin typeface="Book Antiqua" panose="02040602050305030304" pitchFamily="18" charset="0"/>
                <a:cs typeface="Book Antiqua"/>
              </a:rPr>
              <a:t>mean</a:t>
            </a:r>
            <a:r>
              <a:rPr lang="en-GB" sz="1500" dirty="0">
                <a:solidFill>
                  <a:srgbClr val="342E2B"/>
                </a:solidFill>
                <a:latin typeface="Book Antiqua" panose="02040602050305030304" pitchFamily="18" charset="0"/>
                <a:cs typeface="Book Antiqua"/>
              </a:rPr>
              <a:t>, </a:t>
            </a:r>
            <a:r>
              <a:rPr lang="en-GB" sz="1500" i="1" dirty="0" err="1">
                <a:solidFill>
                  <a:srgbClr val="342E2B"/>
                </a:solidFill>
                <a:latin typeface="Book Antiqua" panose="02040602050305030304" pitchFamily="18" charset="0"/>
                <a:cs typeface="Book Antiqua"/>
              </a:rPr>
              <a:t>std</a:t>
            </a:r>
            <a:r>
              <a:rPr lang="en-GB" sz="1500" dirty="0">
                <a:solidFill>
                  <a:srgbClr val="342E2B"/>
                </a:solidFill>
                <a:latin typeface="Book Antiqua" panose="02040602050305030304" pitchFamily="18" charset="0"/>
                <a:cs typeface="Book Antiqua"/>
              </a:rPr>
              <a:t>,  </a:t>
            </a:r>
            <a:r>
              <a:rPr lang="en-GB" sz="1500" i="1" dirty="0">
                <a:solidFill>
                  <a:srgbClr val="342E2B"/>
                </a:solidFill>
                <a:latin typeface="Book Antiqua" panose="02040602050305030304" pitchFamily="18" charset="0"/>
                <a:cs typeface="Book Antiqua"/>
              </a:rPr>
              <a:t>min</a:t>
            </a:r>
            <a:r>
              <a:rPr lang="en-GB" sz="1500" dirty="0">
                <a:solidFill>
                  <a:srgbClr val="342E2B"/>
                </a:solidFill>
                <a:latin typeface="Book Antiqua" panose="02040602050305030304" pitchFamily="18" charset="0"/>
                <a:cs typeface="Book Antiqua"/>
              </a:rPr>
              <a:t> and </a:t>
            </a:r>
            <a:r>
              <a:rPr lang="en-GB" sz="1500" i="1" dirty="0">
                <a:solidFill>
                  <a:srgbClr val="342E2B"/>
                </a:solidFill>
                <a:latin typeface="Book Antiqua" panose="02040602050305030304" pitchFamily="18" charset="0"/>
                <a:cs typeface="Book Antiqua"/>
              </a:rPr>
              <a:t>max</a:t>
            </a:r>
            <a:r>
              <a:rPr lang="en-GB" sz="1500" dirty="0">
                <a:solidFill>
                  <a:srgbClr val="342E2B"/>
                </a:solidFill>
                <a:latin typeface="Book Antiqua" panose="02040602050305030304" pitchFamily="18" charset="0"/>
                <a:cs typeface="Book Antiqua"/>
              </a:rPr>
              <a:t> </a:t>
            </a:r>
            <a:r>
              <a:rPr lang="en-GB" sz="1500" dirty="0" smtClean="0">
                <a:solidFill>
                  <a:srgbClr val="342E2B"/>
                </a:solidFill>
                <a:latin typeface="Book Antiqua" panose="02040602050305030304" pitchFamily="18" charset="0"/>
                <a:cs typeface="Book Antiqua"/>
              </a:rPr>
              <a:t>values.</a:t>
            </a:r>
            <a:endParaRPr lang="en-GB" sz="1500" i="1" dirty="0">
              <a:solidFill>
                <a:srgbClr val="342E2B"/>
              </a:solidFill>
              <a:latin typeface="Book Antiqua" panose="02040602050305030304" pitchFamily="18" charset="0"/>
              <a:cs typeface="Book Antiqua"/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99950" y="2841553"/>
            <a:ext cx="2913468" cy="35680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571310" y="2846579"/>
            <a:ext cx="2238134" cy="356297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</p:pic>
      <p:cxnSp>
        <p:nvCxnSpPr>
          <p:cNvPr id="9" name="Straight Arrow Connector 8"/>
          <p:cNvCxnSpPr/>
          <p:nvPr/>
        </p:nvCxnSpPr>
        <p:spPr>
          <a:xfrm flipV="1">
            <a:off x="3809444" y="3586665"/>
            <a:ext cx="1590506" cy="2054718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/>
          <p:cNvCxnSpPr/>
          <p:nvPr/>
        </p:nvCxnSpPr>
        <p:spPr>
          <a:xfrm flipV="1">
            <a:off x="3809444" y="5344402"/>
            <a:ext cx="2238134" cy="885917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3622282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69436" y="126218"/>
            <a:ext cx="8915400" cy="845332"/>
          </a:xfrm>
        </p:spPr>
        <p:txBody>
          <a:bodyPr>
            <a:normAutofit/>
          </a:bodyPr>
          <a:lstStyle/>
          <a:p>
            <a:r>
              <a:rPr lang="en-ZA" sz="2800" dirty="0" smtClean="0"/>
              <a:t>Proc Means</a:t>
            </a:r>
            <a:endParaRPr lang="en-ZA" sz="2800" dirty="0"/>
          </a:p>
        </p:txBody>
      </p:sp>
      <p:sp>
        <p:nvSpPr>
          <p:cNvPr id="6" name="TextBox 5"/>
          <p:cNvSpPr txBox="1"/>
          <p:nvPr/>
        </p:nvSpPr>
        <p:spPr>
          <a:xfrm>
            <a:off x="9335911" y="3217333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ZA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9436" y="2497124"/>
            <a:ext cx="5048250" cy="180975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14528" y="1698275"/>
            <a:ext cx="3019425" cy="414337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</p:pic>
      <p:cxnSp>
        <p:nvCxnSpPr>
          <p:cNvPr id="11" name="Straight Arrow Connector 10"/>
          <p:cNvCxnSpPr/>
          <p:nvPr/>
        </p:nvCxnSpPr>
        <p:spPr>
          <a:xfrm flipV="1">
            <a:off x="5317686" y="2497124"/>
            <a:ext cx="496842" cy="503233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/>
          <p:cNvCxnSpPr/>
          <p:nvPr/>
        </p:nvCxnSpPr>
        <p:spPr>
          <a:xfrm>
            <a:off x="3192651" y="3921071"/>
            <a:ext cx="3068664" cy="170482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5636829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69436" y="126218"/>
            <a:ext cx="8915400" cy="845332"/>
          </a:xfrm>
        </p:spPr>
        <p:txBody>
          <a:bodyPr>
            <a:normAutofit/>
          </a:bodyPr>
          <a:lstStyle/>
          <a:p>
            <a:r>
              <a:rPr lang="en-ZA" sz="2800" dirty="0" smtClean="0"/>
              <a:t>Proc Means</a:t>
            </a:r>
            <a:endParaRPr lang="en-ZA" sz="2800" dirty="0"/>
          </a:p>
        </p:txBody>
      </p:sp>
      <p:sp>
        <p:nvSpPr>
          <p:cNvPr id="6" name="TextBox 5"/>
          <p:cNvSpPr txBox="1"/>
          <p:nvPr/>
        </p:nvSpPr>
        <p:spPr>
          <a:xfrm>
            <a:off x="9335911" y="3217333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ZA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59477" y="1514977"/>
            <a:ext cx="2695575" cy="414337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69436" y="2497124"/>
            <a:ext cx="5191125" cy="180975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</p:pic>
      <p:cxnSp>
        <p:nvCxnSpPr>
          <p:cNvPr id="9" name="Straight Arrow Connector 8"/>
          <p:cNvCxnSpPr/>
          <p:nvPr/>
        </p:nvCxnSpPr>
        <p:spPr>
          <a:xfrm flipV="1">
            <a:off x="5207431" y="2619214"/>
            <a:ext cx="552046" cy="356461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/>
          <p:cNvCxnSpPr/>
          <p:nvPr/>
        </p:nvCxnSpPr>
        <p:spPr>
          <a:xfrm flipV="1">
            <a:off x="3053166" y="3828081"/>
            <a:ext cx="3022170" cy="30997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8211146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69436" y="126218"/>
            <a:ext cx="8915400" cy="845332"/>
          </a:xfrm>
        </p:spPr>
        <p:txBody>
          <a:bodyPr>
            <a:normAutofit/>
          </a:bodyPr>
          <a:lstStyle/>
          <a:p>
            <a:r>
              <a:rPr lang="en-ZA" sz="2800" dirty="0" smtClean="0"/>
              <a:t>Proc Means Statement options</a:t>
            </a:r>
            <a:endParaRPr lang="en-ZA" sz="2800" dirty="0"/>
          </a:p>
        </p:txBody>
      </p:sp>
      <p:sp>
        <p:nvSpPr>
          <p:cNvPr id="6" name="TextBox 5"/>
          <p:cNvSpPr txBox="1"/>
          <p:nvPr/>
        </p:nvSpPr>
        <p:spPr>
          <a:xfrm>
            <a:off x="9335911" y="3217333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ZA" dirty="0"/>
          </a:p>
        </p:txBody>
      </p:sp>
      <p:sp>
        <p:nvSpPr>
          <p:cNvPr id="5" name="TextBox 4"/>
          <p:cNvSpPr txBox="1"/>
          <p:nvPr/>
        </p:nvSpPr>
        <p:spPr>
          <a:xfrm>
            <a:off x="269436" y="1644530"/>
            <a:ext cx="4302564" cy="320857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sz="1500" dirty="0">
                <a:solidFill>
                  <a:srgbClr val="342E2B"/>
                </a:solidFill>
                <a:latin typeface="Book Antiqua" panose="02040602050305030304" pitchFamily="18" charset="0"/>
                <a:cs typeface="Book Antiqua"/>
              </a:rPr>
              <a:t>MAXDEC = </a:t>
            </a:r>
            <a:r>
              <a:rPr lang="en-GB" sz="1500" i="1" dirty="0">
                <a:solidFill>
                  <a:srgbClr val="342E2B"/>
                </a:solidFill>
                <a:latin typeface="Book Antiqua" panose="02040602050305030304" pitchFamily="18" charset="0"/>
                <a:cs typeface="Book Antiqua"/>
              </a:rPr>
              <a:t>n – </a:t>
            </a:r>
            <a:r>
              <a:rPr lang="en-GB" sz="1500" dirty="0">
                <a:solidFill>
                  <a:srgbClr val="342E2B"/>
                </a:solidFill>
                <a:latin typeface="Book Antiqua" panose="02040602050305030304" pitchFamily="18" charset="0"/>
                <a:cs typeface="Book Antiqua"/>
              </a:rPr>
              <a:t>specify decimal places</a:t>
            </a:r>
          </a:p>
          <a:p>
            <a:pPr marL="342900" indent="-3429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GB" sz="1500" dirty="0">
                <a:solidFill>
                  <a:srgbClr val="342E2B"/>
                </a:solidFill>
                <a:latin typeface="Book Antiqua" panose="02040602050305030304" pitchFamily="18" charset="0"/>
                <a:cs typeface="Book Antiqua"/>
              </a:rPr>
              <a:t>N – number of observations</a:t>
            </a:r>
          </a:p>
          <a:p>
            <a:pPr marL="342900" indent="-3429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GB" sz="1500" dirty="0">
                <a:solidFill>
                  <a:srgbClr val="342E2B"/>
                </a:solidFill>
                <a:latin typeface="Book Antiqua" panose="02040602050305030304" pitchFamily="18" charset="0"/>
                <a:cs typeface="Book Antiqua"/>
              </a:rPr>
              <a:t>NMISS – number of missing observations</a:t>
            </a:r>
          </a:p>
          <a:p>
            <a:pPr marL="342900" indent="-3429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GB" sz="1500" dirty="0">
                <a:solidFill>
                  <a:srgbClr val="342E2B"/>
                </a:solidFill>
                <a:latin typeface="Book Antiqua" panose="02040602050305030304" pitchFamily="18" charset="0"/>
                <a:cs typeface="Book Antiqua"/>
              </a:rPr>
              <a:t>MEAN – arithmetic average</a:t>
            </a:r>
          </a:p>
          <a:p>
            <a:pPr marL="342900" indent="-3429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GB" sz="1500" dirty="0">
                <a:solidFill>
                  <a:srgbClr val="342E2B"/>
                </a:solidFill>
                <a:latin typeface="Book Antiqua" panose="02040602050305030304" pitchFamily="18" charset="0"/>
                <a:cs typeface="Book Antiqua"/>
              </a:rPr>
              <a:t>STD – standard deviation</a:t>
            </a:r>
          </a:p>
          <a:p>
            <a:pPr marL="342900" indent="-3429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GB" sz="1500" dirty="0">
                <a:solidFill>
                  <a:srgbClr val="342E2B"/>
                </a:solidFill>
                <a:latin typeface="Book Antiqua" panose="02040602050305030304" pitchFamily="18" charset="0"/>
                <a:cs typeface="Book Antiqua"/>
              </a:rPr>
              <a:t>MIN  - minimum value</a:t>
            </a:r>
          </a:p>
          <a:p>
            <a:pPr marL="342900" indent="-3429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GB" sz="1500" dirty="0">
                <a:solidFill>
                  <a:srgbClr val="342E2B"/>
                </a:solidFill>
                <a:latin typeface="Book Antiqua" panose="02040602050305030304" pitchFamily="18" charset="0"/>
                <a:cs typeface="Book Antiqua"/>
              </a:rPr>
              <a:t>MAX – maximum value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398517" y="2048486"/>
            <a:ext cx="4122125" cy="240065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GB" sz="1500" dirty="0">
                <a:solidFill>
                  <a:srgbClr val="342E2B"/>
                </a:solidFill>
                <a:latin typeface="Book Antiqua" panose="02040602050305030304" pitchFamily="18" charset="0"/>
                <a:cs typeface="Book Antiqua"/>
              </a:rPr>
              <a:t>RANGE – range of observations</a:t>
            </a:r>
          </a:p>
          <a:p>
            <a:pPr marL="342900" indent="-3429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GB" sz="1500" dirty="0">
                <a:solidFill>
                  <a:srgbClr val="342E2B"/>
                </a:solidFill>
                <a:latin typeface="Book Antiqua" panose="02040602050305030304" pitchFamily="18" charset="0"/>
                <a:cs typeface="Book Antiqua"/>
              </a:rPr>
              <a:t>SUM – sum of the observations</a:t>
            </a:r>
          </a:p>
          <a:p>
            <a:pPr marL="342900" indent="-3429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GB" sz="1500" dirty="0">
                <a:solidFill>
                  <a:srgbClr val="342E2B"/>
                </a:solidFill>
                <a:latin typeface="Book Antiqua" panose="02040602050305030304" pitchFamily="18" charset="0"/>
                <a:cs typeface="Book Antiqua"/>
              </a:rPr>
              <a:t>VAR - variance</a:t>
            </a:r>
          </a:p>
          <a:p>
            <a:pPr marL="342900" indent="-3429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GB" sz="1500" dirty="0">
                <a:solidFill>
                  <a:srgbClr val="342E2B"/>
                </a:solidFill>
                <a:latin typeface="Book Antiqua" panose="02040602050305030304" pitchFamily="18" charset="0"/>
                <a:cs typeface="Book Antiqua"/>
              </a:rPr>
              <a:t>STDERR – standard error</a:t>
            </a:r>
          </a:p>
          <a:p>
            <a:pPr marL="342900" indent="-3429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GB" sz="1500" dirty="0">
                <a:solidFill>
                  <a:srgbClr val="342E2B"/>
                </a:solidFill>
                <a:latin typeface="Book Antiqua" panose="02040602050305030304" pitchFamily="18" charset="0"/>
                <a:cs typeface="Book Antiqua"/>
              </a:rPr>
              <a:t>MEDIAN – middle value or 50</a:t>
            </a:r>
            <a:r>
              <a:rPr lang="en-GB" sz="1500" baseline="30000" dirty="0">
                <a:solidFill>
                  <a:srgbClr val="342E2B"/>
                </a:solidFill>
                <a:latin typeface="Book Antiqua" panose="02040602050305030304" pitchFamily="18" charset="0"/>
                <a:cs typeface="Book Antiqua"/>
              </a:rPr>
              <a:t>th</a:t>
            </a:r>
            <a:r>
              <a:rPr lang="en-GB" sz="1500" dirty="0">
                <a:solidFill>
                  <a:srgbClr val="342E2B"/>
                </a:solidFill>
                <a:latin typeface="Book Antiqua" panose="02040602050305030304" pitchFamily="18" charset="0"/>
                <a:cs typeface="Book Antiqua"/>
              </a:rPr>
              <a:t> percentile</a:t>
            </a:r>
          </a:p>
        </p:txBody>
      </p:sp>
    </p:spTree>
    <p:extLst>
      <p:ext uri="{BB962C8B-B14F-4D97-AF65-F5344CB8AC3E}">
        <p14:creationId xmlns:p14="http://schemas.microsoft.com/office/powerpoint/2010/main" val="327455560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69436" y="126218"/>
            <a:ext cx="8915400" cy="845332"/>
          </a:xfrm>
        </p:spPr>
        <p:txBody>
          <a:bodyPr>
            <a:normAutofit/>
          </a:bodyPr>
          <a:lstStyle/>
          <a:p>
            <a:r>
              <a:rPr lang="en-ZA" sz="2800" dirty="0" smtClean="0"/>
              <a:t>Proc Means BY - Statement</a:t>
            </a:r>
            <a:endParaRPr lang="en-ZA" sz="2800" dirty="0"/>
          </a:p>
        </p:txBody>
      </p:sp>
      <p:sp>
        <p:nvSpPr>
          <p:cNvPr id="6" name="TextBox 5"/>
          <p:cNvSpPr txBox="1"/>
          <p:nvPr/>
        </p:nvSpPr>
        <p:spPr>
          <a:xfrm>
            <a:off x="9335911" y="3217333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ZA" dirty="0"/>
          </a:p>
        </p:txBody>
      </p:sp>
      <p:sp>
        <p:nvSpPr>
          <p:cNvPr id="8" name="ZoneTexte 7"/>
          <p:cNvSpPr txBox="1"/>
          <p:nvPr/>
        </p:nvSpPr>
        <p:spPr>
          <a:xfrm>
            <a:off x="4091746" y="6045350"/>
            <a:ext cx="664672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371600" marR="0" lvl="3" indent="0" algn="l" defTabSz="457200" rtl="0" eaLnBrk="1" fontAlgn="auto" latinLnBrk="0" hangingPunct="1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2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ook Antiqua"/>
                <a:ea typeface="+mn-ea"/>
                <a:cs typeface="Book Antiqua"/>
              </a:rPr>
              <a:t>Example: In the editor window, open the file </a:t>
            </a:r>
            <a:r>
              <a:rPr kumimoji="0" lang="en-GB" sz="1200" b="1" i="0" u="none" strike="noStrike" kern="1200" cap="none" spc="0" normalizeH="0" baseline="0" noProof="0" dirty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Book Antiqua"/>
                <a:ea typeface="+mn-ea"/>
                <a:cs typeface="Book Antiqua"/>
              </a:rPr>
              <a:t>AMEANS.2.SAS</a:t>
            </a:r>
            <a:endParaRPr kumimoji="0" lang="en-GB" sz="1200" b="1" i="1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Book Antiqua"/>
              <a:ea typeface="+mn-ea"/>
              <a:cs typeface="Book Antiqua"/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54528" y="851732"/>
            <a:ext cx="2734187" cy="531343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1877" y="851732"/>
            <a:ext cx="2926189" cy="531195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</p:pic>
      <p:cxnSp>
        <p:nvCxnSpPr>
          <p:cNvPr id="10" name="Straight Arrow Connector 9"/>
          <p:cNvCxnSpPr/>
          <p:nvPr/>
        </p:nvCxnSpPr>
        <p:spPr>
          <a:xfrm flipV="1">
            <a:off x="2910674" y="1697064"/>
            <a:ext cx="2529231" cy="2663052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/>
          <p:cNvCxnSpPr/>
          <p:nvPr/>
        </p:nvCxnSpPr>
        <p:spPr>
          <a:xfrm flipV="1">
            <a:off x="2964036" y="2541722"/>
            <a:ext cx="2590492" cy="1818395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/>
          <p:cNvCxnSpPr/>
          <p:nvPr/>
        </p:nvCxnSpPr>
        <p:spPr>
          <a:xfrm flipV="1">
            <a:off x="2985558" y="4602997"/>
            <a:ext cx="2851305" cy="127402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ectangle 17"/>
          <p:cNvSpPr/>
          <p:nvPr/>
        </p:nvSpPr>
        <p:spPr>
          <a:xfrm>
            <a:off x="1146875" y="4129284"/>
            <a:ext cx="1763799" cy="62869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A"/>
          </a:p>
        </p:txBody>
      </p:sp>
      <p:sp>
        <p:nvSpPr>
          <p:cNvPr id="19" name="Rectangle 18"/>
          <p:cNvSpPr/>
          <p:nvPr/>
        </p:nvSpPr>
        <p:spPr>
          <a:xfrm>
            <a:off x="1195428" y="5579390"/>
            <a:ext cx="1790130" cy="584298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19814697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69436" y="126218"/>
            <a:ext cx="8915400" cy="845332"/>
          </a:xfrm>
        </p:spPr>
        <p:txBody>
          <a:bodyPr>
            <a:normAutofit/>
          </a:bodyPr>
          <a:lstStyle/>
          <a:p>
            <a:r>
              <a:rPr lang="en-ZA" sz="2800" dirty="0" err="1" smtClean="0"/>
              <a:t>Proc</a:t>
            </a:r>
            <a:r>
              <a:rPr lang="en-ZA" sz="2800" dirty="0" smtClean="0"/>
              <a:t> Means CLASS - Statement</a:t>
            </a:r>
            <a:endParaRPr lang="en-ZA" sz="2800" dirty="0"/>
          </a:p>
        </p:txBody>
      </p:sp>
      <p:sp>
        <p:nvSpPr>
          <p:cNvPr id="6" name="TextBox 5"/>
          <p:cNvSpPr txBox="1"/>
          <p:nvPr/>
        </p:nvSpPr>
        <p:spPr>
          <a:xfrm>
            <a:off x="9335911" y="3217333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ZA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8" name="ZoneTexte 7"/>
          <p:cNvSpPr txBox="1"/>
          <p:nvPr/>
        </p:nvSpPr>
        <p:spPr>
          <a:xfrm>
            <a:off x="4091746" y="6045350"/>
            <a:ext cx="664672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371600" marR="0" lvl="3" indent="0" algn="l" defTabSz="457200" rtl="0" eaLnBrk="1" fontAlgn="auto" latinLnBrk="0" hangingPunct="1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2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ook Antiqua"/>
                <a:ea typeface="+mn-ea"/>
                <a:cs typeface="Book Antiqua"/>
              </a:rPr>
              <a:t>Example: In the editor window, open the file </a:t>
            </a:r>
            <a:r>
              <a:rPr kumimoji="0" lang="en-GB" sz="1200" b="1" i="0" u="none" strike="noStrike" kern="1200" cap="none" spc="0" normalizeH="0" baseline="0" noProof="0" dirty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Book Antiqua"/>
                <a:ea typeface="+mn-ea"/>
                <a:cs typeface="Book Antiqua"/>
              </a:rPr>
              <a:t>AMEANS.2.SAS</a:t>
            </a:r>
            <a:endParaRPr kumimoji="0" lang="en-GB" sz="1200" b="1" i="1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Book Antiqua"/>
              <a:ea typeface="+mn-ea"/>
              <a:cs typeface="Book Antiqua"/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27136" y="1233990"/>
            <a:ext cx="3876675" cy="470535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60586" y="2577015"/>
            <a:ext cx="4000500" cy="20193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</p:pic>
      <p:cxnSp>
        <p:nvCxnSpPr>
          <p:cNvPr id="11" name="Straight Arrow Connector 10"/>
          <p:cNvCxnSpPr/>
          <p:nvPr/>
        </p:nvCxnSpPr>
        <p:spPr>
          <a:xfrm flipV="1">
            <a:off x="3409627" y="2417736"/>
            <a:ext cx="1317509" cy="666427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/>
          <p:cNvCxnSpPr/>
          <p:nvPr/>
        </p:nvCxnSpPr>
        <p:spPr>
          <a:xfrm>
            <a:off x="3285641" y="4091553"/>
            <a:ext cx="2340244" cy="224554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050274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/>
          <p:cNvSpPr txBox="1"/>
          <p:nvPr/>
        </p:nvSpPr>
        <p:spPr>
          <a:xfrm>
            <a:off x="9335911" y="3217333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ZA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" name="ZoneTexte 10"/>
          <p:cNvSpPr txBox="1"/>
          <p:nvPr/>
        </p:nvSpPr>
        <p:spPr>
          <a:xfrm>
            <a:off x="1804716" y="412710"/>
            <a:ext cx="601284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000" b="1" i="0" u="none" strike="noStrike" kern="1200" cap="small" spc="0" normalizeH="0" baseline="0" noProof="0" dirty="0" smtClean="0">
                <a:ln>
                  <a:noFill/>
                </a:ln>
                <a:solidFill>
                  <a:srgbClr val="342E2B"/>
                </a:solidFill>
                <a:effectLst/>
                <a:uLnTx/>
                <a:uFillTx/>
                <a:latin typeface="Book Antiqua"/>
                <a:ea typeface="+mn-ea"/>
                <a:cs typeface="Book Antiqua"/>
              </a:rPr>
              <a:t>Proc Univariate</a:t>
            </a:r>
            <a:endParaRPr kumimoji="0" lang="en-GB" sz="2000" b="1" i="0" u="none" strike="noStrike" kern="1200" cap="small" spc="0" normalizeH="0" baseline="0" noProof="0" dirty="0">
              <a:ln>
                <a:noFill/>
              </a:ln>
              <a:solidFill>
                <a:srgbClr val="342E2B"/>
              </a:solidFill>
              <a:effectLst/>
              <a:uLnTx/>
              <a:uFillTx/>
              <a:latin typeface="Book Antiqua"/>
              <a:ea typeface="+mn-ea"/>
              <a:cs typeface="Book Antiqua"/>
            </a:endParaRPr>
          </a:p>
        </p:txBody>
      </p:sp>
      <p:sp>
        <p:nvSpPr>
          <p:cNvPr id="4" name="ZoneTexte 7"/>
          <p:cNvSpPr txBox="1"/>
          <p:nvPr/>
        </p:nvSpPr>
        <p:spPr>
          <a:xfrm>
            <a:off x="674593" y="1164954"/>
            <a:ext cx="7356870" cy="24468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700" b="1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ook Antiqua"/>
                <a:ea typeface="+mn-ea"/>
                <a:cs typeface="Book Antiqua"/>
              </a:rPr>
              <a:t>What is PROC UNIVARIATE useful for?</a:t>
            </a:r>
          </a:p>
          <a:p>
            <a:pPr marL="742950" marR="0" lvl="1" indent="-285750" algn="l" defTabSz="4572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GB" sz="17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ook Antiqua"/>
                <a:ea typeface="+mn-ea"/>
                <a:cs typeface="Book Antiqua"/>
              </a:rPr>
              <a:t>To observe whether the data are approximately normally distributed.</a:t>
            </a:r>
            <a:r>
              <a:rPr kumimoji="0" lang="en-GB" sz="1700" b="0" i="0" u="none" strike="noStrike" kern="1200" cap="none" spc="0" normalizeH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ook Antiqua"/>
                <a:ea typeface="+mn-ea"/>
                <a:cs typeface="Book Antiqua"/>
              </a:rPr>
              <a:t> </a:t>
            </a:r>
            <a:r>
              <a:rPr kumimoji="0" lang="en-GB" sz="17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ook Antiqua"/>
                <a:ea typeface="+mn-ea"/>
                <a:cs typeface="Book Antiqua"/>
              </a:rPr>
              <a:t>In the form of a Histogram.</a:t>
            </a:r>
          </a:p>
          <a:p>
            <a:pPr marL="742950" marR="0" lvl="1" indent="-285750" algn="l" defTabSz="4572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GB" sz="17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ook Antiqua"/>
                <a:ea typeface="+mn-ea"/>
                <a:cs typeface="Book Antiqua"/>
              </a:rPr>
              <a:t>To spot if there are outliers present within the data.</a:t>
            </a:r>
          </a:p>
          <a:p>
            <a:pPr marL="742950" marR="0" lvl="1" indent="-285750" algn="l" defTabSz="4572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GB" sz="17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ook Antiqua"/>
                <a:ea typeface="+mn-ea"/>
                <a:cs typeface="Book Antiqua"/>
              </a:rPr>
              <a:t>To observe whether data distributions for variables differ by group.</a:t>
            </a:r>
          </a:p>
        </p:txBody>
      </p:sp>
    </p:spTree>
    <p:extLst>
      <p:ext uri="{BB962C8B-B14F-4D97-AF65-F5344CB8AC3E}">
        <p14:creationId xmlns:p14="http://schemas.microsoft.com/office/powerpoint/2010/main" val="2664039487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/>
          <p:cNvSpPr txBox="1"/>
          <p:nvPr/>
        </p:nvSpPr>
        <p:spPr>
          <a:xfrm>
            <a:off x="9335911" y="3217333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ZA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" name="ZoneTexte 10"/>
          <p:cNvSpPr txBox="1"/>
          <p:nvPr/>
        </p:nvSpPr>
        <p:spPr>
          <a:xfrm>
            <a:off x="1804716" y="668293"/>
            <a:ext cx="601284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000" b="1" i="0" u="none" strike="noStrike" kern="1200" cap="small" spc="0" normalizeH="0" baseline="0" noProof="0" dirty="0" smtClean="0">
                <a:ln>
                  <a:noFill/>
                </a:ln>
                <a:solidFill>
                  <a:srgbClr val="342E2B"/>
                </a:solidFill>
                <a:effectLst/>
                <a:uLnTx/>
                <a:uFillTx/>
                <a:latin typeface="Book Antiqua"/>
                <a:ea typeface="+mn-ea"/>
                <a:cs typeface="Book Antiqua"/>
              </a:rPr>
              <a:t>Proc Univariate</a:t>
            </a:r>
            <a:endParaRPr kumimoji="0" lang="en-GB" sz="2000" b="1" i="0" u="none" strike="noStrike" kern="1200" cap="small" spc="0" normalizeH="0" baseline="0" noProof="0" dirty="0">
              <a:ln>
                <a:noFill/>
              </a:ln>
              <a:solidFill>
                <a:srgbClr val="342E2B"/>
              </a:solidFill>
              <a:effectLst/>
              <a:uLnTx/>
              <a:uFillTx/>
              <a:latin typeface="Book Antiqua"/>
              <a:ea typeface="+mn-ea"/>
              <a:cs typeface="Book Antiqua"/>
            </a:endParaRPr>
          </a:p>
        </p:txBody>
      </p:sp>
      <p:sp>
        <p:nvSpPr>
          <p:cNvPr id="4" name="ZoneTexte 7"/>
          <p:cNvSpPr txBox="1"/>
          <p:nvPr/>
        </p:nvSpPr>
        <p:spPr>
          <a:xfrm>
            <a:off x="737621" y="1113872"/>
            <a:ext cx="7356870" cy="52629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600" b="1" i="0" u="sng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ook Antiqua"/>
                <a:ea typeface="+mn-ea"/>
                <a:cs typeface="Book Antiqua"/>
              </a:rPr>
              <a:t>The syntax for the PROC UNIVARIATE is:</a:t>
            </a:r>
          </a:p>
          <a:p>
            <a:pPr marL="457200" marR="0" lvl="1" indent="0" algn="l" defTabSz="4572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600" b="1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ook Antiqua"/>
                <a:ea typeface="+mn-ea"/>
                <a:cs typeface="Book Antiqua"/>
              </a:rPr>
              <a:t>PROC UNIVARIATE &lt;Options&gt;; </a:t>
            </a:r>
          </a:p>
          <a:p>
            <a:pPr marL="457200" marR="0" lvl="1" indent="0" algn="l" defTabSz="4572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600" b="1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ook Antiqua"/>
                <a:ea typeface="+mn-ea"/>
                <a:cs typeface="Book Antiqua"/>
              </a:rPr>
              <a:t>Statements&gt;;</a:t>
            </a:r>
          </a:p>
          <a:p>
            <a:pPr marL="800100" marR="0" lvl="1" indent="-342900" algn="l" defTabSz="4572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GB" sz="16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Book Antiqua"/>
              <a:ea typeface="+mn-ea"/>
              <a:cs typeface="Book Antiqua"/>
            </a:endParaRPr>
          </a:p>
          <a:p>
            <a:pPr marL="0" marR="0" lvl="0" indent="0" algn="l" defTabSz="4572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ook Antiqua"/>
                <a:ea typeface="+mn-ea"/>
                <a:cs typeface="Book Antiqua"/>
              </a:rPr>
              <a:t>The most commonly used &lt;Options&gt; for the PROC UNIVARIATE are:</a:t>
            </a:r>
          </a:p>
          <a:p>
            <a:pPr marL="457200" marR="0" lvl="1" indent="0" algn="l" defTabSz="4572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6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ook Antiqua"/>
                <a:ea typeface="+mn-ea"/>
                <a:cs typeface="Book Antiqua"/>
              </a:rPr>
              <a:t>DATA – Specified Dataset</a:t>
            </a:r>
            <a:endParaRPr kumimoji="0" lang="en-GB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Book Antiqua"/>
              <a:ea typeface="+mn-ea"/>
              <a:cs typeface="Book Antiqua"/>
            </a:endParaRPr>
          </a:p>
          <a:p>
            <a:pPr marL="457200" marR="0" lvl="1" indent="0" algn="l" defTabSz="4572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ook Antiqua"/>
                <a:ea typeface="+mn-ea"/>
                <a:cs typeface="Book Antiqua"/>
              </a:rPr>
              <a:t>NORMAL </a:t>
            </a:r>
            <a:r>
              <a:rPr kumimoji="0" lang="en-GB" sz="16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ook Antiqua"/>
                <a:ea typeface="+mn-ea"/>
                <a:cs typeface="Book Antiqua"/>
              </a:rPr>
              <a:t>– Provides the Test for Normality Table</a:t>
            </a:r>
            <a:endParaRPr kumimoji="0" lang="en-GB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Book Antiqua"/>
              <a:ea typeface="+mn-ea"/>
              <a:cs typeface="Book Antiqua"/>
            </a:endParaRPr>
          </a:p>
          <a:p>
            <a:pPr marL="457200" marR="0" lvl="1" indent="0" algn="l" defTabSz="4572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ook Antiqua"/>
                <a:ea typeface="+mn-ea"/>
                <a:cs typeface="Book Antiqua"/>
              </a:rPr>
              <a:t>PLOT </a:t>
            </a:r>
            <a:r>
              <a:rPr kumimoji="0" lang="en-GB" sz="16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ook Antiqua"/>
                <a:ea typeface="+mn-ea"/>
                <a:cs typeface="Book Antiqua"/>
              </a:rPr>
              <a:t>– Provides distribution and Probability plots</a:t>
            </a:r>
          </a:p>
          <a:p>
            <a:pPr marL="457200" marR="0" lvl="1" indent="0" algn="l" defTabSz="4572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6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Book Antiqua"/>
              <a:ea typeface="+mn-ea"/>
              <a:cs typeface="Book Antiqua"/>
            </a:endParaRPr>
          </a:p>
          <a:p>
            <a:pPr marL="0" marR="0" lvl="0" indent="0" algn="l" defTabSz="4572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600" b="1" i="0" u="sng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ook Antiqua"/>
                <a:ea typeface="+mn-ea"/>
                <a:cs typeface="Book Antiqua"/>
              </a:rPr>
              <a:t>Additional </a:t>
            </a:r>
            <a:r>
              <a:rPr kumimoji="0" lang="en-GB" sz="1600" b="1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ook Antiqua"/>
                <a:ea typeface="+mn-ea"/>
                <a:cs typeface="Book Antiqua"/>
              </a:rPr>
              <a:t>&lt;Options&gt; in PROC UNIVARIATE are:</a:t>
            </a:r>
          </a:p>
          <a:p>
            <a:pPr marL="457200" marR="0" lvl="1" indent="0" algn="l" defTabSz="4572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ook Antiqua"/>
                <a:ea typeface="+mn-ea"/>
                <a:cs typeface="Book Antiqua"/>
              </a:rPr>
              <a:t>TRIMMED </a:t>
            </a:r>
            <a:r>
              <a:rPr kumimoji="0" lang="en-GB" sz="16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ook Antiqua"/>
                <a:ea typeface="+mn-ea"/>
                <a:cs typeface="Book Antiqua"/>
              </a:rPr>
              <a:t>– Trims the top and bottom of the data before calculating the mean.</a:t>
            </a:r>
            <a:endParaRPr kumimoji="0" lang="en-GB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Book Antiqua"/>
              <a:ea typeface="+mn-ea"/>
              <a:cs typeface="Book Antiqua"/>
            </a:endParaRPr>
          </a:p>
          <a:p>
            <a:pPr marL="1257300" marR="0" lvl="2" indent="-342900" algn="l" defTabSz="4572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GB" sz="16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Book Antiqua"/>
              <a:ea typeface="+mn-ea"/>
              <a:cs typeface="Book Antiqua"/>
            </a:endParaRPr>
          </a:p>
          <a:p>
            <a:pPr marL="800100" marR="0" lvl="1" indent="-342900" algn="l" defTabSz="4572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GB" sz="16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Book Antiqua"/>
              <a:ea typeface="+mn-ea"/>
              <a:cs typeface="Book Antiqua"/>
            </a:endParaRPr>
          </a:p>
        </p:txBody>
      </p:sp>
    </p:spTree>
    <p:extLst>
      <p:ext uri="{BB962C8B-B14F-4D97-AF65-F5344CB8AC3E}">
        <p14:creationId xmlns:p14="http://schemas.microsoft.com/office/powerpoint/2010/main" val="3680505122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69436" y="126218"/>
            <a:ext cx="8915400" cy="845332"/>
          </a:xfrm>
        </p:spPr>
        <p:txBody>
          <a:bodyPr>
            <a:normAutofit/>
          </a:bodyPr>
          <a:lstStyle/>
          <a:p>
            <a:r>
              <a:rPr lang="en-ZA" sz="2800" dirty="0" smtClean="0"/>
              <a:t>Proc Univariate</a:t>
            </a:r>
            <a:endParaRPr lang="en-ZA" sz="2800" dirty="0"/>
          </a:p>
        </p:txBody>
      </p:sp>
      <p:sp>
        <p:nvSpPr>
          <p:cNvPr id="6" name="TextBox 5"/>
          <p:cNvSpPr txBox="1"/>
          <p:nvPr/>
        </p:nvSpPr>
        <p:spPr>
          <a:xfrm>
            <a:off x="9335911" y="3217333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ZA" dirty="0"/>
          </a:p>
        </p:txBody>
      </p:sp>
      <p:sp>
        <p:nvSpPr>
          <p:cNvPr id="5" name="TextBox 4"/>
          <p:cNvSpPr txBox="1"/>
          <p:nvPr/>
        </p:nvSpPr>
        <p:spPr>
          <a:xfrm>
            <a:off x="269436" y="744596"/>
            <a:ext cx="7874788" cy="7507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sz="1500" dirty="0">
                <a:latin typeface="Book Antiqua" panose="02040602050305030304" pitchFamily="18" charset="0"/>
                <a:cs typeface="Book Antiqua"/>
              </a:rPr>
              <a:t>Used to test if the data is normally </a:t>
            </a:r>
            <a:r>
              <a:rPr lang="en-GB" sz="1500" dirty="0" smtClean="0">
                <a:latin typeface="Book Antiqua" panose="02040602050305030304" pitchFamily="18" charset="0"/>
                <a:cs typeface="Book Antiqua"/>
              </a:rPr>
              <a:t>distributed, helps </a:t>
            </a:r>
            <a:r>
              <a:rPr lang="en-GB" sz="1500" dirty="0">
                <a:latin typeface="Book Antiqua" panose="02040602050305030304" pitchFamily="18" charset="0"/>
                <a:cs typeface="Book Antiqua"/>
              </a:rPr>
              <a:t>identify </a:t>
            </a:r>
            <a:r>
              <a:rPr lang="en-GB" sz="1500" dirty="0" smtClean="0">
                <a:latin typeface="Book Antiqua" panose="02040602050305030304" pitchFamily="18" charset="0"/>
                <a:cs typeface="Book Antiqua"/>
              </a:rPr>
              <a:t>outliers and produces </a:t>
            </a:r>
            <a:r>
              <a:rPr lang="en-GB" sz="1500" dirty="0">
                <a:latin typeface="Book Antiqua" panose="02040602050305030304" pitchFamily="18" charset="0"/>
                <a:cs typeface="Book Antiqua"/>
              </a:rPr>
              <a:t>graphs and </a:t>
            </a:r>
            <a:r>
              <a:rPr lang="en-GB" sz="1500" dirty="0" smtClean="0">
                <a:latin typeface="Book Antiqua" panose="02040602050305030304" pitchFamily="18" charset="0"/>
                <a:cs typeface="Book Antiqua"/>
              </a:rPr>
              <a:t>plots.</a:t>
            </a:r>
            <a:endParaRPr lang="en-GB" sz="1500" dirty="0">
              <a:latin typeface="Book Antiqua" panose="02040602050305030304" pitchFamily="18" charset="0"/>
              <a:cs typeface="Book Antiqua"/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42288" y="1208335"/>
            <a:ext cx="2482877" cy="510409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828076" y="3044120"/>
            <a:ext cx="1600200" cy="155257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85087" y="1791582"/>
            <a:ext cx="4114800" cy="405765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</p:pic>
      <p:cxnSp>
        <p:nvCxnSpPr>
          <p:cNvPr id="10" name="Straight Arrow Connector 9"/>
          <p:cNvCxnSpPr>
            <a:endCxn id="3" idx="1"/>
          </p:cNvCxnSpPr>
          <p:nvPr/>
        </p:nvCxnSpPr>
        <p:spPr>
          <a:xfrm flipV="1">
            <a:off x="3487119" y="3760383"/>
            <a:ext cx="1655169" cy="1294033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ZoneTexte 7"/>
          <p:cNvSpPr txBox="1"/>
          <p:nvPr/>
        </p:nvSpPr>
        <p:spPr>
          <a:xfrm>
            <a:off x="4504715" y="6133697"/>
            <a:ext cx="6646721" cy="41197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371600" marR="0" lvl="3" indent="0" algn="l" defTabSz="457200" rtl="0" eaLnBrk="1" fontAlgn="auto" latinLnBrk="0" hangingPunct="1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2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ook Antiqua"/>
                <a:ea typeface="+mn-ea"/>
                <a:cs typeface="Book Antiqua"/>
              </a:rPr>
              <a:t>Example: In the editor window, open the file </a:t>
            </a:r>
            <a:r>
              <a:rPr kumimoji="0" lang="en-GB" sz="1200" b="1" i="0" u="none" strike="noStrike" kern="1200" cap="none" spc="0" normalizeH="0" baseline="0" noProof="0" dirty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Book Antiqua"/>
                <a:ea typeface="+mn-ea"/>
                <a:cs typeface="Book Antiqua"/>
              </a:rPr>
              <a:t>AUNI1.SAS</a:t>
            </a:r>
            <a:endParaRPr kumimoji="0" lang="en-GB" sz="1200" b="1" i="1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Book Antiqua"/>
              <a:ea typeface="+mn-ea"/>
              <a:cs typeface="Book Antiqua"/>
            </a:endParaRPr>
          </a:p>
        </p:txBody>
      </p:sp>
    </p:spTree>
    <p:extLst>
      <p:ext uri="{BB962C8B-B14F-4D97-AF65-F5344CB8AC3E}">
        <p14:creationId xmlns:p14="http://schemas.microsoft.com/office/powerpoint/2010/main" val="344914025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10"/>
          <p:cNvSpPr txBox="1"/>
          <p:nvPr/>
        </p:nvSpPr>
        <p:spPr>
          <a:xfrm>
            <a:off x="1804716" y="668293"/>
            <a:ext cx="601284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000" b="1" i="0" u="none" strike="noStrike" kern="1200" cap="small" spc="0" normalizeH="0" baseline="0" noProof="0" dirty="0" smtClean="0">
                <a:ln>
                  <a:noFill/>
                </a:ln>
                <a:solidFill>
                  <a:srgbClr val="342E2B"/>
                </a:solidFill>
                <a:effectLst/>
                <a:uLnTx/>
                <a:uFillTx/>
                <a:latin typeface="Book Antiqua"/>
                <a:ea typeface="+mn-ea"/>
                <a:cs typeface="Book Antiqua"/>
              </a:rPr>
              <a:t>Proc Univariate</a:t>
            </a:r>
            <a:endParaRPr kumimoji="0" lang="en-GB" sz="2000" b="1" i="0" u="none" strike="noStrike" kern="1200" cap="small" spc="0" normalizeH="0" baseline="0" noProof="0" dirty="0">
              <a:ln>
                <a:noFill/>
              </a:ln>
              <a:solidFill>
                <a:srgbClr val="342E2B"/>
              </a:solidFill>
              <a:effectLst/>
              <a:uLnTx/>
              <a:uFillTx/>
              <a:latin typeface="Book Antiqua"/>
              <a:ea typeface="+mn-ea"/>
              <a:cs typeface="Book Antiqua"/>
            </a:endParaRPr>
          </a:p>
        </p:txBody>
      </p:sp>
      <p:sp>
        <p:nvSpPr>
          <p:cNvPr id="7" name="ZoneTexte 7"/>
          <p:cNvSpPr txBox="1"/>
          <p:nvPr/>
        </p:nvSpPr>
        <p:spPr>
          <a:xfrm>
            <a:off x="-376196" y="3273224"/>
            <a:ext cx="7977753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914400" marR="0" lvl="2" indent="0" algn="l" defTabSz="4572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600" b="1" i="0" u="sng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ook Antiqua"/>
                <a:ea typeface="+mn-ea"/>
                <a:cs typeface="Book Antiqua"/>
              </a:rPr>
              <a:t>The commonly used statements for PROC UNIVARIATE:</a:t>
            </a:r>
          </a:p>
          <a:p>
            <a:pPr marL="1371600" marR="0" lvl="3" indent="0" algn="l" defTabSz="4572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6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ook Antiqua"/>
                <a:ea typeface="+mn-ea"/>
                <a:cs typeface="Book Antiqua"/>
              </a:rPr>
              <a:t>VAR – Identifies which variables to analyse (One or more).</a:t>
            </a:r>
          </a:p>
          <a:p>
            <a:pPr marL="1371600" marR="0" lvl="3" indent="0" algn="l" defTabSz="4572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6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ook Antiqua"/>
                <a:ea typeface="+mn-ea"/>
                <a:cs typeface="Book Antiqua"/>
              </a:rPr>
              <a:t>HISTOGRAM – is a graphical display of the distribution of a set of data.</a:t>
            </a:r>
          </a:p>
          <a:p>
            <a:pPr marL="1371600" marR="0" lvl="3" indent="0" algn="l" defTabSz="4572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6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ook Antiqua"/>
                <a:ea typeface="+mn-ea"/>
                <a:cs typeface="Book Antiqua"/>
              </a:rPr>
              <a:t>INSET – displays descriptive statistics in the graph. (4.0) – Is a type of format see Table 2.4.</a:t>
            </a:r>
          </a:p>
          <a:p>
            <a:pPr marL="1371600" marR="0" lvl="3" indent="0" algn="l" defTabSz="4572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6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ook Antiqua"/>
                <a:ea typeface="+mn-ea"/>
                <a:cs typeface="Book Antiqua"/>
              </a:rPr>
              <a:t>QQPLOT – is used to produce a higher quality normal probability plot.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>
            <p:extLst/>
          </p:nvPr>
        </p:nvGraphicFramePr>
        <p:xfrm>
          <a:off x="2405576" y="1160226"/>
          <a:ext cx="5613010" cy="1895524"/>
        </p:xfrm>
        <a:graphic>
          <a:graphicData uri="http://schemas.openxmlformats.org/drawingml/2006/table">
            <a:tbl>
              <a:tblPr/>
              <a:tblGrid>
                <a:gridCol w="5613010">
                  <a:extLst>
                    <a:ext uri="{9D8B030D-6E8A-4147-A177-3AD203B41FA5}">
                      <a16:colId xmlns:a16="http://schemas.microsoft.com/office/drawing/2014/main" val="671865307"/>
                    </a:ext>
                  </a:extLst>
                </a:gridCol>
              </a:tblGrid>
              <a:tr h="1895524">
                <a:tc>
                  <a:txBody>
                    <a:bodyPr/>
                    <a:lstStyle/>
                    <a:p>
                      <a:endParaRPr lang="en-ZA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270745365"/>
                  </a:ext>
                </a:extLst>
              </a:tr>
            </a:tbl>
          </a:graphicData>
        </a:graphic>
      </p:graphicFrame>
      <p:sp>
        <p:nvSpPr>
          <p:cNvPr id="9" name="ZoneTexte 7"/>
          <p:cNvSpPr txBox="1"/>
          <p:nvPr/>
        </p:nvSpPr>
        <p:spPr>
          <a:xfrm>
            <a:off x="1492715" y="1239868"/>
            <a:ext cx="7977753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914400" marR="0" lvl="2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600" b="1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ook Antiqua"/>
                <a:ea typeface="+mn-ea"/>
                <a:cs typeface="Book Antiqua"/>
              </a:rPr>
              <a:t>PROC UNIVARIATE DATA = SAS DATASET &lt;Options&gt;;</a:t>
            </a:r>
          </a:p>
          <a:p>
            <a:pPr marL="914400" marR="0" lvl="2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600" b="1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ook Antiqua"/>
                <a:ea typeface="+mn-ea"/>
                <a:cs typeface="Book Antiqua"/>
              </a:rPr>
              <a:t>	VAR </a:t>
            </a:r>
            <a:r>
              <a:rPr kumimoji="0" lang="en-GB" sz="1600" b="1" i="1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ook Antiqua"/>
                <a:ea typeface="+mn-ea"/>
                <a:cs typeface="Book Antiqua"/>
              </a:rPr>
              <a:t>variable(s);</a:t>
            </a:r>
          </a:p>
          <a:p>
            <a:pPr marL="914400" marR="0" lvl="2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ook Antiqua"/>
                <a:ea typeface="+mn-ea"/>
                <a:cs typeface="Book Antiqua"/>
              </a:rPr>
              <a:t>	</a:t>
            </a:r>
            <a:r>
              <a:rPr kumimoji="0" lang="en-GB" sz="1600" b="1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ook Antiqua"/>
                <a:ea typeface="+mn-ea"/>
                <a:cs typeface="Book Antiqua"/>
              </a:rPr>
              <a:t>HISTOGRAM </a:t>
            </a:r>
            <a:r>
              <a:rPr kumimoji="0" lang="en-GB" sz="1600" b="1" i="1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ook Antiqua"/>
                <a:ea typeface="+mn-ea"/>
                <a:cs typeface="Book Antiqua"/>
              </a:rPr>
              <a:t>variable(s) &lt;/Options&gt;;</a:t>
            </a:r>
          </a:p>
          <a:p>
            <a:pPr marL="914400" marR="0" lvl="2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ook Antiqua"/>
                <a:ea typeface="+mn-ea"/>
                <a:cs typeface="Book Antiqua"/>
              </a:rPr>
              <a:t>	</a:t>
            </a:r>
            <a:r>
              <a:rPr kumimoji="0" lang="en-GB" sz="1600" b="1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ook Antiqua"/>
                <a:ea typeface="+mn-ea"/>
                <a:cs typeface="Book Antiqua"/>
              </a:rPr>
              <a:t>QQPLOT </a:t>
            </a:r>
            <a:r>
              <a:rPr kumimoji="0" lang="en-GB" sz="1600" b="1" i="1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ook Antiqua"/>
                <a:ea typeface="+mn-ea"/>
                <a:cs typeface="Book Antiqua"/>
              </a:rPr>
              <a:t>variable;</a:t>
            </a:r>
          </a:p>
          <a:p>
            <a:pPr marL="914400" marR="0" lvl="2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ook Antiqua"/>
                <a:ea typeface="+mn-ea"/>
                <a:cs typeface="Book Antiqua"/>
              </a:rPr>
              <a:t>	</a:t>
            </a:r>
            <a:r>
              <a:rPr kumimoji="0" lang="en-GB" sz="1600" b="1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ook Antiqua"/>
                <a:ea typeface="+mn-ea"/>
                <a:cs typeface="Book Antiqua"/>
              </a:rPr>
              <a:t>PROBPLOT </a:t>
            </a:r>
            <a:r>
              <a:rPr kumimoji="0" lang="en-GB" sz="1600" b="1" i="1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ook Antiqua"/>
                <a:ea typeface="+mn-ea"/>
                <a:cs typeface="Book Antiqua"/>
              </a:rPr>
              <a:t>variable(s) &lt;/Options&gt;;</a:t>
            </a:r>
          </a:p>
          <a:p>
            <a:pPr marL="914400" marR="0" lvl="2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ook Antiqua"/>
                <a:ea typeface="+mn-ea"/>
                <a:cs typeface="Book Antiqua"/>
              </a:rPr>
              <a:t>	</a:t>
            </a:r>
            <a:r>
              <a:rPr kumimoji="0" lang="en-GB" sz="1600" b="1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ook Antiqua"/>
                <a:ea typeface="+mn-ea"/>
                <a:cs typeface="Book Antiqua"/>
              </a:rPr>
              <a:t>INSET </a:t>
            </a:r>
            <a:r>
              <a:rPr kumimoji="0" lang="en-GB" sz="1600" b="1" i="1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ook Antiqua"/>
                <a:ea typeface="+mn-ea"/>
                <a:cs typeface="Book Antiqua"/>
              </a:rPr>
              <a:t>keywords &lt;/Options&gt;</a:t>
            </a:r>
          </a:p>
          <a:p>
            <a:pPr marL="914400" marR="0" lvl="2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600" b="1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ook Antiqua"/>
                <a:ea typeface="+mn-ea"/>
                <a:cs typeface="Book Antiqua"/>
              </a:rPr>
              <a:t>	RUN;</a:t>
            </a:r>
            <a:endParaRPr kumimoji="0" lang="en-GB" sz="16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Book Antiqua"/>
              <a:ea typeface="+mn-ea"/>
              <a:cs typeface="Book Antiqua"/>
            </a:endParaRPr>
          </a:p>
        </p:txBody>
      </p:sp>
      <p:sp>
        <p:nvSpPr>
          <p:cNvPr id="11" name="ZoneTexte 7"/>
          <p:cNvSpPr txBox="1"/>
          <p:nvPr/>
        </p:nvSpPr>
        <p:spPr>
          <a:xfrm>
            <a:off x="4438582" y="6088332"/>
            <a:ext cx="6646721" cy="41197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371600" marR="0" lvl="3" indent="0" algn="l" defTabSz="457200" rtl="0" eaLnBrk="1" fontAlgn="auto" latinLnBrk="0" hangingPunct="1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2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ook Antiqua"/>
                <a:ea typeface="+mn-ea"/>
                <a:cs typeface="Book Antiqua"/>
              </a:rPr>
              <a:t>Example: In the editor window, open the file </a:t>
            </a:r>
            <a:r>
              <a:rPr kumimoji="0" lang="en-GB" sz="1200" b="1" i="0" u="none" strike="noStrike" kern="1200" cap="none" spc="0" normalizeH="0" baseline="0" noProof="0" dirty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Book Antiqua"/>
                <a:ea typeface="+mn-ea"/>
                <a:cs typeface="Book Antiqua"/>
              </a:rPr>
              <a:t>AUNI4.SAS</a:t>
            </a:r>
            <a:endParaRPr kumimoji="0" lang="en-GB" sz="1200" b="1" i="1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Book Antiqua"/>
              <a:ea typeface="+mn-ea"/>
              <a:cs typeface="Book Antiqua"/>
            </a:endParaRPr>
          </a:p>
        </p:txBody>
      </p:sp>
    </p:spTree>
    <p:extLst>
      <p:ext uri="{BB962C8B-B14F-4D97-AF65-F5344CB8AC3E}">
        <p14:creationId xmlns:p14="http://schemas.microsoft.com/office/powerpoint/2010/main" val="3815044803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10"/>
          <p:cNvSpPr txBox="1"/>
          <p:nvPr/>
        </p:nvSpPr>
        <p:spPr>
          <a:xfrm>
            <a:off x="1804716" y="468238"/>
            <a:ext cx="601284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000" b="1" i="0" u="none" strike="noStrike" kern="1200" cap="small" spc="0" normalizeH="0" baseline="0" noProof="0" dirty="0" smtClean="0">
                <a:ln>
                  <a:noFill/>
                </a:ln>
                <a:solidFill>
                  <a:srgbClr val="342E2B"/>
                </a:solidFill>
                <a:effectLst/>
                <a:uLnTx/>
                <a:uFillTx/>
                <a:latin typeface="Book Antiqua"/>
                <a:ea typeface="+mn-ea"/>
                <a:cs typeface="Book Antiqua"/>
              </a:rPr>
              <a:t>Proc Univariate</a:t>
            </a:r>
            <a:endParaRPr kumimoji="0" lang="en-GB" sz="2000" b="1" i="0" u="none" strike="noStrike" kern="1200" cap="small" spc="0" normalizeH="0" baseline="0" noProof="0" dirty="0">
              <a:ln>
                <a:noFill/>
              </a:ln>
              <a:solidFill>
                <a:srgbClr val="342E2B"/>
              </a:solidFill>
              <a:effectLst/>
              <a:uLnTx/>
              <a:uFillTx/>
              <a:latin typeface="Book Antiqua"/>
              <a:ea typeface="+mn-ea"/>
              <a:cs typeface="Book Antiqua"/>
            </a:endParaRPr>
          </a:p>
        </p:txBody>
      </p:sp>
      <p:sp>
        <p:nvSpPr>
          <p:cNvPr id="11" name="ZoneTexte 7"/>
          <p:cNvSpPr txBox="1"/>
          <p:nvPr/>
        </p:nvSpPr>
        <p:spPr>
          <a:xfrm>
            <a:off x="4438582" y="6088332"/>
            <a:ext cx="6646721" cy="41197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371600" marR="0" lvl="3" indent="0" algn="l" defTabSz="457200" rtl="0" eaLnBrk="1" fontAlgn="auto" latinLnBrk="0" hangingPunct="1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2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ook Antiqua"/>
                <a:ea typeface="+mn-ea"/>
                <a:cs typeface="Book Antiqua"/>
              </a:rPr>
              <a:t>Example: In the editor window, open the file </a:t>
            </a:r>
            <a:r>
              <a:rPr kumimoji="0" lang="en-GB" sz="1200" b="1" i="0" u="none" strike="noStrike" kern="1200" cap="none" spc="0" normalizeH="0" baseline="0" noProof="0" dirty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Book Antiqua"/>
                <a:ea typeface="+mn-ea"/>
                <a:cs typeface="Book Antiqua"/>
              </a:rPr>
              <a:t>AUNI4.SAS</a:t>
            </a:r>
            <a:endParaRPr kumimoji="0" lang="en-GB" sz="1200" b="1" i="1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Book Antiqua"/>
              <a:ea typeface="+mn-ea"/>
              <a:cs typeface="Book Antiqua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66656" y="1565328"/>
            <a:ext cx="5497517" cy="433702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69038" y="2073299"/>
            <a:ext cx="3938014" cy="319172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1286870774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69436" y="126218"/>
            <a:ext cx="8915400" cy="845332"/>
          </a:xfrm>
        </p:spPr>
        <p:txBody>
          <a:bodyPr>
            <a:normAutofit/>
          </a:bodyPr>
          <a:lstStyle/>
          <a:p>
            <a:r>
              <a:rPr lang="en-ZA" sz="2800" dirty="0" smtClean="0"/>
              <a:t>Proc Univariate Histogram Statement options</a:t>
            </a:r>
            <a:endParaRPr lang="en-ZA" sz="2800" dirty="0"/>
          </a:p>
        </p:txBody>
      </p:sp>
      <p:sp>
        <p:nvSpPr>
          <p:cNvPr id="6" name="TextBox 5"/>
          <p:cNvSpPr txBox="1"/>
          <p:nvPr/>
        </p:nvSpPr>
        <p:spPr>
          <a:xfrm>
            <a:off x="9335911" y="3217333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ZA" dirty="0"/>
          </a:p>
        </p:txBody>
      </p:sp>
      <p:sp>
        <p:nvSpPr>
          <p:cNvPr id="5" name="TextBox 4"/>
          <p:cNvSpPr txBox="1"/>
          <p:nvPr/>
        </p:nvSpPr>
        <p:spPr>
          <a:xfrm>
            <a:off x="950259" y="1278340"/>
            <a:ext cx="7874788" cy="129477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  <a:buFont typeface="Arial"/>
              <a:buChar char="•"/>
            </a:pPr>
            <a:r>
              <a:rPr lang="en-GB" sz="1500" dirty="0">
                <a:latin typeface="Book Antiqua" panose="02040602050305030304" pitchFamily="18" charset="0"/>
                <a:cs typeface="Book Antiqua"/>
              </a:rPr>
              <a:t> NORMAL – superimposes a bell-shaped/normal curve over the histogram</a:t>
            </a:r>
          </a:p>
          <a:p>
            <a:pPr>
              <a:lnSpc>
                <a:spcPct val="200000"/>
              </a:lnSpc>
              <a:buFont typeface="Arial"/>
              <a:buChar char="•"/>
            </a:pPr>
            <a:r>
              <a:rPr lang="en-GB" sz="1500" dirty="0">
                <a:latin typeface="Book Antiqua" panose="02040602050305030304" pitchFamily="18" charset="0"/>
                <a:cs typeface="Book Antiqua"/>
              </a:rPr>
              <a:t> COLOR – specifies the </a:t>
            </a:r>
            <a:r>
              <a:rPr lang="en-GB" sz="1500" dirty="0" err="1">
                <a:latin typeface="Book Antiqua" panose="02040602050305030304" pitchFamily="18" charset="0"/>
                <a:cs typeface="Book Antiqua"/>
              </a:rPr>
              <a:t>color</a:t>
            </a:r>
            <a:r>
              <a:rPr lang="en-GB" sz="1500" dirty="0">
                <a:latin typeface="Book Antiqua" panose="02040602050305030304" pitchFamily="18" charset="0"/>
                <a:cs typeface="Book Antiqua"/>
              </a:rPr>
              <a:t> of the curve</a:t>
            </a:r>
          </a:p>
          <a:p>
            <a:pPr>
              <a:lnSpc>
                <a:spcPct val="200000"/>
              </a:lnSpc>
              <a:buFont typeface="Arial"/>
              <a:buChar char="•"/>
            </a:pPr>
            <a:r>
              <a:rPr lang="en-GB" sz="1500" dirty="0">
                <a:latin typeface="Book Antiqua" panose="02040602050305030304" pitchFamily="18" charset="0"/>
                <a:cs typeface="Book Antiqua"/>
              </a:rPr>
              <a:t> W = … - specifies the width of the curve</a:t>
            </a: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2313" t="70013" b="2688"/>
          <a:stretch/>
        </p:blipFill>
        <p:spPr>
          <a:xfrm>
            <a:off x="1732268" y="3044224"/>
            <a:ext cx="6107937" cy="217764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193627373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69436" y="126218"/>
            <a:ext cx="8915400" cy="845332"/>
          </a:xfrm>
        </p:spPr>
        <p:txBody>
          <a:bodyPr>
            <a:normAutofit/>
          </a:bodyPr>
          <a:lstStyle/>
          <a:p>
            <a:r>
              <a:rPr lang="en-ZA" sz="2800" dirty="0" smtClean="0"/>
              <a:t>Proc Univariate Statement options</a:t>
            </a:r>
            <a:endParaRPr lang="en-ZA" sz="2800" dirty="0"/>
          </a:p>
        </p:txBody>
      </p:sp>
      <p:sp>
        <p:nvSpPr>
          <p:cNvPr id="6" name="TextBox 5"/>
          <p:cNvSpPr txBox="1"/>
          <p:nvPr/>
        </p:nvSpPr>
        <p:spPr>
          <a:xfrm>
            <a:off x="9335911" y="3217333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ZA" dirty="0"/>
          </a:p>
        </p:txBody>
      </p:sp>
      <p:sp>
        <p:nvSpPr>
          <p:cNvPr id="5" name="TextBox 4"/>
          <p:cNvSpPr txBox="1"/>
          <p:nvPr/>
        </p:nvSpPr>
        <p:spPr>
          <a:xfrm>
            <a:off x="950259" y="1278340"/>
            <a:ext cx="7874788" cy="213154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sz="1500" dirty="0">
                <a:latin typeface="Book Antiqua" panose="02040602050305030304" pitchFamily="18" charset="0"/>
                <a:cs typeface="Book Antiqua"/>
              </a:rPr>
              <a:t> CIBASIC – confidence intervals for the mean, </a:t>
            </a:r>
            <a:r>
              <a:rPr lang="en-GB" sz="1500" dirty="0" err="1">
                <a:latin typeface="Book Antiqua" panose="02040602050305030304" pitchFamily="18" charset="0"/>
                <a:cs typeface="Book Antiqua"/>
              </a:rPr>
              <a:t>std</a:t>
            </a:r>
            <a:r>
              <a:rPr lang="en-GB" sz="1500" dirty="0">
                <a:latin typeface="Book Antiqua" panose="02040602050305030304" pitchFamily="18" charset="0"/>
                <a:cs typeface="Book Antiqua"/>
              </a:rPr>
              <a:t> and </a:t>
            </a:r>
            <a:r>
              <a:rPr lang="en-GB" sz="1500" dirty="0" err="1">
                <a:latin typeface="Book Antiqua" panose="02040602050305030304" pitchFamily="18" charset="0"/>
                <a:cs typeface="Book Antiqua"/>
              </a:rPr>
              <a:t>var</a:t>
            </a:r>
            <a:endParaRPr lang="en-GB" sz="1500" dirty="0">
              <a:latin typeface="Book Antiqua" panose="02040602050305030304" pitchFamily="18" charset="0"/>
              <a:cs typeface="Book Antiqua"/>
            </a:endParaRPr>
          </a:p>
          <a:p>
            <a:pPr marL="342900" indent="-3429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GB" sz="1500" dirty="0">
                <a:latin typeface="Book Antiqua" panose="02040602050305030304" pitchFamily="18" charset="0"/>
                <a:cs typeface="Book Antiqua"/>
              </a:rPr>
              <a:t> ALPHA = … - specifies the alpha for the intervals</a:t>
            </a:r>
          </a:p>
          <a:p>
            <a:pPr marL="342900" indent="-3429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GB" sz="1500" dirty="0">
                <a:latin typeface="Book Antiqua" panose="02040602050305030304" pitchFamily="18" charset="0"/>
                <a:cs typeface="Book Antiqua"/>
              </a:rPr>
              <a:t> MU0 = … - specify the parameter for a t-test of the mean </a:t>
            </a:r>
          </a:p>
          <a:p>
            <a:pPr marL="342900" lvl="0" indent="-3429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GB" sz="1500" dirty="0">
                <a:latin typeface="Book Antiqua" panose="02040602050305030304" pitchFamily="18" charset="0"/>
                <a:cs typeface="Book Antiqua"/>
              </a:rPr>
              <a:t> </a:t>
            </a:r>
            <a:r>
              <a:rPr lang="en-ZA" sz="1500" dirty="0">
                <a:latin typeface="Book Antiqua" panose="02040602050305030304" pitchFamily="18" charset="0"/>
                <a:cs typeface="Book Antiqua"/>
              </a:rPr>
              <a:t>NORMAL  - provides test statistics for a normality test of the data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ZA" sz="1500" dirty="0">
                <a:latin typeface="Book Antiqua" panose="02040602050305030304" pitchFamily="18" charset="0"/>
                <a:cs typeface="Book Antiqua"/>
              </a:rPr>
              <a:t> PLOTS – produces stem-and-leaf, box and normal probability plots</a:t>
            </a:r>
          </a:p>
        </p:txBody>
      </p:sp>
    </p:spTree>
    <p:extLst>
      <p:ext uri="{BB962C8B-B14F-4D97-AF65-F5344CB8AC3E}">
        <p14:creationId xmlns:p14="http://schemas.microsoft.com/office/powerpoint/2010/main" val="183051157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69436" y="126218"/>
            <a:ext cx="8915400" cy="845332"/>
          </a:xfrm>
        </p:spPr>
        <p:txBody>
          <a:bodyPr>
            <a:normAutofit/>
          </a:bodyPr>
          <a:lstStyle/>
          <a:p>
            <a:r>
              <a:rPr lang="en-ZA" sz="2800" dirty="0" smtClean="0"/>
              <a:t>Proc Univariate</a:t>
            </a:r>
            <a:endParaRPr lang="en-ZA" sz="2800" dirty="0"/>
          </a:p>
        </p:txBody>
      </p:sp>
      <p:sp>
        <p:nvSpPr>
          <p:cNvPr id="6" name="TextBox 5"/>
          <p:cNvSpPr txBox="1"/>
          <p:nvPr/>
        </p:nvSpPr>
        <p:spPr>
          <a:xfrm>
            <a:off x="9335911" y="3217333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ZA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1" name="ZoneTexte 7"/>
          <p:cNvSpPr txBox="1"/>
          <p:nvPr/>
        </p:nvSpPr>
        <p:spPr>
          <a:xfrm>
            <a:off x="4504715" y="6133697"/>
            <a:ext cx="664672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371600" marR="0" lvl="3" indent="0" algn="l" defTabSz="457200" rtl="0" eaLnBrk="1" fontAlgn="auto" latinLnBrk="0" hangingPunct="1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2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ook Antiqua"/>
                <a:ea typeface="+mn-ea"/>
                <a:cs typeface="Book Antiqua"/>
              </a:rPr>
              <a:t>Example: In the editor window, open the file </a:t>
            </a:r>
            <a:r>
              <a:rPr kumimoji="0" lang="en-GB" sz="1200" b="1" i="0" u="none" strike="noStrike" kern="1200" cap="none" spc="0" normalizeH="0" baseline="0" noProof="0" dirty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Book Antiqua"/>
                <a:ea typeface="+mn-ea"/>
                <a:cs typeface="Book Antiqua"/>
              </a:rPr>
              <a:t>AUNI2.SAS</a:t>
            </a:r>
            <a:endParaRPr kumimoji="0" lang="en-GB" sz="1200" b="1" i="1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Book Antiqua"/>
              <a:ea typeface="+mn-ea"/>
              <a:cs typeface="Book Antiqua"/>
            </a:endParaRP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9436" y="2002744"/>
            <a:ext cx="3543147" cy="316784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13769" y="1482287"/>
            <a:ext cx="4671067" cy="4143598"/>
          </a:xfrm>
          <a:prstGeom prst="rect">
            <a:avLst/>
          </a:prstGeom>
          <a:noFill/>
          <a:ln>
            <a:solidFill>
              <a:schemeClr val="tx1"/>
            </a:solidFill>
          </a:ln>
        </p:spPr>
      </p:pic>
      <p:cxnSp>
        <p:nvCxnSpPr>
          <p:cNvPr id="13" name="Straight Arrow Connector 12"/>
          <p:cNvCxnSpPr>
            <a:endCxn id="9" idx="1"/>
          </p:cNvCxnSpPr>
          <p:nvPr/>
        </p:nvCxnSpPr>
        <p:spPr>
          <a:xfrm flipV="1">
            <a:off x="1968285" y="3554086"/>
            <a:ext cx="2545484" cy="1172897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ectangle 14"/>
          <p:cNvSpPr/>
          <p:nvPr/>
        </p:nvSpPr>
        <p:spPr>
          <a:xfrm>
            <a:off x="635431" y="4649491"/>
            <a:ext cx="1332854" cy="15498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29526240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69436" y="126218"/>
            <a:ext cx="8915400" cy="845332"/>
          </a:xfrm>
        </p:spPr>
        <p:txBody>
          <a:bodyPr>
            <a:normAutofit/>
          </a:bodyPr>
          <a:lstStyle/>
          <a:p>
            <a:r>
              <a:rPr lang="en-ZA" sz="2800" dirty="0" smtClean="0"/>
              <a:t>Proc Univariate output</a:t>
            </a:r>
            <a:endParaRPr lang="en-ZA" sz="2800" dirty="0"/>
          </a:p>
        </p:txBody>
      </p:sp>
      <p:sp>
        <p:nvSpPr>
          <p:cNvPr id="6" name="TextBox 5"/>
          <p:cNvSpPr txBox="1"/>
          <p:nvPr/>
        </p:nvSpPr>
        <p:spPr>
          <a:xfrm>
            <a:off x="9335911" y="3217333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ZA" dirty="0"/>
          </a:p>
        </p:txBody>
      </p:sp>
      <p:sp>
        <p:nvSpPr>
          <p:cNvPr id="5" name="TextBox 4"/>
          <p:cNvSpPr txBox="1"/>
          <p:nvPr/>
        </p:nvSpPr>
        <p:spPr>
          <a:xfrm>
            <a:off x="950259" y="1278340"/>
            <a:ext cx="7874788" cy="143904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  <a:buFont typeface="Arial"/>
              <a:buChar char="•"/>
            </a:pPr>
            <a:r>
              <a:rPr lang="en-GB" sz="1500" dirty="0">
                <a:latin typeface="Book Antiqua" panose="02040602050305030304" pitchFamily="18" charset="0"/>
                <a:cs typeface="Book Antiqua"/>
              </a:rPr>
              <a:t>  Skewness – measure of symmetry (should be close to 0</a:t>
            </a:r>
            <a:r>
              <a:rPr lang="en-GB" sz="1500" dirty="0" smtClean="0">
                <a:latin typeface="Book Antiqua" panose="02040602050305030304" pitchFamily="18" charset="0"/>
                <a:cs typeface="Book Antiqua"/>
              </a:rPr>
              <a:t>)</a:t>
            </a:r>
          </a:p>
          <a:p>
            <a:pPr>
              <a:lnSpc>
                <a:spcPct val="150000"/>
              </a:lnSpc>
              <a:buFont typeface="Arial"/>
              <a:buChar char="•"/>
            </a:pPr>
            <a:endParaRPr lang="en-GB" sz="1500" dirty="0">
              <a:latin typeface="Book Antiqua" panose="02040602050305030304" pitchFamily="18" charset="0"/>
              <a:cs typeface="Book Antiqua"/>
            </a:endParaRPr>
          </a:p>
          <a:p>
            <a:pPr>
              <a:lnSpc>
                <a:spcPct val="150000"/>
              </a:lnSpc>
              <a:buFont typeface="Arial"/>
              <a:buChar char="•"/>
            </a:pPr>
            <a:r>
              <a:rPr lang="en-GB" sz="1500" dirty="0" smtClean="0">
                <a:latin typeface="Book Antiqua" panose="02040602050305030304" pitchFamily="18" charset="0"/>
                <a:cs typeface="Book Antiqua"/>
              </a:rPr>
              <a:t> </a:t>
            </a:r>
            <a:r>
              <a:rPr lang="en-GB" sz="1500" dirty="0">
                <a:latin typeface="Book Antiqua" panose="02040602050305030304" pitchFamily="18" charset="0"/>
                <a:cs typeface="Book Antiqua"/>
              </a:rPr>
              <a:t>Kurtosis – measures the shape of the distribution (should be equal to zero), a positive value indicates more peaks in the data and vice versa for a negative value</a:t>
            </a:r>
          </a:p>
        </p:txBody>
      </p:sp>
      <p:sp>
        <p:nvSpPr>
          <p:cNvPr id="7" name="ZoneTexte 7"/>
          <p:cNvSpPr txBox="1"/>
          <p:nvPr/>
        </p:nvSpPr>
        <p:spPr>
          <a:xfrm>
            <a:off x="4416056" y="6046850"/>
            <a:ext cx="645063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371600" marR="0" lvl="3" indent="0" algn="l" defTabSz="457200" rtl="0" eaLnBrk="1" fontAlgn="auto" latinLnBrk="0" hangingPunct="1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2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ook Antiqua"/>
                <a:ea typeface="+mn-ea"/>
                <a:cs typeface="Book Antiqua"/>
              </a:rPr>
              <a:t>Example: In the editor window, open the file </a:t>
            </a:r>
            <a:r>
              <a:rPr kumimoji="0" lang="en-GB" sz="1200" b="1" i="0" u="none" strike="noStrike" kern="1200" cap="none" spc="0" normalizeH="0" baseline="0" noProof="0" dirty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Book Antiqua"/>
                <a:ea typeface="+mn-ea"/>
                <a:cs typeface="Book Antiqua"/>
              </a:rPr>
              <a:t>AUNI2.SAS</a:t>
            </a:r>
            <a:endParaRPr kumimoji="0" lang="en-GB" sz="1200" b="1" i="1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Book Antiqua"/>
              <a:ea typeface="+mn-ea"/>
              <a:cs typeface="Book Antiqua"/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65023" y="3268402"/>
            <a:ext cx="3324225" cy="202882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312405427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ctrTitle"/>
          </p:nvPr>
        </p:nvSpPr>
        <p:spPr>
          <a:xfrm>
            <a:off x="742950" y="501651"/>
            <a:ext cx="8420100" cy="1470025"/>
          </a:xfrm>
        </p:spPr>
        <p:txBody>
          <a:bodyPr>
            <a:normAutofit/>
          </a:bodyPr>
          <a:lstStyle/>
          <a:p>
            <a:r>
              <a:rPr lang="en-ZA" sz="2400" b="1" dirty="0" smtClean="0">
                <a:solidFill>
                  <a:srgbClr val="A7853E"/>
                </a:solidFill>
                <a:latin typeface="Baskerville Old Face" charset="0"/>
                <a:cs typeface="+mj-cs"/>
              </a:rPr>
              <a:t/>
            </a:r>
            <a:br>
              <a:rPr lang="en-ZA" sz="2400" b="1" dirty="0" smtClean="0">
                <a:solidFill>
                  <a:srgbClr val="A7853E"/>
                </a:solidFill>
                <a:latin typeface="Baskerville Old Face" charset="0"/>
                <a:cs typeface="+mj-cs"/>
              </a:rPr>
            </a:br>
            <a:endParaRPr lang="en-ZA" sz="2400" b="1" dirty="0">
              <a:solidFill>
                <a:srgbClr val="A7853E"/>
              </a:solidFill>
              <a:latin typeface="Baskerville Old Face" charset="0"/>
              <a:cs typeface="+mj-cs"/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1186703" y="2719454"/>
            <a:ext cx="7532594" cy="10772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ZA" sz="3200" b="0" i="0" u="none" strike="noStrike" kern="1200" cap="none" spc="0" normalizeH="0" baseline="0" noProof="0" dirty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Study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ZA" sz="3200" b="0" i="0" u="none" strike="noStrike" kern="1200" cap="none" spc="0" normalizeH="0" baseline="0" noProof="0" dirty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Chapter </a:t>
            </a:r>
            <a:r>
              <a:rPr kumimoji="0" lang="en-ZA" sz="3200" b="0" i="0" u="none" strike="noStrike" kern="1200" cap="none" spc="0" normalizeH="0" baseline="0" noProof="0" dirty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6 </a:t>
            </a:r>
            <a:endParaRPr kumimoji="0" lang="en-ZA" sz="3200" b="0" i="0" u="none" strike="noStrike" kern="1200" cap="none" spc="0" normalizeH="0" baseline="0" noProof="0" dirty="0" smtClean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6702088" y="5220717"/>
            <a:ext cx="3024161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ZA" sz="2000" b="1" i="0" u="none" strike="noStrike" kern="1200" cap="none" spc="50" normalizeH="0" baseline="0" noProof="0" dirty="0" smtClean="0">
                <a:ln w="0"/>
                <a:solidFill>
                  <a:srgbClr val="EEECE1"/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  <a:uLnTx/>
                <a:uFillTx/>
                <a:latin typeface="Calibri"/>
                <a:ea typeface="+mn-ea"/>
                <a:cs typeface="+mn-cs"/>
              </a:rPr>
              <a:t>Matthew Valentine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ZA" sz="2000" b="1" i="0" u="none" strike="noStrike" kern="1200" cap="none" spc="50" normalizeH="0" baseline="0" noProof="0" dirty="0" smtClean="0">
                <a:ln w="0"/>
                <a:solidFill>
                  <a:srgbClr val="EEECE1"/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  <a:uLnTx/>
                <a:uFillTx/>
                <a:latin typeface="Calibri"/>
                <a:ea typeface="+mn-ea"/>
                <a:cs typeface="+mn-cs"/>
              </a:rPr>
              <a:t>Office: Tech Room Lab K2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ZA" sz="2000" b="1" i="0" u="none" strike="noStrike" kern="1200" cap="none" spc="50" normalizeH="0" baseline="0" noProof="0" dirty="0" smtClean="0">
                <a:ln w="0"/>
                <a:solidFill>
                  <a:srgbClr val="EEECE1"/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  <a:uLnTx/>
                <a:uFillTx/>
                <a:latin typeface="Calibri"/>
                <a:ea typeface="+mn-ea"/>
                <a:cs typeface="+mn-cs"/>
              </a:rPr>
              <a:t>Mvalentine@uwc.ac.za</a:t>
            </a:r>
            <a:endParaRPr kumimoji="0" lang="en-ZA" sz="1800" b="1" i="0" u="none" strike="noStrike" kern="1200" cap="none" spc="50" normalizeH="0" baseline="0" noProof="0" dirty="0">
              <a:ln w="0"/>
              <a:solidFill>
                <a:srgbClr val="EEECE1"/>
              </a:solidFill>
              <a:effectLst>
                <a:innerShdw blurRad="63500" dist="50800" dir="13500000">
                  <a:srgbClr val="000000">
                    <a:alpha val="50000"/>
                  </a:srgbClr>
                </a:innerShdw>
              </a:effectLst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95402936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5252</TotalTime>
  <Words>927</Words>
  <Application>Microsoft Office PowerPoint</Application>
  <PresentationFormat>A4 Paper (210x297 mm)</PresentationFormat>
  <Paragraphs>147</Paragraphs>
  <Slides>21</Slides>
  <Notes>21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6" baseType="lpstr">
      <vt:lpstr>Arial</vt:lpstr>
      <vt:lpstr>Baskerville Old Face</vt:lpstr>
      <vt:lpstr>Book Antiqua</vt:lpstr>
      <vt:lpstr>Calibri</vt:lpstr>
      <vt:lpstr>Office Theme</vt:lpstr>
      <vt:lpstr> </vt:lpstr>
      <vt:lpstr>PowerPoint Presentation</vt:lpstr>
      <vt:lpstr>PowerPoint Presentation</vt:lpstr>
      <vt:lpstr>PowerPoint Presentation</vt:lpstr>
      <vt:lpstr>PowerPoint Presentation</vt:lpstr>
      <vt:lpstr>Proc Means</vt:lpstr>
      <vt:lpstr>Proc Means</vt:lpstr>
      <vt:lpstr>Proc Means</vt:lpstr>
      <vt:lpstr>Proc Means Statement options</vt:lpstr>
      <vt:lpstr>Proc Means BY - Statement</vt:lpstr>
      <vt:lpstr>Proc Means CLASS - Statement</vt:lpstr>
      <vt:lpstr>PowerPoint Presentation</vt:lpstr>
      <vt:lpstr>PowerPoint Presentation</vt:lpstr>
      <vt:lpstr>Proc Univariate</vt:lpstr>
      <vt:lpstr>PowerPoint Presentation</vt:lpstr>
      <vt:lpstr>PowerPoint Presentation</vt:lpstr>
      <vt:lpstr>Proc Univariate Histogram Statement options</vt:lpstr>
      <vt:lpstr>Proc Univariate Statement options</vt:lpstr>
      <vt:lpstr>Proc Univariate</vt:lpstr>
      <vt:lpstr>Proc Univariate output</vt:lpstr>
      <vt:lpstr>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NDorfling</dc:creator>
  <cp:lastModifiedBy>Matthew Valentine</cp:lastModifiedBy>
  <cp:revision>564</cp:revision>
  <dcterms:created xsi:type="dcterms:W3CDTF">2015-03-11T08:56:03Z</dcterms:created>
  <dcterms:modified xsi:type="dcterms:W3CDTF">2020-04-20T17:27:12Z</dcterms:modified>
</cp:coreProperties>
</file>