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364" r:id="rId3"/>
    <p:sldId id="375" r:id="rId4"/>
    <p:sldId id="376" r:id="rId5"/>
    <p:sldId id="377" r:id="rId6"/>
    <p:sldId id="378" r:id="rId7"/>
    <p:sldId id="379" r:id="rId8"/>
    <p:sldId id="380" r:id="rId9"/>
  </p:sldIdLst>
  <p:sldSz cx="9906000" cy="6858000" type="A4"/>
  <p:notesSz cx="10409238" cy="7296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4DD034-75F4-5147-85C5-57B72AD43751}">
          <p14:sldIdLst>
            <p14:sldId id="256"/>
            <p14:sldId id="364"/>
            <p14:sldId id="375"/>
            <p14:sldId id="376"/>
            <p14:sldId id="377"/>
            <p14:sldId id="378"/>
            <p14:sldId id="379"/>
            <p14:sldId id="3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hn M" initials="J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37" autoAdjust="0"/>
    <p:restoredTop sz="92374" autoAdjust="0"/>
  </p:normalViewPr>
  <p:slideViewPr>
    <p:cSldViewPr snapToGrid="0" snapToObjects="1">
      <p:cViewPr varScale="1">
        <p:scale>
          <a:sx n="65" d="100"/>
          <a:sy n="65" d="100"/>
        </p:scale>
        <p:origin x="510" y="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C605BAAB-8757-4FBD-9BED-960688D401C4}" type="datetimeFigureOut">
              <a:rPr lang="en-US" smtClean="0"/>
              <a:pPr/>
              <a:t>5/15/2020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4A9A6402-836E-4507-B641-B01FDFCE6F04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6002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96159" y="0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/>
          <a:lstStyle>
            <a:lvl1pPr algn="r">
              <a:defRPr sz="1300"/>
            </a:lvl1pPr>
          </a:lstStyle>
          <a:p>
            <a:fld id="{1C2F6879-603E-754B-9B04-8AAE8D479E4C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28975" y="547688"/>
            <a:ext cx="3951288" cy="2735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1169" tIns="50585" rIns="101169" bIns="5058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40924" y="3465671"/>
            <a:ext cx="8327390" cy="3283268"/>
          </a:xfrm>
          <a:prstGeom prst="rect">
            <a:avLst/>
          </a:prstGeom>
        </p:spPr>
        <p:txBody>
          <a:bodyPr vert="horz" lIns="101169" tIns="50585" rIns="101169" bIns="50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96159" y="6930076"/>
            <a:ext cx="4510670" cy="364808"/>
          </a:xfrm>
          <a:prstGeom prst="rect">
            <a:avLst/>
          </a:prstGeom>
        </p:spPr>
        <p:txBody>
          <a:bodyPr vert="horz" lIns="101169" tIns="50585" rIns="101169" bIns="50585" rtlCol="0" anchor="b"/>
          <a:lstStyle>
            <a:lvl1pPr algn="r">
              <a:defRPr sz="1300"/>
            </a:lvl1pPr>
          </a:lstStyle>
          <a:p>
            <a:fld id="{D14C1D86-6F9C-9646-B809-264C58FC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0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9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07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13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72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68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24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4C1D86-6F9C-9646-B809-264C58FC197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54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C1D86-6F9C-9646-B809-264C58FC1970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04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4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8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8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3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8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D5889-9C47-1542-89BF-71BA5CAEC00A}" type="datetimeFigureOut">
              <a:rPr lang="en-US" smtClean="0"/>
              <a:pPr/>
              <a:t>5/15/2020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8427-4C18-6C43-BFAB-BAEC5845A1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Baskerville Old Face"/>
          <a:ea typeface="+mj-ea"/>
          <a:cs typeface="Baskerville Old Fac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  <a:t/>
            </a:r>
            <a:b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03879" y="2430792"/>
            <a:ext cx="609824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32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Lecture_5</a:t>
            </a:r>
          </a:p>
          <a:p>
            <a:pPr algn="ctr"/>
            <a:r>
              <a:rPr lang="en-ZA" sz="32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SAS Procedures</a:t>
            </a:r>
            <a:endParaRPr lang="en-ZA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02088" y="5021541"/>
            <a:ext cx="30241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Matthew Valentine</a:t>
            </a:r>
          </a:p>
          <a:p>
            <a:r>
              <a:rPr lang="en-ZA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Office: Tech Room Lab K2</a:t>
            </a:r>
          </a:p>
          <a:p>
            <a:r>
              <a:rPr lang="en-ZA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Room 1.31A</a:t>
            </a:r>
          </a:p>
          <a:p>
            <a:r>
              <a:rPr lang="en-ZA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mvalentine@uwc.ac.za</a:t>
            </a:r>
            <a:endParaRPr lang="en-ZA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034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500" dirty="0" smtClean="0"/>
              <a:t>Using </a:t>
            </a:r>
            <a:r>
              <a:rPr lang="en-ZA" sz="2500" dirty="0" err="1" smtClean="0"/>
              <a:t>Proc</a:t>
            </a:r>
            <a:r>
              <a:rPr lang="en-ZA" sz="2500" dirty="0" smtClean="0"/>
              <a:t> Format</a:t>
            </a:r>
            <a:endParaRPr lang="en-ZA" sz="25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886885" y="736192"/>
            <a:ext cx="787478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Formatting the display output makes it easier to </a:t>
            </a: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read.</a:t>
            </a:r>
            <a:endParaRPr lang="en-GB" sz="1200" dirty="0">
              <a:solidFill>
                <a:srgbClr val="342E2B"/>
              </a:solidFill>
              <a:latin typeface="Avenir Next Cyr W04 Regular" panose="020B0503020202020204" pitchFamily="34" charset="0"/>
              <a:cs typeface="Book Antiqu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Only changes the output that is </a:t>
            </a: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displayed.</a:t>
            </a:r>
            <a:endParaRPr lang="en-GB" sz="1200" dirty="0">
              <a:solidFill>
                <a:srgbClr val="342E2B"/>
              </a:solidFill>
              <a:latin typeface="Avenir Next Cyr W04 Regular" panose="020B0503020202020204" pitchFamily="34" charset="0"/>
              <a:cs typeface="Book Antiqu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Raw data should not be formatted for display </a:t>
            </a: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purposes.</a:t>
            </a:r>
            <a:endParaRPr lang="en-GB" sz="1200" dirty="0">
              <a:solidFill>
                <a:srgbClr val="342E2B"/>
              </a:solidFill>
              <a:latin typeface="Avenir Next Cyr W04 Regular" panose="020B0503020202020204" pitchFamily="34" charset="0"/>
              <a:cs typeface="Book Antiqu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Assign formats in the </a:t>
            </a:r>
            <a:r>
              <a:rPr lang="en-GB" sz="1200" i="1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proc format </a:t>
            </a: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step and recall these formats in the </a:t>
            </a:r>
            <a:r>
              <a:rPr lang="en-GB" sz="1200" i="1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proc print </a:t>
            </a: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step.</a:t>
            </a:r>
            <a:endParaRPr lang="en-GB" sz="1200" dirty="0">
              <a:solidFill>
                <a:srgbClr val="342E2B"/>
              </a:solidFill>
              <a:latin typeface="Avenir Next Cyr W04 Regular" panose="020B0503020202020204" pitchFamily="34" charset="0"/>
              <a:cs typeface="Book Antiqu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Formats can be applied to a single variable or a range of </a:t>
            </a: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variables.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dirty="0">
              <a:solidFill>
                <a:srgbClr val="342E2B"/>
              </a:solidFill>
              <a:latin typeface="Avenir Next Cyr W04 Regular" panose="020B0503020202020204" pitchFamily="34" charset="0"/>
              <a:cs typeface="Book Antiqu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For Example;</a:t>
            </a: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 </a:t>
            </a: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suppose your SAS dataset contains a variable named MARRIED coded as 0 and 1. To cause SAS to output the words YES and NO rather than a 0 and 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Construct a format definition for MARRIED using the PROC FORMAT statement as follows;</a:t>
            </a:r>
          </a:p>
        </p:txBody>
      </p:sp>
      <p:sp>
        <p:nvSpPr>
          <p:cNvPr id="3" name="Rectangle 2"/>
          <p:cNvSpPr/>
          <p:nvPr/>
        </p:nvSpPr>
        <p:spPr>
          <a:xfrm>
            <a:off x="444055" y="4221392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PROC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FORMAT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DATA = MYDATA;</a:t>
            </a:r>
          </a:p>
          <a:p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VALUE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FMTMARRIED </a:t>
            </a:r>
            <a:r>
              <a:rPr lang="en-ZA" sz="1200" b="1" dirty="0">
                <a:solidFill>
                  <a:srgbClr val="008080"/>
                </a:solidFill>
                <a:latin typeface="Courier New" panose="02070309020205020404" pitchFamily="49" charset="0"/>
              </a:rPr>
              <a:t>0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ZA" sz="1200" dirty="0">
                <a:solidFill>
                  <a:srgbClr val="800080"/>
                </a:solidFill>
                <a:latin typeface="Courier New" panose="02070309020205020404" pitchFamily="49" charset="0"/>
              </a:rPr>
              <a:t>"NO"</a:t>
            </a:r>
            <a:endParaRPr lang="en-ZA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  <a:r>
              <a:rPr lang="en-ZA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ZA" sz="1200" b="1" dirty="0" smtClean="0">
                <a:solidFill>
                  <a:srgbClr val="008080"/>
                </a:solidFill>
                <a:latin typeface="Courier New" panose="02070309020205020404" pitchFamily="49" charset="0"/>
              </a:rPr>
              <a:t>1</a:t>
            </a:r>
            <a:r>
              <a:rPr lang="en-ZA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en-ZA" sz="1200" dirty="0">
                <a:solidFill>
                  <a:srgbClr val="800080"/>
                </a:solidFill>
                <a:latin typeface="Courier New" panose="02070309020205020404" pitchFamily="49" charset="0"/>
              </a:rPr>
              <a:t>"YES"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ZA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055" y="5279587"/>
            <a:ext cx="30600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ODS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HTML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PROC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PRINT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DATA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MYDATA;</a:t>
            </a:r>
          </a:p>
          <a:p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FORMAT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MARRIED </a:t>
            </a:r>
            <a:r>
              <a:rPr lang="en-ZA" sz="1200" dirty="0">
                <a:solidFill>
                  <a:srgbClr val="008080"/>
                </a:solidFill>
                <a:latin typeface="Courier New" panose="02070309020205020404" pitchFamily="49" charset="0"/>
              </a:rPr>
              <a:t>FMTMARRIED.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ODS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HTML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CLOSE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136" y="4221392"/>
            <a:ext cx="4953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PROC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FORMAT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DATA = MYDATA;</a:t>
            </a:r>
          </a:p>
          <a:p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VALUE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FMTGENDER </a:t>
            </a:r>
            <a:r>
              <a:rPr lang="en-ZA" sz="1200" dirty="0">
                <a:solidFill>
                  <a:srgbClr val="800080"/>
                </a:solidFill>
                <a:latin typeface="Courier New" panose="02070309020205020404" pitchFamily="49" charset="0"/>
              </a:rPr>
              <a:t>"F"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ZA" sz="1200" dirty="0">
                <a:solidFill>
                  <a:srgbClr val="800080"/>
                </a:solidFill>
                <a:latin typeface="Courier New" panose="02070309020205020404" pitchFamily="49" charset="0"/>
              </a:rPr>
              <a:t>"FEMALE"</a:t>
            </a:r>
            <a:endParaRPr lang="en-ZA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				     </a:t>
            </a:r>
            <a:r>
              <a:rPr lang="en-ZA" sz="1200" dirty="0">
                <a:solidFill>
                  <a:srgbClr val="800080"/>
                </a:solidFill>
                <a:latin typeface="Courier New" panose="02070309020205020404" pitchFamily="49" charset="0"/>
              </a:rPr>
              <a:t>"M"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ZA" sz="1200" dirty="0" smtClean="0">
                <a:solidFill>
                  <a:srgbClr val="800080"/>
                </a:solidFill>
                <a:latin typeface="Courier New" panose="02070309020205020404" pitchFamily="49" charset="0"/>
              </a:rPr>
              <a:t>“MALE"</a:t>
            </a:r>
            <a:r>
              <a:rPr lang="en-ZA" sz="1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ZA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ZA" sz="1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ODS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HTML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PROC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PRINT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DATA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= MYDATA;</a:t>
            </a:r>
          </a:p>
          <a:p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FORMAT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GENDER </a:t>
            </a:r>
            <a:r>
              <a:rPr lang="en-ZA" sz="1200" dirty="0">
                <a:solidFill>
                  <a:srgbClr val="008080"/>
                </a:solidFill>
                <a:latin typeface="Courier New" panose="02070309020205020404" pitchFamily="49" charset="0"/>
              </a:rPr>
              <a:t>$FMTGENDER.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ZA" sz="120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ODS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HTML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ZA" sz="1200" dirty="0">
                <a:solidFill>
                  <a:srgbClr val="0000FF"/>
                </a:solidFill>
                <a:latin typeface="Courier New" panose="02070309020205020404" pitchFamily="49" charset="0"/>
              </a:rPr>
              <a:t>CLOSE</a:t>
            </a:r>
            <a:r>
              <a:rPr lang="en-ZA" sz="12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722" y="3824820"/>
            <a:ext cx="7874788" cy="338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 dirty="0" smtClean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NUMERIC CHANGE                                                                     CHARACTER CHANGES</a:t>
            </a:r>
          </a:p>
        </p:txBody>
      </p:sp>
    </p:spTree>
    <p:extLst>
      <p:ext uri="{BB962C8B-B14F-4D97-AF65-F5344CB8AC3E}">
        <p14:creationId xmlns:p14="http://schemas.microsoft.com/office/powerpoint/2010/main" val="313622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Formatting Display Output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10" name="ZoneTexte 7"/>
          <p:cNvSpPr txBox="1"/>
          <p:nvPr/>
        </p:nvSpPr>
        <p:spPr>
          <a:xfrm>
            <a:off x="4119881" y="6017214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dirty="0" smtClean="0">
                <a:solidFill>
                  <a:srgbClr val="FF0000"/>
                </a:solidFill>
                <a:latin typeface="Book Antiqua"/>
                <a:cs typeface="Book Antiqua"/>
              </a:rPr>
              <a:t>DFORMAT2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377" y="2179108"/>
            <a:ext cx="3640864" cy="2076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742" y="2040995"/>
            <a:ext cx="1866900" cy="2352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1" y="1272855"/>
            <a:ext cx="3510915" cy="42582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3" name="Straight Arrow Connector 12"/>
          <p:cNvCxnSpPr/>
          <p:nvPr/>
        </p:nvCxnSpPr>
        <p:spPr>
          <a:xfrm flipV="1">
            <a:off x="1711234" y="3997234"/>
            <a:ext cx="2091143" cy="39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351314" y="5133703"/>
            <a:ext cx="62358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9" idx="2"/>
          </p:cNvCxnSpPr>
          <p:nvPr/>
        </p:nvCxnSpPr>
        <p:spPr>
          <a:xfrm flipV="1">
            <a:off x="8587192" y="4393670"/>
            <a:ext cx="0" cy="74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8823" y="4195452"/>
            <a:ext cx="1332411" cy="441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Rectangle 20"/>
          <p:cNvSpPr/>
          <p:nvPr/>
        </p:nvSpPr>
        <p:spPr>
          <a:xfrm>
            <a:off x="378823" y="4741475"/>
            <a:ext cx="1972491" cy="789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618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500" dirty="0" smtClean="0"/>
              <a:t>Using Title and Footnotes Statements</a:t>
            </a:r>
            <a:endParaRPr lang="en-ZA" sz="25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50259" y="610896"/>
            <a:ext cx="7874788" cy="10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The </a:t>
            </a:r>
            <a:r>
              <a:rPr lang="en-GB" sz="1200" i="1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‘Title’</a:t>
            </a: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 statement places text at the top of each output.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The ‘Footnote’ statement places text at the end of each output.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42E2B"/>
                </a:solidFill>
                <a:latin typeface="Avenir Next Cyr W04 Regular" panose="020B0503020202020204" pitchFamily="34" charset="0"/>
                <a:cs typeface="Book Antiqua"/>
              </a:rPr>
              <a:t>To delete a title or footnote simply declare the ‘Title’ or ‘Footnote’ statement without any text.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119881" y="6017214"/>
            <a:ext cx="6646721" cy="41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dirty="0" smtClean="0">
                <a:solidFill>
                  <a:srgbClr val="FF0000"/>
                </a:solidFill>
                <a:latin typeface="Book Antiqua"/>
                <a:cs typeface="Book Antiqua"/>
              </a:rPr>
              <a:t>DTITLE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561" y="1629112"/>
            <a:ext cx="2800350" cy="274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411" y="4478780"/>
            <a:ext cx="3676650" cy="1466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428" y="1773566"/>
            <a:ext cx="5005524" cy="4243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2" name="Straight Arrow Connector 11"/>
          <p:cNvCxnSpPr>
            <a:endCxn id="7" idx="1"/>
          </p:cNvCxnSpPr>
          <p:nvPr/>
        </p:nvCxnSpPr>
        <p:spPr>
          <a:xfrm flipV="1">
            <a:off x="3967566" y="3000712"/>
            <a:ext cx="2567995" cy="1371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1"/>
          </p:cNvCxnSpPr>
          <p:nvPr/>
        </p:nvCxnSpPr>
        <p:spPr>
          <a:xfrm flipV="1">
            <a:off x="3688597" y="5212205"/>
            <a:ext cx="2408814" cy="2536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5431" y="3766088"/>
            <a:ext cx="3147404" cy="11933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635431" y="5212205"/>
            <a:ext cx="3053166" cy="733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565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500" dirty="0" smtClean="0"/>
              <a:t>Including comments in your SAS code</a:t>
            </a:r>
            <a:endParaRPr lang="en-ZA" sz="25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50259" y="1166157"/>
            <a:ext cx="7874788" cy="21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Add comments in your program as explanatory text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ZA" sz="1200" dirty="0">
                <a:latin typeface="Avenir Next Cyr W04 Regular" panose="020B0503020202020204" pitchFamily="34" charset="0"/>
                <a:cs typeface="Book Antiqua"/>
              </a:rPr>
              <a:t>Comments allow you to understand your code better</a:t>
            </a:r>
            <a:endParaRPr lang="en-GB" sz="1200" i="1" dirty="0">
              <a:latin typeface="Avenir Next Cyr W04 Regular" panose="020B0503020202020204" pitchFamily="34" charset="0"/>
              <a:cs typeface="Book Antiqua"/>
            </a:endParaRP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Comments can be added in two ways: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Placing text between </a:t>
            </a: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/*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and </a:t>
            </a: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*/  (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e.g. /*</a:t>
            </a:r>
            <a:r>
              <a:rPr lang="en-GB" sz="1200" i="1" dirty="0">
                <a:latin typeface="Avenir Next Cyr W04 Regular" panose="020B0503020202020204" pitchFamily="34" charset="0"/>
                <a:cs typeface="Book Antiqua"/>
              </a:rPr>
              <a:t>My Comment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*/ )</a:t>
            </a:r>
            <a:endParaRPr lang="en-GB" sz="1200" b="1" dirty="0">
              <a:latin typeface="Avenir Next Cyr W04 Regular" panose="020B0503020202020204" pitchFamily="34" charset="0"/>
              <a:cs typeface="Book Antiqua"/>
            </a:endParaRP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Placing text between </a:t>
            </a: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*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and </a:t>
            </a: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;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 (e.g. *</a:t>
            </a:r>
            <a:r>
              <a:rPr lang="en-GB" sz="1200" i="1" dirty="0">
                <a:latin typeface="Avenir Next Cyr W04 Regular" panose="020B0503020202020204" pitchFamily="34" charset="0"/>
                <a:cs typeface="Book Antiqua"/>
              </a:rPr>
              <a:t>My Comment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; )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ZA" sz="1200" dirty="0">
                <a:latin typeface="Avenir Next Cyr W04 Regular" panose="020B0503020202020204" pitchFamily="34" charset="0"/>
                <a:cs typeface="Book Antiqua"/>
              </a:rPr>
              <a:t>All </a:t>
            </a:r>
            <a:r>
              <a:rPr lang="en-ZA" sz="1200" dirty="0" smtClean="0">
                <a:latin typeface="Avenir Next Cyr W04 Regular" panose="020B0503020202020204" pitchFamily="34" charset="0"/>
                <a:cs typeface="Book Antiqua"/>
              </a:rPr>
              <a:t>commented </a:t>
            </a:r>
            <a:r>
              <a:rPr lang="en-ZA" sz="1200" dirty="0">
                <a:latin typeface="Avenir Next Cyr W04 Regular" panose="020B0503020202020204" pitchFamily="34" charset="0"/>
                <a:cs typeface="Book Antiqua"/>
              </a:rPr>
              <a:t>text should be </a:t>
            </a:r>
            <a:r>
              <a:rPr lang="en-ZA" sz="1200" dirty="0">
                <a:solidFill>
                  <a:srgbClr val="00B050"/>
                </a:solidFill>
                <a:latin typeface="Avenir Next Cyr W04 Regular" panose="020B0503020202020204" pitchFamily="34" charset="0"/>
                <a:cs typeface="Book Antiqua"/>
              </a:rPr>
              <a:t>green</a:t>
            </a:r>
            <a:endParaRPr lang="en-GB" sz="1200" dirty="0">
              <a:solidFill>
                <a:srgbClr val="00B050"/>
              </a:solidFill>
              <a:latin typeface="Avenir Next Cyr W04 Regular" panose="020B0503020202020204" pitchFamily="34" charset="0"/>
              <a:cs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9704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Modifying Proc Print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182487" y="744159"/>
            <a:ext cx="7874788" cy="21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Specify these options in the proc statement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“double” 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– double spaces the output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“label” 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– allows you to include any labels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“N = “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- Declares a heading and calculates a count for the number of observations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“OBS = “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- Specifies a label for the observation number column</a:t>
            </a:r>
          </a:p>
          <a:p>
            <a:pPr marL="800100" lvl="1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200" b="1" dirty="0">
                <a:latin typeface="Avenir Next Cyr W04 Regular" panose="020B0503020202020204" pitchFamily="34" charset="0"/>
                <a:cs typeface="Book Antiqua"/>
              </a:rPr>
              <a:t>“ROUND “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– rounds the values</a:t>
            </a:r>
            <a:endParaRPr lang="en-ZA" sz="1200" dirty="0">
              <a:latin typeface="Avenir Next Cyr W04 Regular" panose="020B0503020202020204" pitchFamily="34" charset="0"/>
              <a:cs typeface="Book Antiqua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4119881" y="6069319"/>
            <a:ext cx="664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noProof="0" dirty="0" smtClean="0">
                <a:solidFill>
                  <a:srgbClr val="FF0000"/>
                </a:solidFill>
                <a:latin typeface="Book Antiqua"/>
                <a:cs typeface="Book Antiqua"/>
              </a:rPr>
              <a:t>APRINT1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618" y="2445928"/>
            <a:ext cx="3659164" cy="1806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618" y="4284363"/>
            <a:ext cx="3659164" cy="19170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436" y="3217333"/>
            <a:ext cx="5592042" cy="25411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5" name="Straight Arrow Connector 14"/>
          <p:cNvCxnSpPr/>
          <p:nvPr/>
        </p:nvCxnSpPr>
        <p:spPr>
          <a:xfrm flipV="1">
            <a:off x="4277532" y="3401999"/>
            <a:ext cx="1744086" cy="1603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7" idx="1"/>
          </p:cNvCxnSpPr>
          <p:nvPr/>
        </p:nvCxnSpPr>
        <p:spPr>
          <a:xfrm>
            <a:off x="4277532" y="5005953"/>
            <a:ext cx="1744086" cy="236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270142" y="5005953"/>
            <a:ext cx="1007390" cy="517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82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436" y="126218"/>
            <a:ext cx="8915400" cy="845332"/>
          </a:xfrm>
        </p:spPr>
        <p:txBody>
          <a:bodyPr>
            <a:normAutofit/>
          </a:bodyPr>
          <a:lstStyle/>
          <a:p>
            <a:r>
              <a:rPr lang="en-ZA" sz="2800" dirty="0" smtClean="0"/>
              <a:t>ODS Output Delivery System</a:t>
            </a:r>
            <a:endParaRPr lang="en-ZA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35911" y="3217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ZA" dirty="0"/>
          </a:p>
        </p:txBody>
      </p:sp>
      <p:sp>
        <p:nvSpPr>
          <p:cNvPr id="5" name="TextBox 4"/>
          <p:cNvSpPr txBox="1"/>
          <p:nvPr/>
        </p:nvSpPr>
        <p:spPr>
          <a:xfrm>
            <a:off x="950259" y="1085426"/>
            <a:ext cx="7874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Enhance your output using the ODS output statement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Declare “</a:t>
            </a:r>
            <a:r>
              <a:rPr lang="en-GB" sz="1200" i="1" dirty="0">
                <a:latin typeface="Avenir Next Cyr W04 Regular" panose="020B0503020202020204" pitchFamily="34" charset="0"/>
                <a:cs typeface="Book Antiqua"/>
              </a:rPr>
              <a:t>ODS HTML; 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” before the output you want to enhance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Close the ODS output using the “</a:t>
            </a:r>
            <a:r>
              <a:rPr lang="en-GB" sz="1200" i="1" dirty="0">
                <a:latin typeface="Avenir Next Cyr W04 Regular" panose="020B0503020202020204" pitchFamily="34" charset="0"/>
                <a:cs typeface="Book Antiqua"/>
              </a:rPr>
              <a:t>ODS HTML close;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” directly after the code for the output that you want to enhance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 You can replace “</a:t>
            </a:r>
            <a:r>
              <a:rPr lang="en-GB" sz="1200" i="1" dirty="0">
                <a:latin typeface="Avenir Next Cyr W04 Regular" panose="020B0503020202020204" pitchFamily="34" charset="0"/>
                <a:cs typeface="Book Antiqua"/>
              </a:rPr>
              <a:t>HTML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” with </a:t>
            </a:r>
            <a:r>
              <a:rPr lang="en-GB" sz="1200" i="1" dirty="0">
                <a:latin typeface="Avenir Next Cyr W04 Regular" panose="020B0503020202020204" pitchFamily="34" charset="0"/>
                <a:cs typeface="Book Antiqua"/>
              </a:rPr>
              <a:t>PDF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, </a:t>
            </a:r>
            <a:r>
              <a:rPr lang="en-GB" sz="1200" i="1" dirty="0">
                <a:latin typeface="Avenir Next Cyr W04 Regular" panose="020B0503020202020204" pitchFamily="34" charset="0"/>
                <a:cs typeface="Book Antiqua"/>
              </a:rPr>
              <a:t>RTF</a:t>
            </a:r>
            <a:r>
              <a:rPr lang="en-GB" sz="1200" dirty="0">
                <a:latin typeface="Avenir Next Cyr W04 Regular" panose="020B0503020202020204" pitchFamily="34" charset="0"/>
                <a:cs typeface="Book Antiqua"/>
              </a:rPr>
              <a:t>, etc. depending on the output you want</a:t>
            </a:r>
            <a:r>
              <a:rPr lang="en-GB" sz="1200" dirty="0" smtClean="0">
                <a:latin typeface="Avenir Next Cyr W04 Regular" panose="020B0503020202020204" pitchFamily="34" charset="0"/>
                <a:cs typeface="Book Antiqua"/>
              </a:rPr>
              <a:t>.</a:t>
            </a:r>
            <a:endParaRPr lang="en-ZA" sz="1200" dirty="0" smtClean="0">
              <a:latin typeface="Avenir Next Cyr W04 Regular" panose="020B0503020202020204" pitchFamily="34" charset="0"/>
              <a:cs typeface="Book Antiqua"/>
            </a:endParaRP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ZA" sz="1200" dirty="0">
                <a:latin typeface="Avenir Next Cyr W04 Regular" panose="020B0503020202020204" pitchFamily="34" charset="0"/>
                <a:cs typeface="Book Antiqua"/>
              </a:rPr>
              <a:t> </a:t>
            </a:r>
            <a:r>
              <a:rPr lang="en-ZA" sz="1200" dirty="0" smtClean="0">
                <a:latin typeface="Avenir Next Cyr W04 Regular" panose="020B0503020202020204" pitchFamily="34" charset="0"/>
                <a:cs typeface="Book Antiqua"/>
              </a:rPr>
              <a:t>HTML is the default format from SAS9.4 onwards.</a:t>
            </a:r>
            <a:endParaRPr lang="en-ZA" sz="1200" dirty="0">
              <a:latin typeface="Avenir Next Cyr W04 Regular" panose="020B0503020202020204" pitchFamily="34" charset="0"/>
              <a:cs typeface="Book Antiqua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4119881" y="6017214"/>
            <a:ext cx="6646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marR="0" lvl="3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Example: In the editor window, open the file </a:t>
            </a:r>
            <a:r>
              <a:rPr lang="en-GB" sz="1200" b="1" noProof="0" dirty="0" smtClean="0">
                <a:solidFill>
                  <a:srgbClr val="FF0000"/>
                </a:solidFill>
                <a:latin typeface="Book Antiqua"/>
                <a:cs typeface="Book Antiqua"/>
              </a:rPr>
              <a:t>APRINT1</a:t>
            </a:r>
            <a:r>
              <a:rPr kumimoji="0" lang="en-GB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 Antiqua"/>
                <a:ea typeface="+mn-ea"/>
                <a:cs typeface="Book Antiqua"/>
              </a:rPr>
              <a:t>.SAS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 Antiqua"/>
              <a:ea typeface="+mn-ea"/>
              <a:cs typeface="Book Antiqu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59" y="3552795"/>
            <a:ext cx="5119908" cy="2305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876" y="4214943"/>
            <a:ext cx="2819400" cy="981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Oval 6"/>
          <p:cNvSpPr/>
          <p:nvPr/>
        </p:nvSpPr>
        <p:spPr>
          <a:xfrm>
            <a:off x="6741763" y="4705480"/>
            <a:ext cx="898901" cy="490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257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42950" y="501651"/>
            <a:ext cx="8420100" cy="1470025"/>
          </a:xfrm>
        </p:spPr>
        <p:txBody>
          <a:bodyPr>
            <a:normAutofit/>
          </a:bodyPr>
          <a:lstStyle/>
          <a:p>
            <a: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  <a:t/>
            </a:r>
            <a:br>
              <a:rPr lang="en-ZA" sz="2400" b="1" dirty="0" smtClean="0">
                <a:solidFill>
                  <a:srgbClr val="A7853E"/>
                </a:solidFill>
                <a:latin typeface="Baskerville Old Face" charset="0"/>
                <a:cs typeface="+mj-cs"/>
              </a:rPr>
            </a:br>
            <a:endParaRPr lang="en-ZA" sz="2400" b="1" dirty="0">
              <a:solidFill>
                <a:srgbClr val="A7853E"/>
              </a:solidFill>
              <a:latin typeface="Baskerville Old Face" charset="0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86703" y="2719454"/>
            <a:ext cx="753259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Study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5 </a:t>
            </a:r>
            <a:endParaRPr kumimoji="0" lang="en-ZA" sz="32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02088" y="5220717"/>
            <a:ext cx="30241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 smtClean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Matthew Valentine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 smtClean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Office: Tech Room Lab K2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1" i="0" u="none" strike="noStrike" kern="1200" cap="none" spc="50" normalizeH="0" baseline="0" noProof="0" dirty="0" smtClean="0">
                <a:ln w="0"/>
                <a:solidFill>
                  <a:srgbClr val="EEECE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Mvalentine@uwc.ac.za</a:t>
            </a:r>
            <a:endParaRPr kumimoji="0" lang="en-ZA" sz="1800" b="1" i="0" u="none" strike="noStrike" kern="1200" cap="none" spc="50" normalizeH="0" baseline="0" noProof="0" dirty="0">
              <a:ln w="0"/>
              <a:solidFill>
                <a:srgbClr val="EEECE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76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5340</TotalTime>
  <Words>555</Words>
  <Application>Microsoft Office PowerPoint</Application>
  <PresentationFormat>A4 Paper (210x297 mm)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Avenir Next Cyr W04 Regular</vt:lpstr>
      <vt:lpstr>Baskerville Old Face</vt:lpstr>
      <vt:lpstr>Book Antiqua</vt:lpstr>
      <vt:lpstr>Calibri</vt:lpstr>
      <vt:lpstr>Courier New</vt:lpstr>
      <vt:lpstr>Office Theme</vt:lpstr>
      <vt:lpstr> </vt:lpstr>
      <vt:lpstr>Using Proc Format</vt:lpstr>
      <vt:lpstr>Formatting Display Output</vt:lpstr>
      <vt:lpstr>Using Title and Footnotes Statements</vt:lpstr>
      <vt:lpstr>Including comments in your SAS code</vt:lpstr>
      <vt:lpstr>Modifying Proc Print</vt:lpstr>
      <vt:lpstr>ODS Output Delivery System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NDorfling</dc:creator>
  <cp:lastModifiedBy>Matthew Valentine</cp:lastModifiedBy>
  <cp:revision>565</cp:revision>
  <dcterms:created xsi:type="dcterms:W3CDTF">2015-03-11T08:56:03Z</dcterms:created>
  <dcterms:modified xsi:type="dcterms:W3CDTF">2020-05-15T10:59:26Z</dcterms:modified>
</cp:coreProperties>
</file>